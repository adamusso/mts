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Úvod" id="{c4a5784c-e027-94cd-ac1d-6bc05e9e1107}">
          <p14:sldIdLst>
            <p14:sldId id="256"/>
            <p14:sldId id="257"/>
          </p14:sldIdLst>
        </p14:section>
        <p14:section name="Čo je komunikácia" id="{f27925df-883d-3fa4-6533-48cf45368607}">
          <p14:sldIdLst>
            <p14:sldId id="258"/>
            <p14:sldId id="259"/>
            <p14:sldId id="260"/>
          </p14:sldIdLst>
        </p14:section>
        <p14:section name="Ako komunikáciu riadiť" id="{5cdf598f-b06f-cea2-1176-d250bf664fac}">
          <p14:sldIdLst>
            <p14:sldId id="261"/>
            <p14:sldId id="262"/>
            <p14:sldId id="263"/>
            <p14:sldId id="264"/>
          </p14:sldIdLst>
        </p14:section>
        <p14:section name="Kancelária projektového manažmentu" id="{ec52fc57-76b4-ccaa-aa0d-cca0193e69f7}">
          <p14:sldIdLst>
            <p14:sldId id="265"/>
            <p14:sldId id="266"/>
            <p14:sldId id="267"/>
          </p14:sldIdLst>
        </p14:section>
        <p14:section name="Záver" id="{d9672808-6a83-4168-daca-dea7fe6d2be4}">
          <p14:sldIdLst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ADAM · 15 s
Dobrý deň, sme tím 5, Adam Svitek a Nikolas Knapík. Naša téma je manažment komunikácie v softvérovom projekte a kancelária projektového manažmentu. Dnes to nechceme ukazovať cez čísla, ale vysvetliť tak, aby ste si z toho odniesli, ako komunikácia v projekte naozaj funguje – a kde sa kazí.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ADAM · 20 s
Celá prezentácia odpovedá na jednu otázku: ako zabezpečiť, aby si ľudia v projekte naozaj rozumeli, a akú rolu v tom má kancelária projektového manažmentu, skrátene PMO. Pôjdeme v troch krokoch: najprv si vysvetlíme, čo komunikácia vlastne je, potom ako ju v projekte riadiť a nakoniec, čo robí PMO, keď projektov je viac.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ADAM · 45 s
Začnime príkladom. Klient napíše do ticketu: chceme jednoduchý export dát. V hlave má účtovníčku, ktorá raz mesačne potrebuje tabuľku faktúr v Exceli. To je zámer. Do ticketu ho ale zakóduje iba do troch slov. Ticket je kanál a šumom je tu to, že chýba príklad aj kontext. Vývojár si to dekóduje po svojom a urobí CSV cez API – technicky správne, ale pre účtovníčku nepoužiteľné.
Zachráni to až spätná väzba: keď sa niekto spýta „myslíte takto?“ a ukáže návrh. Preto hovoríme, že komunikácia nekončí odoslaním.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ADAM · 40 s
Prečo je to práve v softvéri také ťažké? Prvý dôvod vidíte vľavo. Keď sú v tíme traja ľudia, majú medzi sebou tri spojenia. Pri piatich je ich desať a pri ôsmich už dvadsaťosem.
Druhý dôvod: softvér nie je vidieť. A tretí: každý hovorí iným jazykom – biznis o cieľoch, vývojár o riešení a vedenie o peniazoch a termínoch.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ADAM · 40 s
Keď už vieme, že správa sa môže cestou pokaziť, ďalšia otázka je, akým kanálom ju poslať. Interaktívna komunikácia je ako telefonát – stretnutie, hovor alebo demo, kde sa obe strany môžu hneď pýtať. Push je ako list do schránky – pošlem e-mail alebo report, ale to, že ho niekto dostal, ešte neznamená, že ho prečítal. Pull je ako knižnica – wiki alebo backlog, kde si človek informáciu nájde sám, keď ju potrebuje.
Pravidlo je jednoduché: čím je správa nejasnejšia alebo citlivejšia, tým živší kanál potrebuje. Stav buildu stačí na dashboarde, ale spor o priority e-mailom nevyriešime.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NIKOLAS · 40 s
Teraz k tomu, ako komunikáciu v projekte riadiť. Podľa PMBOK sú to tri kroky a každý sa dá zhrnúť jednou otázkou. Plánovanie: kto čo potrebuje vedieť, kedy a ako? Riadenie: deje sa to naozaj – vznikajú reporty, prebehne demo, zapisujú sa rozhodnutia? A monitorovanie: pomáha to? Napríklad zistíme, že náš týždenný report nikto nečíta – tak ho zmeníme. To, čo zistíme, sa vracia do plánu, takže je to cyklus, nie jednorazová úloha.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NIKOLAS · 35 s
Ako vyzerá komunikačný plán? Nemusí to byť hrubý dokument. Často stačí takáto tabuľka: kto, čo potrebuje vedieť, ako často, akým kanálom a kto za to zodpovedá. Sponzor chce raz za dva týždne vedieť stav, riziká a čo má rozhodnúť. Klient chce každý šprint vidieť demo. Tím rieši úlohy denne a prevádzka potrebuje vedieť, čo a kedy sa nasadí.
Dôležité je začať od ľudí, nie od nástrojov – až potom vyberáme Teams alebo Jiru. A plán má mať aj eskalačnú cestu: keď sa niečo zasekne, každý vie, komu to povedať.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NIKOLAS · 35 s
Takto zjednodušene vyzerá, kto s kým v projekte komunikuje. Všimnite si, že každý hovorí o niečom inom: klient o cieľoch, Product Owner o prioritách, vývojári o technickom riešení, vedenie o peniazoch a termínoch. Preto projekt potrebuje prekladateľov. Product Owner prekladá potreby klienta do úloh pre vývoj a projektový manažér prekladá technický stav do reči dopadov pre vedenie.
Oranžové body sú tri miesta, kde sa informácia stráca najčastejšie – na tie sa pozrieme teraz.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NIKOLAS · 40 s
Prvá bariéra je nejasné zadanie – klient povie „veď je jasné, čo chceme“, ale jasné je to iba jemu. Pomáhajú akceptačné kritériá s konkrétnym príkladom, prototyp a demo.
Druhá je technický text pre vedenie. Veta „padá nám migrácia databázy“ sponzorovi nič nepovie. Povieme radšej dopad a čo treba rozhodnúť: vydanie sa posunie o týždeň, potrebujeme vaše áno.
Tretia je chýbajúca spätná väzba. Pomôže zopakovať zadanie vlastnými slovami a prostredie, kde sa nikto nebojí povedať zlú správu. Inak vzniká melónový report – zelený navonok a červený vo vnútri.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NIKOLAS · 40 s
Tretia časť je kancelária projektového manažmentu, PMO. Pilot riadi svoje lietadlo – to je projektový manažér a jeho projekt. Riadiaca veža vidí všetky lietadlá naraz a stará sa, aby sa nezrazili – to je PMO.
Čo konkrétne robí? Dáva projektom spoločný jazyk – rovnaké šablóny a rovnaký význam toho, čo je „zelený“ stav. Sleduje zdieľaných ľudí, aby si projekty nebrali toho istého človeka naraz. Dáva vedeniu porovnateľný prehľad zo všetkých projektov. A prenáša poučenia z jedného projektu do ďalšieho. PMO je teda v podstate komunikačná infraštruktúra celej organizácie.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NIKOLAS · 40 s
PMO nie je jedno – rozlišujeme tri typy podľa toho, koľko kontroly majú. Podporné PMO je ako poradca: ponúka šablóny a rady, ale nikoho nenúti. Hodí sa pri pár projektoch so skúsenými manažérmi, no keď nemá autoritu, nikto ho nepočúva.
Riadiace PMO je ako rozhodca s pravidlami: vyžaduje spoločnú metodiku a jednotné reporty. Dáva zmysel, keď si projekty delia ľudí, ale ľahko z neho vznikne byrokracia.
Direktívne PMO je ako kapitán – projekty priamo riadi. Pri strategických projektoch dáva zmysel, no je drahé a môže sa stať úzkym hrdlom.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NIKOLAS · 35 s
Ukážeme to na vymyslenom príklade. Firma má tri projekty a jedného bezpečnostného testera. Každý manažér ho plánuje, akoby bol iba jeho, a všetky tri termíny padnú na ten istý týždeň.
Podporné PMO by iba poradilo plánovať skôr – ale konflikt by to nevyriešilo. Direktívne PMO by to vyriešilo, no pri troch projektoch je to zbytočne drahé. Riadiace PMO zavedie spoločný kalendár zdieľaných ľudí a pravidlo, že o prioritách rozhodne vedenie podľa podkladov od PMO. Typ PMO teda vyberáme podľa problému.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ADAM · 30 s
Na záver tri myšlienky. Prvá: komunikácia znamená porozumenie – správa splnila účel, až keď ju príjemca pochopí a vie podľa nej konať. Druhá: komunikáciu treba riadiť vedome – naplánovať podľa potrieb ľudí, priebežne riadiť a kontrolovať, či funguje. A tretia: PMO drží komunikáciu pokope naprieč projektmi a jeho typ vyberáme podľa problému.
A ak si máte zapamätať jednu vetu: nástroje ani porady komunikáciu samy nezaručia – zaručia ju ľudia, ktorí si overujú, že si rozumejú. Ďakujeme a tešíme sa na otázky.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Záložný slajd so zdrojmi, z ktorých sme vychádzali.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60350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4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83080"/>
            <a:ext cx="603504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86200"/>
            <a:ext cx="58521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4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2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Tím 5 · Manažment komunikácie v softvérovom projekte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200" kern="0" dirty="0">
                <a:solidFill>
                  <a:schemeClr val="accent4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22960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4"/>
                </a:solidFill>
              </a:rPr>
              <a:t>MANAŽMENT V TVORBE SOFTVÉRU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83080"/>
            <a:ext cx="6035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Manažment komunikácie v softvérovom projekte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8620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a kancelária projektového manažmentu – vysvetlené na príkladoch</a:t>
            </a:r>
            <a:endParaRPr lang="en-US" sz="1800" dirty="0"/>
          </a:p>
        </p:txBody>
      </p:sp>
      <p:sp>
        <p:nvSpPr>
          <p:cNvPr id="5" name="text-1"/>
          <p:cNvSpPr txBox="1"/>
          <p:nvPr/>
        </p:nvSpPr>
        <p:spPr>
          <a:xfrm>
            <a:off x="731520" y="525780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Adam Svitek, Nikolas Knapík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Tím 5 · streda 13:00 – 14:00 · FIIT STU 2026/27</a:t>
            </a:r>
            <a:endParaRPr lang="en-US" sz="1400" dirty="0"/>
          </a:p>
        </p:txBody>
      </p:sp>
      <p:sp>
        <p:nvSpPr>
          <p:cNvPr id="6" name="line-2"/>
          <p:cNvSpPr/>
          <p:nvPr/>
        </p:nvSpPr>
        <p:spPr>
          <a:xfrm>
            <a:off x="9144000" y="1463040"/>
            <a:ext cx="1702571" cy="98298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7" name="line-3"/>
          <p:cNvSpPr/>
          <p:nvPr/>
        </p:nvSpPr>
        <p:spPr>
          <a:xfrm>
            <a:off x="9144000" y="1463040"/>
            <a:ext cx="1702571" cy="294894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8" name="line-4"/>
          <p:cNvSpPr/>
          <p:nvPr/>
        </p:nvSpPr>
        <p:spPr>
          <a:xfrm>
            <a:off x="9144000" y="1463040"/>
            <a:ext cx="0" cy="393192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9" name="line-5"/>
          <p:cNvSpPr/>
          <p:nvPr/>
        </p:nvSpPr>
        <p:spPr>
          <a:xfrm flipH="1">
            <a:off x="7441429" y="1463040"/>
            <a:ext cx="1702571" cy="294894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10" name="line-6"/>
          <p:cNvSpPr/>
          <p:nvPr/>
        </p:nvSpPr>
        <p:spPr>
          <a:xfrm flipH="1">
            <a:off x="7441429" y="1463040"/>
            <a:ext cx="1702571" cy="98298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11" name="line-7"/>
          <p:cNvSpPr/>
          <p:nvPr/>
        </p:nvSpPr>
        <p:spPr>
          <a:xfrm>
            <a:off x="10846571" y="2446020"/>
            <a:ext cx="0" cy="196596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12" name="line-8"/>
          <p:cNvSpPr/>
          <p:nvPr/>
        </p:nvSpPr>
        <p:spPr>
          <a:xfrm flipH="1">
            <a:off x="9144000" y="2446020"/>
            <a:ext cx="1702571" cy="294894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13" name="line-9"/>
          <p:cNvSpPr/>
          <p:nvPr/>
        </p:nvSpPr>
        <p:spPr>
          <a:xfrm flipH="1">
            <a:off x="7441429" y="2446020"/>
            <a:ext cx="3405143" cy="196596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14" name="line-10"/>
          <p:cNvSpPr/>
          <p:nvPr/>
        </p:nvSpPr>
        <p:spPr>
          <a:xfrm>
            <a:off x="7441429" y="2446020"/>
            <a:ext cx="3405143" cy="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15" name="line-11"/>
          <p:cNvSpPr/>
          <p:nvPr/>
        </p:nvSpPr>
        <p:spPr>
          <a:xfrm flipH="1">
            <a:off x="9144000" y="4411980"/>
            <a:ext cx="1702571" cy="98298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16" name="line-12"/>
          <p:cNvSpPr/>
          <p:nvPr/>
        </p:nvSpPr>
        <p:spPr>
          <a:xfrm flipH="1">
            <a:off x="7441429" y="4411980"/>
            <a:ext cx="3405143" cy="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17" name="line-13"/>
          <p:cNvSpPr/>
          <p:nvPr/>
        </p:nvSpPr>
        <p:spPr>
          <a:xfrm>
            <a:off x="7441429" y="2446020"/>
            <a:ext cx="3405143" cy="196596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18" name="line-14"/>
          <p:cNvSpPr/>
          <p:nvPr/>
        </p:nvSpPr>
        <p:spPr>
          <a:xfrm>
            <a:off x="7441429" y="4411980"/>
            <a:ext cx="1702571" cy="98298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19" name="line-15"/>
          <p:cNvSpPr/>
          <p:nvPr/>
        </p:nvSpPr>
        <p:spPr>
          <a:xfrm>
            <a:off x="7441429" y="2446020"/>
            <a:ext cx="1702571" cy="294894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20" name="line-16"/>
          <p:cNvSpPr/>
          <p:nvPr/>
        </p:nvSpPr>
        <p:spPr>
          <a:xfrm>
            <a:off x="7441429" y="2446020"/>
            <a:ext cx="0" cy="196596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21" name="line-17"/>
          <p:cNvSpPr/>
          <p:nvPr/>
        </p:nvSpPr>
        <p:spPr>
          <a:xfrm>
            <a:off x="9144000" y="1463040"/>
            <a:ext cx="0" cy="196596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</a:ln>
        </p:spPr>
      </p:sp>
      <p:sp>
        <p:nvSpPr>
          <p:cNvPr id="22" name="line-18"/>
          <p:cNvSpPr/>
          <p:nvPr/>
        </p:nvSpPr>
        <p:spPr>
          <a:xfrm flipH="1">
            <a:off x="9144000" y="2446020"/>
            <a:ext cx="1702571" cy="98298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</a:ln>
        </p:spPr>
      </p:sp>
      <p:sp>
        <p:nvSpPr>
          <p:cNvPr id="23" name="line-19"/>
          <p:cNvSpPr/>
          <p:nvPr/>
        </p:nvSpPr>
        <p:spPr>
          <a:xfrm>
            <a:off x="9144000" y="3429000"/>
            <a:ext cx="1702571" cy="98298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</a:ln>
        </p:spPr>
      </p:sp>
      <p:sp>
        <p:nvSpPr>
          <p:cNvPr id="24" name="line-20"/>
          <p:cNvSpPr/>
          <p:nvPr/>
        </p:nvSpPr>
        <p:spPr>
          <a:xfrm>
            <a:off x="9144000" y="3429000"/>
            <a:ext cx="0" cy="196596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</a:ln>
        </p:spPr>
      </p:sp>
      <p:sp>
        <p:nvSpPr>
          <p:cNvPr id="25" name="line-21"/>
          <p:cNvSpPr/>
          <p:nvPr/>
        </p:nvSpPr>
        <p:spPr>
          <a:xfrm flipH="1">
            <a:off x="7441429" y="3429000"/>
            <a:ext cx="1702571" cy="98298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</a:ln>
        </p:spPr>
      </p:sp>
      <p:sp>
        <p:nvSpPr>
          <p:cNvPr id="26" name="line-22"/>
          <p:cNvSpPr/>
          <p:nvPr/>
        </p:nvSpPr>
        <p:spPr>
          <a:xfrm>
            <a:off x="7441429" y="2446020"/>
            <a:ext cx="1702571" cy="98298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</a:ln>
        </p:spPr>
      </p:sp>
      <p:sp>
        <p:nvSpPr>
          <p:cNvPr id="27" name="dot-23"/>
          <p:cNvSpPr txBox="1"/>
          <p:nvPr/>
        </p:nvSpPr>
        <p:spPr>
          <a:xfrm>
            <a:off x="8887968" y="1207008"/>
            <a:ext cx="512064" cy="512064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28" name="dot-24"/>
          <p:cNvSpPr txBox="1"/>
          <p:nvPr/>
        </p:nvSpPr>
        <p:spPr>
          <a:xfrm>
            <a:off x="10590539" y="2189988"/>
            <a:ext cx="512064" cy="512064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29" name="dot-25"/>
          <p:cNvSpPr txBox="1"/>
          <p:nvPr/>
        </p:nvSpPr>
        <p:spPr>
          <a:xfrm>
            <a:off x="10590539" y="4155948"/>
            <a:ext cx="512064" cy="512064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30" name="dot-26"/>
          <p:cNvSpPr txBox="1"/>
          <p:nvPr/>
        </p:nvSpPr>
        <p:spPr>
          <a:xfrm>
            <a:off x="8887968" y="5138928"/>
            <a:ext cx="512064" cy="512064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31" name="dot-27"/>
          <p:cNvSpPr txBox="1"/>
          <p:nvPr/>
        </p:nvSpPr>
        <p:spPr>
          <a:xfrm>
            <a:off x="7185397" y="4155948"/>
            <a:ext cx="512064" cy="512064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32" name="dot-28"/>
          <p:cNvSpPr txBox="1"/>
          <p:nvPr/>
        </p:nvSpPr>
        <p:spPr>
          <a:xfrm>
            <a:off x="7185397" y="2189988"/>
            <a:ext cx="512064" cy="512064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33" name="dot-29"/>
          <p:cNvSpPr txBox="1"/>
          <p:nvPr/>
        </p:nvSpPr>
        <p:spPr>
          <a:xfrm>
            <a:off x="8686800" y="297180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PM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ÚVOD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 čom dnes budeme hovoriť</a:t>
            </a:r>
            <a:endParaRPr lang="en-US" sz="3000" dirty="0"/>
          </a:p>
        </p:txBody>
      </p:sp>
      <p:sp>
        <p:nvSpPr>
          <p:cNvPr id="4" name="card-30"/>
          <p:cNvSpPr/>
          <p:nvPr/>
        </p:nvSpPr>
        <p:spPr>
          <a:xfrm>
            <a:off x="548640" y="1645920"/>
            <a:ext cx="4754880" cy="4251960"/>
          </a:xfrm>
          <a:prstGeom prst="roundRect">
            <a:avLst>
              <a:gd name="adj" fmla="val 1720"/>
            </a:avLst>
          </a:prstGeom>
          <a:solidFill>
            <a:schemeClr val="accent1"/>
          </a:solidFill>
          <a:ln/>
        </p:spPr>
      </p:sp>
      <p:sp>
        <p:nvSpPr>
          <p:cNvPr id="5" name="text-31"/>
          <p:cNvSpPr txBox="1"/>
          <p:nvPr/>
        </p:nvSpPr>
        <p:spPr>
          <a:xfrm>
            <a:off x="960120" y="20116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4"/>
                </a:solidFill>
              </a:rPr>
              <a:t>OTÁZKA, NA KTORÚ ODPOVEDÁME</a:t>
            </a:r>
            <a:endParaRPr lang="en-US" sz="1100" dirty="0"/>
          </a:p>
        </p:txBody>
      </p:sp>
      <p:sp>
        <p:nvSpPr>
          <p:cNvPr id="6" name="text-32"/>
          <p:cNvSpPr txBox="1"/>
          <p:nvPr/>
        </p:nvSpPr>
        <p:spPr>
          <a:xfrm>
            <a:off x="960120" y="2468880"/>
            <a:ext cx="39319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Ako zabezpečiť, aby si ľudia v projekte naozaj rozumeli – a ako s tým pomáha kancelária projektového manažmentu?</a:t>
            </a:r>
            <a:endParaRPr lang="en-US" sz="2400" dirty="0"/>
          </a:p>
        </p:txBody>
      </p:sp>
      <p:sp>
        <p:nvSpPr>
          <p:cNvPr id="7" name="card-33"/>
          <p:cNvSpPr/>
          <p:nvPr/>
        </p:nvSpPr>
        <p:spPr>
          <a:xfrm>
            <a:off x="5669280" y="1645920"/>
            <a:ext cx="5971032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/>
        </p:spPr>
      </p:sp>
      <p:sp>
        <p:nvSpPr>
          <p:cNvPr id="8" name="dot-34"/>
          <p:cNvSpPr txBox="1"/>
          <p:nvPr/>
        </p:nvSpPr>
        <p:spPr>
          <a:xfrm>
            <a:off x="5943600" y="1947672"/>
            <a:ext cx="640080" cy="640080"/>
          </a:xfrm>
          <a:prstGeom prst="ellipse">
            <a:avLst/>
          </a:prstGeom>
          <a:solidFill>
            <a:schemeClr val="bg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01</a:t>
            </a:r>
            <a:endParaRPr lang="en-US" sz="1600" dirty="0"/>
          </a:p>
        </p:txBody>
      </p:sp>
      <p:sp>
        <p:nvSpPr>
          <p:cNvPr id="9" name="text-35"/>
          <p:cNvSpPr txBox="1"/>
          <p:nvPr/>
        </p:nvSpPr>
        <p:spPr>
          <a:xfrm>
            <a:off x="6858000" y="190195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Čo je komunikácia v projekte</a:t>
            </a:r>
            <a:endParaRPr lang="en-US" sz="1800" dirty="0"/>
          </a:p>
        </p:txBody>
      </p:sp>
      <p:sp>
        <p:nvSpPr>
          <p:cNvPr id="10" name="text-36"/>
          <p:cNvSpPr txBox="1"/>
          <p:nvPr/>
        </p:nvSpPr>
        <p:spPr>
          <a:xfrm>
            <a:off x="6858000" y="230428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Prenos porozumenia – nie iba odoslanie správy.</a:t>
            </a:r>
            <a:endParaRPr lang="en-US" sz="1500" dirty="0"/>
          </a:p>
        </p:txBody>
      </p:sp>
      <p:sp>
        <p:nvSpPr>
          <p:cNvPr id="11" name="card-37"/>
          <p:cNvSpPr/>
          <p:nvPr/>
        </p:nvSpPr>
        <p:spPr>
          <a:xfrm>
            <a:off x="5669280" y="3154680"/>
            <a:ext cx="5971032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/>
        </p:spPr>
      </p:sp>
      <p:sp>
        <p:nvSpPr>
          <p:cNvPr id="12" name="dot-38"/>
          <p:cNvSpPr txBox="1"/>
          <p:nvPr/>
        </p:nvSpPr>
        <p:spPr>
          <a:xfrm>
            <a:off x="5943600" y="3456432"/>
            <a:ext cx="640080" cy="640080"/>
          </a:xfrm>
          <a:prstGeom prst="ellipse">
            <a:avLst/>
          </a:prstGeom>
          <a:solidFill>
            <a:schemeClr val="bg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02</a:t>
            </a:r>
            <a:endParaRPr lang="en-US" sz="1600" dirty="0"/>
          </a:p>
        </p:txBody>
      </p:sp>
      <p:sp>
        <p:nvSpPr>
          <p:cNvPr id="13" name="text-39"/>
          <p:cNvSpPr txBox="1"/>
          <p:nvPr/>
        </p:nvSpPr>
        <p:spPr>
          <a:xfrm>
            <a:off x="6858000" y="341071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Ako ju riadiť</a:t>
            </a:r>
            <a:endParaRPr lang="en-US" sz="1800" dirty="0"/>
          </a:p>
        </p:txBody>
      </p:sp>
      <p:sp>
        <p:nvSpPr>
          <p:cNvPr id="14" name="text-40"/>
          <p:cNvSpPr txBox="1"/>
          <p:nvPr/>
        </p:nvSpPr>
        <p:spPr>
          <a:xfrm>
            <a:off x="6858000" y="381304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Plán, každodenné riadenie a kontrola, či to funguje.</a:t>
            </a:r>
            <a:endParaRPr lang="en-US" sz="1500" dirty="0"/>
          </a:p>
        </p:txBody>
      </p:sp>
      <p:sp>
        <p:nvSpPr>
          <p:cNvPr id="15" name="card-41"/>
          <p:cNvSpPr/>
          <p:nvPr/>
        </p:nvSpPr>
        <p:spPr>
          <a:xfrm>
            <a:off x="5669280" y="4663440"/>
            <a:ext cx="5971032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/>
        </p:spPr>
      </p:sp>
      <p:sp>
        <p:nvSpPr>
          <p:cNvPr id="16" name="dot-42"/>
          <p:cNvSpPr txBox="1"/>
          <p:nvPr/>
        </p:nvSpPr>
        <p:spPr>
          <a:xfrm>
            <a:off x="5943600" y="4965192"/>
            <a:ext cx="640080" cy="640080"/>
          </a:xfrm>
          <a:prstGeom prst="ellipse">
            <a:avLst/>
          </a:prstGeom>
          <a:solidFill>
            <a:schemeClr val="bg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03</a:t>
            </a:r>
            <a:endParaRPr lang="en-US" sz="1600" dirty="0"/>
          </a:p>
        </p:txBody>
      </p:sp>
      <p:sp>
        <p:nvSpPr>
          <p:cNvPr id="17" name="text-43"/>
          <p:cNvSpPr txBox="1"/>
          <p:nvPr/>
        </p:nvSpPr>
        <p:spPr>
          <a:xfrm>
            <a:off x="6858000" y="491947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Kancelária projektového manažmentu</a:t>
            </a:r>
            <a:endParaRPr lang="en-US" sz="1800" dirty="0"/>
          </a:p>
        </p:txBody>
      </p:sp>
      <p:sp>
        <p:nvSpPr>
          <p:cNvPr id="18" name="text-44"/>
          <p:cNvSpPr txBox="1"/>
          <p:nvPr/>
        </p:nvSpPr>
        <p:spPr>
          <a:xfrm>
            <a:off x="6858000" y="532180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Kto drží komunikáciu pokope naprieč projektmi.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01 – ČO JE KOMUNIKÁCIA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Rovnaké slová, iný obraz v hlave</a:t>
            </a:r>
            <a:endParaRPr lang="en-US" sz="3000" dirty="0"/>
          </a:p>
        </p:txBody>
      </p:sp>
      <p:sp>
        <p:nvSpPr>
          <p:cNvPr id="4" name="card-45"/>
          <p:cNvSpPr/>
          <p:nvPr/>
        </p:nvSpPr>
        <p:spPr>
          <a:xfrm>
            <a:off x="548640" y="1554480"/>
            <a:ext cx="11094415" cy="566928"/>
          </a:xfrm>
          <a:prstGeom prst="roundRect">
            <a:avLst>
              <a:gd name="adj" fmla="val 12903"/>
            </a:avLst>
          </a:prstGeom>
          <a:solidFill>
            <a:schemeClr val="accent6"/>
          </a:solidFill>
          <a:ln/>
        </p:spPr>
      </p:sp>
      <p:sp>
        <p:nvSpPr>
          <p:cNvPr id="5" name="text-46"/>
          <p:cNvSpPr txBox="1"/>
          <p:nvPr/>
        </p:nvSpPr>
        <p:spPr>
          <a:xfrm>
            <a:off x="822960" y="1554480"/>
            <a:ext cx="105457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Príklad: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klient napíše do ticketu „Chceme jednoduchý export dát.“ Čo sa s touto vetou stane cestou?</a:t>
            </a:r>
            <a:endParaRPr lang="en-US" sz="1600" dirty="0"/>
          </a:p>
        </p:txBody>
      </p:sp>
      <p:sp>
        <p:nvSpPr>
          <p:cNvPr id="6" name="card-47"/>
          <p:cNvSpPr/>
          <p:nvPr/>
        </p:nvSpPr>
        <p:spPr>
          <a:xfrm>
            <a:off x="548640" y="2423160"/>
            <a:ext cx="2011680" cy="251460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/>
        </p:spPr>
      </p:sp>
      <p:sp>
        <p:nvSpPr>
          <p:cNvPr id="7" name="text-48"/>
          <p:cNvSpPr txBox="1"/>
          <p:nvPr/>
        </p:nvSpPr>
        <p:spPr>
          <a:xfrm>
            <a:off x="713232" y="2606040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Odosielateľ</a:t>
            </a:r>
            <a:endParaRPr lang="en-US" sz="1700" dirty="0"/>
          </a:p>
        </p:txBody>
      </p:sp>
      <p:sp>
        <p:nvSpPr>
          <p:cNvPr id="8" name="text-49"/>
          <p:cNvSpPr txBox="1"/>
          <p:nvPr/>
        </p:nvSpPr>
        <p:spPr>
          <a:xfrm>
            <a:off x="713232" y="3017520"/>
            <a:ext cx="16824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má v hlave zámer a kontext</a:t>
            </a:r>
            <a:endParaRPr lang="en-US" sz="1400" dirty="0"/>
          </a:p>
        </p:txBody>
      </p:sp>
      <p:sp>
        <p:nvSpPr>
          <p:cNvPr id="9" name="text-50"/>
          <p:cNvSpPr txBox="1"/>
          <p:nvPr/>
        </p:nvSpPr>
        <p:spPr>
          <a:xfrm>
            <a:off x="713232" y="3794760"/>
            <a:ext cx="16824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2"/>
                </a:solidFill>
              </a:rPr>
              <a:t>účtovníčka chce raz mesačne tabuľku faktúr v Exceli</a:t>
            </a:r>
            <a:endParaRPr lang="en-US" sz="1400" dirty="0"/>
          </a:p>
        </p:txBody>
      </p:sp>
      <p:sp>
        <p:nvSpPr>
          <p:cNvPr id="10" name="line-51"/>
          <p:cNvSpPr/>
          <p:nvPr/>
        </p:nvSpPr>
        <p:spPr>
          <a:xfrm>
            <a:off x="2596896" y="3680460"/>
            <a:ext cx="185623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1" name="card-52"/>
          <p:cNvSpPr/>
          <p:nvPr/>
        </p:nvSpPr>
        <p:spPr>
          <a:xfrm>
            <a:off x="2819095" y="2423160"/>
            <a:ext cx="2011680" cy="251460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/>
        </p:spPr>
      </p:sp>
      <p:sp>
        <p:nvSpPr>
          <p:cNvPr id="12" name="text-53"/>
          <p:cNvSpPr txBox="1"/>
          <p:nvPr/>
        </p:nvSpPr>
        <p:spPr>
          <a:xfrm>
            <a:off x="2983687" y="2606040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Kódovanie</a:t>
            </a:r>
            <a:endParaRPr lang="en-US" sz="1700" dirty="0"/>
          </a:p>
        </p:txBody>
      </p:sp>
      <p:sp>
        <p:nvSpPr>
          <p:cNvPr id="13" name="text-54"/>
          <p:cNvSpPr txBox="1"/>
          <p:nvPr/>
        </p:nvSpPr>
        <p:spPr>
          <a:xfrm>
            <a:off x="2983687" y="3017520"/>
            <a:ext cx="16824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zámer zmení na slová</a:t>
            </a:r>
            <a:endParaRPr lang="en-US" sz="1400" dirty="0"/>
          </a:p>
        </p:txBody>
      </p:sp>
      <p:sp>
        <p:nvSpPr>
          <p:cNvPr id="14" name="text-55"/>
          <p:cNvSpPr txBox="1"/>
          <p:nvPr/>
        </p:nvSpPr>
        <p:spPr>
          <a:xfrm>
            <a:off x="2983687" y="3794760"/>
            <a:ext cx="16824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2"/>
                </a:solidFill>
              </a:rPr>
              <a:t>napíše len „jednoduchý export“</a:t>
            </a:r>
            <a:endParaRPr lang="en-US" sz="1400" dirty="0"/>
          </a:p>
        </p:txBody>
      </p:sp>
      <p:sp>
        <p:nvSpPr>
          <p:cNvPr id="15" name="line-56"/>
          <p:cNvSpPr/>
          <p:nvPr/>
        </p:nvSpPr>
        <p:spPr>
          <a:xfrm>
            <a:off x="4867351" y="3680460"/>
            <a:ext cx="185623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6" name="card-57"/>
          <p:cNvSpPr/>
          <p:nvPr/>
        </p:nvSpPr>
        <p:spPr>
          <a:xfrm>
            <a:off x="5089550" y="2423160"/>
            <a:ext cx="2011680" cy="251460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/>
        </p:spPr>
      </p:sp>
      <p:sp>
        <p:nvSpPr>
          <p:cNvPr id="17" name="text-58"/>
          <p:cNvSpPr txBox="1"/>
          <p:nvPr/>
        </p:nvSpPr>
        <p:spPr>
          <a:xfrm>
            <a:off x="5254142" y="2606040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Kanál a šum</a:t>
            </a:r>
            <a:endParaRPr lang="en-US" sz="1700" dirty="0"/>
          </a:p>
        </p:txBody>
      </p:sp>
      <p:sp>
        <p:nvSpPr>
          <p:cNvPr id="18" name="text-59"/>
          <p:cNvSpPr txBox="1"/>
          <p:nvPr/>
        </p:nvSpPr>
        <p:spPr>
          <a:xfrm>
            <a:off x="5254142" y="3017520"/>
            <a:ext cx="16824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správa ide e-mailom, chatom, ticketom</a:t>
            </a:r>
            <a:endParaRPr lang="en-US" sz="1400" dirty="0"/>
          </a:p>
        </p:txBody>
      </p:sp>
      <p:sp>
        <p:nvSpPr>
          <p:cNvPr id="19" name="text-60"/>
          <p:cNvSpPr txBox="1"/>
          <p:nvPr/>
        </p:nvSpPr>
        <p:spPr>
          <a:xfrm>
            <a:off x="5254142" y="3794760"/>
            <a:ext cx="16824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2"/>
                </a:solidFill>
              </a:rPr>
              <a:t>jedna veta v tickete, bez príkladu</a:t>
            </a:r>
            <a:endParaRPr lang="en-US" sz="1400" dirty="0"/>
          </a:p>
        </p:txBody>
      </p:sp>
      <p:sp>
        <p:nvSpPr>
          <p:cNvPr id="20" name="line-61"/>
          <p:cNvSpPr/>
          <p:nvPr/>
        </p:nvSpPr>
        <p:spPr>
          <a:xfrm>
            <a:off x="7137806" y="3680460"/>
            <a:ext cx="185623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1" name="card-62"/>
          <p:cNvSpPr/>
          <p:nvPr/>
        </p:nvSpPr>
        <p:spPr>
          <a:xfrm>
            <a:off x="7360006" y="2423160"/>
            <a:ext cx="2011680" cy="251460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/>
        </p:spPr>
      </p:sp>
      <p:sp>
        <p:nvSpPr>
          <p:cNvPr id="22" name="text-63"/>
          <p:cNvSpPr txBox="1"/>
          <p:nvPr/>
        </p:nvSpPr>
        <p:spPr>
          <a:xfrm>
            <a:off x="7524598" y="2606040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Dekódovanie</a:t>
            </a:r>
            <a:endParaRPr lang="en-US" sz="1700" dirty="0"/>
          </a:p>
        </p:txBody>
      </p:sp>
      <p:sp>
        <p:nvSpPr>
          <p:cNvPr id="23" name="text-64"/>
          <p:cNvSpPr txBox="1"/>
          <p:nvPr/>
        </p:nvSpPr>
        <p:spPr>
          <a:xfrm>
            <a:off x="7524598" y="3017520"/>
            <a:ext cx="16824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príjemca si ju vyloží podľa seba</a:t>
            </a:r>
            <a:endParaRPr lang="en-US" sz="1400" dirty="0"/>
          </a:p>
        </p:txBody>
      </p:sp>
      <p:sp>
        <p:nvSpPr>
          <p:cNvPr id="24" name="text-65"/>
          <p:cNvSpPr txBox="1"/>
          <p:nvPr/>
        </p:nvSpPr>
        <p:spPr>
          <a:xfrm>
            <a:off x="7524598" y="3794760"/>
            <a:ext cx="16824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2"/>
                </a:solidFill>
              </a:rPr>
              <a:t>vývojár urobí CSV súbor cez API</a:t>
            </a:r>
            <a:endParaRPr lang="en-US" sz="1400" dirty="0"/>
          </a:p>
        </p:txBody>
      </p:sp>
      <p:sp>
        <p:nvSpPr>
          <p:cNvPr id="25" name="line-66"/>
          <p:cNvSpPr/>
          <p:nvPr/>
        </p:nvSpPr>
        <p:spPr>
          <a:xfrm>
            <a:off x="9408262" y="3680460"/>
            <a:ext cx="185623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6" name="card-67"/>
          <p:cNvSpPr/>
          <p:nvPr/>
        </p:nvSpPr>
        <p:spPr>
          <a:xfrm>
            <a:off x="9630461" y="2423160"/>
            <a:ext cx="2011680" cy="2514600"/>
          </a:xfrm>
          <a:prstGeom prst="roundRect">
            <a:avLst>
              <a:gd name="adj" fmla="val 3636"/>
            </a:avLst>
          </a:prstGeom>
          <a:solidFill>
            <a:schemeClr val="accent1"/>
          </a:solidFill>
          <a:ln/>
        </p:spPr>
      </p:sp>
      <p:sp>
        <p:nvSpPr>
          <p:cNvPr id="27" name="text-68"/>
          <p:cNvSpPr txBox="1"/>
          <p:nvPr/>
        </p:nvSpPr>
        <p:spPr>
          <a:xfrm>
            <a:off x="9795053" y="2606040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Spätná väzba</a:t>
            </a:r>
            <a:endParaRPr lang="en-US" sz="1700" dirty="0"/>
          </a:p>
        </p:txBody>
      </p:sp>
      <p:sp>
        <p:nvSpPr>
          <p:cNvPr id="28" name="text-69"/>
          <p:cNvSpPr txBox="1"/>
          <p:nvPr/>
        </p:nvSpPr>
        <p:spPr>
          <a:xfrm>
            <a:off x="9795053" y="3017520"/>
            <a:ext cx="16824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overí, či sme si rozumeli</a:t>
            </a:r>
            <a:endParaRPr lang="en-US" sz="1400" dirty="0"/>
          </a:p>
        </p:txBody>
      </p:sp>
      <p:sp>
        <p:nvSpPr>
          <p:cNvPr id="29" name="text-70"/>
          <p:cNvSpPr txBox="1"/>
          <p:nvPr/>
        </p:nvSpPr>
        <p:spPr>
          <a:xfrm>
            <a:off x="9795053" y="3794760"/>
            <a:ext cx="16824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4"/>
                </a:solidFill>
              </a:rPr>
              <a:t>„Ukážem vám návrh – myslíte takto?“</a:t>
            </a:r>
            <a:endParaRPr lang="en-US" sz="1400" dirty="0"/>
          </a:p>
        </p:txBody>
      </p:sp>
      <p:sp>
        <p:nvSpPr>
          <p:cNvPr id="30" name="line-71"/>
          <p:cNvSpPr/>
          <p:nvPr/>
        </p:nvSpPr>
        <p:spPr>
          <a:xfrm>
            <a:off x="10636301" y="4937760"/>
            <a:ext cx="0" cy="27432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dash"/>
          </a:ln>
        </p:spPr>
      </p:sp>
      <p:sp>
        <p:nvSpPr>
          <p:cNvPr id="31" name="line-72"/>
          <p:cNvSpPr/>
          <p:nvPr/>
        </p:nvSpPr>
        <p:spPr>
          <a:xfrm>
            <a:off x="1554480" y="5212080"/>
            <a:ext cx="9081821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dash"/>
          </a:ln>
        </p:spPr>
      </p:sp>
      <p:sp>
        <p:nvSpPr>
          <p:cNvPr id="32" name="line-73"/>
          <p:cNvSpPr/>
          <p:nvPr/>
        </p:nvSpPr>
        <p:spPr>
          <a:xfrm>
            <a:off x="1554480" y="4937760"/>
            <a:ext cx="0" cy="27432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dash"/>
            <a:headEnd type="triangle"/>
          </a:ln>
        </p:spPr>
      </p:sp>
      <p:sp>
        <p:nvSpPr>
          <p:cNvPr id="33" name="text-74"/>
          <p:cNvSpPr txBox="1"/>
          <p:nvPr/>
        </p:nvSpPr>
        <p:spPr>
          <a:xfrm>
            <a:off x="4572000" y="5056632"/>
            <a:ext cx="3044952" cy="310896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1"/>
                </a:solidFill>
              </a:rPr>
              <a:t>odpoveď sa vracia k odosielateľovi</a:t>
            </a:r>
            <a:endParaRPr lang="en-US" sz="1200" dirty="0"/>
          </a:p>
        </p:txBody>
      </p:sp>
      <p:sp>
        <p:nvSpPr>
          <p:cNvPr id="34" name="text-75"/>
          <p:cNvSpPr txBox="1"/>
          <p:nvPr/>
        </p:nvSpPr>
        <p:spPr>
          <a:xfrm>
            <a:off x="548640" y="571500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Komunikácia nekončí odoslaním.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Končí, keď príjemca správu pochopí a vie podľa nej konať – a to zistíme až zo spätnej väzby.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01 – ČO JE KOMUNIKÁCIA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Prečo je to v softvérovom projekte ťažké</a:t>
            </a:r>
            <a:endParaRPr lang="en-US" sz="3000" dirty="0"/>
          </a:p>
        </p:txBody>
      </p:sp>
      <p:sp>
        <p:nvSpPr>
          <p:cNvPr id="4" name="card-76"/>
          <p:cNvSpPr/>
          <p:nvPr/>
        </p:nvSpPr>
        <p:spPr>
          <a:xfrm>
            <a:off x="548640" y="1600200"/>
            <a:ext cx="6309360" cy="4434840"/>
          </a:xfrm>
          <a:prstGeom prst="roundRect">
            <a:avLst>
              <a:gd name="adj" fmla="val 1649"/>
            </a:avLst>
          </a:prstGeom>
          <a:solidFill>
            <a:schemeClr val="bg2"/>
          </a:solidFill>
          <a:ln/>
        </p:spPr>
      </p:sp>
      <p:sp>
        <p:nvSpPr>
          <p:cNvPr id="5" name="text-77"/>
          <p:cNvSpPr txBox="1"/>
          <p:nvPr/>
        </p:nvSpPr>
        <p:spPr>
          <a:xfrm>
            <a:off x="868680" y="1783080"/>
            <a:ext cx="5669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Každý nový človek v tíme pridá spojenie s každým, kto tam už je</a:t>
            </a:r>
            <a:endParaRPr lang="en-US" sz="1600" dirty="0"/>
          </a:p>
        </p:txBody>
      </p:sp>
      <p:sp>
        <p:nvSpPr>
          <p:cNvPr id="6" name="line-78"/>
          <p:cNvSpPr/>
          <p:nvPr/>
        </p:nvSpPr>
        <p:spPr>
          <a:xfrm>
            <a:off x="1600200" y="2679192"/>
            <a:ext cx="649353" cy="1124712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7" name="line-79"/>
          <p:cNvSpPr/>
          <p:nvPr/>
        </p:nvSpPr>
        <p:spPr>
          <a:xfrm flipH="1">
            <a:off x="950847" y="2679192"/>
            <a:ext cx="649353" cy="1124712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8" name="line-80"/>
          <p:cNvSpPr/>
          <p:nvPr/>
        </p:nvSpPr>
        <p:spPr>
          <a:xfrm>
            <a:off x="950847" y="3803904"/>
            <a:ext cx="1298706" cy="0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9" name="dot-81"/>
          <p:cNvSpPr txBox="1"/>
          <p:nvPr/>
        </p:nvSpPr>
        <p:spPr>
          <a:xfrm>
            <a:off x="1481328" y="2560320"/>
            <a:ext cx="237744" cy="23774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0" name="dot-82"/>
          <p:cNvSpPr txBox="1"/>
          <p:nvPr/>
        </p:nvSpPr>
        <p:spPr>
          <a:xfrm>
            <a:off x="2130681" y="3685032"/>
            <a:ext cx="237744" cy="23774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1" name="dot-83"/>
          <p:cNvSpPr txBox="1"/>
          <p:nvPr/>
        </p:nvSpPr>
        <p:spPr>
          <a:xfrm>
            <a:off x="831975" y="3685032"/>
            <a:ext cx="237744" cy="23774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2" name="text-84"/>
          <p:cNvSpPr txBox="1"/>
          <p:nvPr/>
        </p:nvSpPr>
        <p:spPr>
          <a:xfrm>
            <a:off x="685800" y="44348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3 ľudia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3 spojenia</a:t>
            </a:r>
            <a:endParaRPr lang="en-US" sz="1500" dirty="0"/>
          </a:p>
        </p:txBody>
      </p:sp>
      <p:sp>
        <p:nvSpPr>
          <p:cNvPr id="13" name="line-85"/>
          <p:cNvSpPr/>
          <p:nvPr/>
        </p:nvSpPr>
        <p:spPr>
          <a:xfrm>
            <a:off x="3703320" y="2679192"/>
            <a:ext cx="713110" cy="518105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14" name="line-86"/>
          <p:cNvSpPr/>
          <p:nvPr/>
        </p:nvSpPr>
        <p:spPr>
          <a:xfrm>
            <a:off x="3703320" y="2679192"/>
            <a:ext cx="440726" cy="1356415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15" name="line-87"/>
          <p:cNvSpPr/>
          <p:nvPr/>
        </p:nvSpPr>
        <p:spPr>
          <a:xfrm flipH="1">
            <a:off x="3262594" y="2679192"/>
            <a:ext cx="440726" cy="1356415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16" name="line-88"/>
          <p:cNvSpPr/>
          <p:nvPr/>
        </p:nvSpPr>
        <p:spPr>
          <a:xfrm flipH="1">
            <a:off x="2990210" y="2679192"/>
            <a:ext cx="713110" cy="518105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17" name="line-89"/>
          <p:cNvSpPr/>
          <p:nvPr/>
        </p:nvSpPr>
        <p:spPr>
          <a:xfrm flipH="1">
            <a:off x="4144046" y="3197297"/>
            <a:ext cx="272384" cy="838311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18" name="line-90"/>
          <p:cNvSpPr/>
          <p:nvPr/>
        </p:nvSpPr>
        <p:spPr>
          <a:xfrm flipH="1">
            <a:off x="3262594" y="3197297"/>
            <a:ext cx="1153836" cy="838311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19" name="line-91"/>
          <p:cNvSpPr/>
          <p:nvPr/>
        </p:nvSpPr>
        <p:spPr>
          <a:xfrm>
            <a:off x="2990210" y="3197297"/>
            <a:ext cx="1426220" cy="0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20" name="line-92"/>
          <p:cNvSpPr/>
          <p:nvPr/>
        </p:nvSpPr>
        <p:spPr>
          <a:xfrm>
            <a:off x="3262594" y="4035607"/>
            <a:ext cx="881452" cy="0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21" name="line-93"/>
          <p:cNvSpPr/>
          <p:nvPr/>
        </p:nvSpPr>
        <p:spPr>
          <a:xfrm>
            <a:off x="2990210" y="3197297"/>
            <a:ext cx="1153836" cy="838311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22" name="line-94"/>
          <p:cNvSpPr/>
          <p:nvPr/>
        </p:nvSpPr>
        <p:spPr>
          <a:xfrm>
            <a:off x="2990210" y="3197297"/>
            <a:ext cx="272384" cy="838311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23" name="dot-95"/>
          <p:cNvSpPr txBox="1"/>
          <p:nvPr/>
        </p:nvSpPr>
        <p:spPr>
          <a:xfrm>
            <a:off x="3584448" y="2560320"/>
            <a:ext cx="237744" cy="23774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24" name="dot-96"/>
          <p:cNvSpPr txBox="1"/>
          <p:nvPr/>
        </p:nvSpPr>
        <p:spPr>
          <a:xfrm>
            <a:off x="4297558" y="3078425"/>
            <a:ext cx="237744" cy="23774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25" name="dot-97"/>
          <p:cNvSpPr txBox="1"/>
          <p:nvPr/>
        </p:nvSpPr>
        <p:spPr>
          <a:xfrm>
            <a:off x="4025174" y="3916735"/>
            <a:ext cx="237744" cy="23774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26" name="dot-98"/>
          <p:cNvSpPr txBox="1"/>
          <p:nvPr/>
        </p:nvSpPr>
        <p:spPr>
          <a:xfrm>
            <a:off x="3143722" y="3916735"/>
            <a:ext cx="237744" cy="23774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27" name="dot-99"/>
          <p:cNvSpPr txBox="1"/>
          <p:nvPr/>
        </p:nvSpPr>
        <p:spPr>
          <a:xfrm>
            <a:off x="2871338" y="3078425"/>
            <a:ext cx="237744" cy="23774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28" name="text-100"/>
          <p:cNvSpPr txBox="1"/>
          <p:nvPr/>
        </p:nvSpPr>
        <p:spPr>
          <a:xfrm>
            <a:off x="2788920" y="44348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5 ľudí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10 spojení</a:t>
            </a:r>
            <a:endParaRPr lang="en-US" sz="1500" dirty="0"/>
          </a:p>
        </p:txBody>
      </p:sp>
      <p:sp>
        <p:nvSpPr>
          <p:cNvPr id="29" name="line-101"/>
          <p:cNvSpPr/>
          <p:nvPr/>
        </p:nvSpPr>
        <p:spPr>
          <a:xfrm>
            <a:off x="5806440" y="2679192"/>
            <a:ext cx="530194" cy="219614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30" name="line-102"/>
          <p:cNvSpPr/>
          <p:nvPr/>
        </p:nvSpPr>
        <p:spPr>
          <a:xfrm>
            <a:off x="5806440" y="2679192"/>
            <a:ext cx="749808" cy="749808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31" name="line-103"/>
          <p:cNvSpPr/>
          <p:nvPr/>
        </p:nvSpPr>
        <p:spPr>
          <a:xfrm>
            <a:off x="5806440" y="2679192"/>
            <a:ext cx="530194" cy="1280002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32" name="line-104"/>
          <p:cNvSpPr/>
          <p:nvPr/>
        </p:nvSpPr>
        <p:spPr>
          <a:xfrm>
            <a:off x="5806440" y="2679192"/>
            <a:ext cx="0" cy="1499616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33" name="line-105"/>
          <p:cNvSpPr/>
          <p:nvPr/>
        </p:nvSpPr>
        <p:spPr>
          <a:xfrm flipH="1">
            <a:off x="5276246" y="2679192"/>
            <a:ext cx="530194" cy="1280002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34" name="line-106"/>
          <p:cNvSpPr/>
          <p:nvPr/>
        </p:nvSpPr>
        <p:spPr>
          <a:xfrm flipH="1">
            <a:off x="5056632" y="2679192"/>
            <a:ext cx="749808" cy="749808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35" name="line-107"/>
          <p:cNvSpPr/>
          <p:nvPr/>
        </p:nvSpPr>
        <p:spPr>
          <a:xfrm flipH="1">
            <a:off x="5276246" y="2679192"/>
            <a:ext cx="530194" cy="219614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36" name="line-108"/>
          <p:cNvSpPr/>
          <p:nvPr/>
        </p:nvSpPr>
        <p:spPr>
          <a:xfrm>
            <a:off x="6336634" y="2898806"/>
            <a:ext cx="219614" cy="530194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37" name="line-109"/>
          <p:cNvSpPr/>
          <p:nvPr/>
        </p:nvSpPr>
        <p:spPr>
          <a:xfrm>
            <a:off x="6336634" y="2898806"/>
            <a:ext cx="0" cy="1060389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38" name="line-110"/>
          <p:cNvSpPr/>
          <p:nvPr/>
        </p:nvSpPr>
        <p:spPr>
          <a:xfrm flipH="1">
            <a:off x="5806440" y="2898806"/>
            <a:ext cx="530194" cy="1280002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39" name="line-111"/>
          <p:cNvSpPr/>
          <p:nvPr/>
        </p:nvSpPr>
        <p:spPr>
          <a:xfrm flipH="1">
            <a:off x="5276246" y="2898806"/>
            <a:ext cx="1060389" cy="1060389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40" name="line-112"/>
          <p:cNvSpPr/>
          <p:nvPr/>
        </p:nvSpPr>
        <p:spPr>
          <a:xfrm flipH="1">
            <a:off x="5056632" y="2898806"/>
            <a:ext cx="1280002" cy="530194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41" name="line-113"/>
          <p:cNvSpPr/>
          <p:nvPr/>
        </p:nvSpPr>
        <p:spPr>
          <a:xfrm>
            <a:off x="5276246" y="2898806"/>
            <a:ext cx="1060389" cy="0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42" name="line-114"/>
          <p:cNvSpPr/>
          <p:nvPr/>
        </p:nvSpPr>
        <p:spPr>
          <a:xfrm flipH="1">
            <a:off x="6336634" y="3429000"/>
            <a:ext cx="219614" cy="530194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43" name="line-115"/>
          <p:cNvSpPr/>
          <p:nvPr/>
        </p:nvSpPr>
        <p:spPr>
          <a:xfrm flipH="1">
            <a:off x="5806440" y="3429000"/>
            <a:ext cx="749808" cy="749808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44" name="line-116"/>
          <p:cNvSpPr/>
          <p:nvPr/>
        </p:nvSpPr>
        <p:spPr>
          <a:xfrm flipH="1">
            <a:off x="5276246" y="3429000"/>
            <a:ext cx="1280002" cy="530194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45" name="line-117"/>
          <p:cNvSpPr/>
          <p:nvPr/>
        </p:nvSpPr>
        <p:spPr>
          <a:xfrm>
            <a:off x="5056632" y="3429000"/>
            <a:ext cx="1499616" cy="0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46" name="line-118"/>
          <p:cNvSpPr/>
          <p:nvPr/>
        </p:nvSpPr>
        <p:spPr>
          <a:xfrm>
            <a:off x="5276246" y="2898806"/>
            <a:ext cx="1280002" cy="530194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47" name="line-119"/>
          <p:cNvSpPr/>
          <p:nvPr/>
        </p:nvSpPr>
        <p:spPr>
          <a:xfrm flipH="1">
            <a:off x="5806440" y="3959194"/>
            <a:ext cx="530194" cy="219614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48" name="line-120"/>
          <p:cNvSpPr/>
          <p:nvPr/>
        </p:nvSpPr>
        <p:spPr>
          <a:xfrm>
            <a:off x="5276246" y="3959194"/>
            <a:ext cx="1060389" cy="0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49" name="line-121"/>
          <p:cNvSpPr/>
          <p:nvPr/>
        </p:nvSpPr>
        <p:spPr>
          <a:xfrm>
            <a:off x="5056632" y="3429000"/>
            <a:ext cx="1280002" cy="530194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50" name="line-122"/>
          <p:cNvSpPr/>
          <p:nvPr/>
        </p:nvSpPr>
        <p:spPr>
          <a:xfrm>
            <a:off x="5276246" y="2898806"/>
            <a:ext cx="1060389" cy="1060389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51" name="line-123"/>
          <p:cNvSpPr/>
          <p:nvPr/>
        </p:nvSpPr>
        <p:spPr>
          <a:xfrm>
            <a:off x="5276246" y="3959194"/>
            <a:ext cx="530194" cy="219614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52" name="line-124"/>
          <p:cNvSpPr/>
          <p:nvPr/>
        </p:nvSpPr>
        <p:spPr>
          <a:xfrm>
            <a:off x="5056632" y="3429000"/>
            <a:ext cx="749808" cy="749808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53" name="line-125"/>
          <p:cNvSpPr/>
          <p:nvPr/>
        </p:nvSpPr>
        <p:spPr>
          <a:xfrm>
            <a:off x="5276246" y="2898806"/>
            <a:ext cx="530194" cy="1280002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54" name="line-126"/>
          <p:cNvSpPr/>
          <p:nvPr/>
        </p:nvSpPr>
        <p:spPr>
          <a:xfrm>
            <a:off x="5056632" y="3429000"/>
            <a:ext cx="219614" cy="530194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55" name="line-127"/>
          <p:cNvSpPr/>
          <p:nvPr/>
        </p:nvSpPr>
        <p:spPr>
          <a:xfrm>
            <a:off x="5276246" y="2898806"/>
            <a:ext cx="0" cy="1060389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56" name="line-128"/>
          <p:cNvSpPr/>
          <p:nvPr/>
        </p:nvSpPr>
        <p:spPr>
          <a:xfrm flipH="1">
            <a:off x="5056632" y="2898806"/>
            <a:ext cx="219614" cy="530194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57" name="dot-129"/>
          <p:cNvSpPr txBox="1"/>
          <p:nvPr/>
        </p:nvSpPr>
        <p:spPr>
          <a:xfrm>
            <a:off x="5687568" y="2560320"/>
            <a:ext cx="237744" cy="23774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58" name="dot-130"/>
          <p:cNvSpPr txBox="1"/>
          <p:nvPr/>
        </p:nvSpPr>
        <p:spPr>
          <a:xfrm>
            <a:off x="6217762" y="2779934"/>
            <a:ext cx="237744" cy="23774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59" name="dot-131"/>
          <p:cNvSpPr txBox="1"/>
          <p:nvPr/>
        </p:nvSpPr>
        <p:spPr>
          <a:xfrm>
            <a:off x="6437376" y="3310128"/>
            <a:ext cx="237744" cy="23774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60" name="dot-132"/>
          <p:cNvSpPr txBox="1"/>
          <p:nvPr/>
        </p:nvSpPr>
        <p:spPr>
          <a:xfrm>
            <a:off x="6217762" y="3840322"/>
            <a:ext cx="237744" cy="23774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61" name="dot-133"/>
          <p:cNvSpPr txBox="1"/>
          <p:nvPr/>
        </p:nvSpPr>
        <p:spPr>
          <a:xfrm>
            <a:off x="5687568" y="4059936"/>
            <a:ext cx="237744" cy="23774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62" name="dot-134"/>
          <p:cNvSpPr txBox="1"/>
          <p:nvPr/>
        </p:nvSpPr>
        <p:spPr>
          <a:xfrm>
            <a:off x="5157374" y="3840322"/>
            <a:ext cx="237744" cy="23774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63" name="dot-135"/>
          <p:cNvSpPr txBox="1"/>
          <p:nvPr/>
        </p:nvSpPr>
        <p:spPr>
          <a:xfrm>
            <a:off x="4937760" y="3310128"/>
            <a:ext cx="237744" cy="23774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64" name="dot-136"/>
          <p:cNvSpPr txBox="1"/>
          <p:nvPr/>
        </p:nvSpPr>
        <p:spPr>
          <a:xfrm>
            <a:off x="5157374" y="2779934"/>
            <a:ext cx="237744" cy="23774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65" name="text-137"/>
          <p:cNvSpPr txBox="1"/>
          <p:nvPr/>
        </p:nvSpPr>
        <p:spPr>
          <a:xfrm>
            <a:off x="4892040" y="44348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8 ľudí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28 spojení</a:t>
            </a:r>
            <a:endParaRPr lang="en-US" sz="1500" dirty="0"/>
          </a:p>
        </p:txBody>
      </p:sp>
      <p:sp>
        <p:nvSpPr>
          <p:cNvPr id="66" name="text-138"/>
          <p:cNvSpPr txBox="1"/>
          <p:nvPr/>
        </p:nvSpPr>
        <p:spPr>
          <a:xfrm>
            <a:off x="868680" y="516636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Počet spojení rastie rýchlejšie než počet ľudí: n · (n − 1) / 2. Preto pridanie ľudí do meškajúceho projektu často nepomôže (Brooks).</a:t>
            </a:r>
            <a:endParaRPr lang="en-US" sz="1400" dirty="0"/>
          </a:p>
        </p:txBody>
      </p:sp>
      <p:sp>
        <p:nvSpPr>
          <p:cNvPr id="67" name="dot-139"/>
          <p:cNvSpPr txBox="1"/>
          <p:nvPr/>
        </p:nvSpPr>
        <p:spPr>
          <a:xfrm>
            <a:off x="7269480" y="16916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1500" dirty="0"/>
          </a:p>
        </p:txBody>
      </p:sp>
      <p:sp>
        <p:nvSpPr>
          <p:cNvPr id="68" name="text-140"/>
          <p:cNvSpPr txBox="1"/>
          <p:nvPr/>
        </p:nvSpPr>
        <p:spPr>
          <a:xfrm>
            <a:off x="7955280" y="169164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Veľa odovzdaní</a:t>
            </a:r>
            <a:endParaRPr lang="en-US" sz="1800" dirty="0"/>
          </a:p>
        </p:txBody>
      </p:sp>
      <p:sp>
        <p:nvSpPr>
          <p:cNvPr id="69" name="text-141"/>
          <p:cNvSpPr txBox="1"/>
          <p:nvPr/>
        </p:nvSpPr>
        <p:spPr>
          <a:xfrm>
            <a:off x="7955280" y="2167128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Informácia ide cez viac rúk a pri každom odovzdaní sa môže skresliť – ako pri hre na tichú poštu.</a:t>
            </a:r>
            <a:endParaRPr lang="en-US" sz="1500" dirty="0"/>
          </a:p>
        </p:txBody>
      </p:sp>
      <p:sp>
        <p:nvSpPr>
          <p:cNvPr id="70" name="dot-142"/>
          <p:cNvSpPr txBox="1"/>
          <p:nvPr/>
        </p:nvSpPr>
        <p:spPr>
          <a:xfrm>
            <a:off x="7269480" y="32461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1500" dirty="0"/>
          </a:p>
        </p:txBody>
      </p:sp>
      <p:sp>
        <p:nvSpPr>
          <p:cNvPr id="71" name="text-143"/>
          <p:cNvSpPr txBox="1"/>
          <p:nvPr/>
        </p:nvSpPr>
        <p:spPr>
          <a:xfrm>
            <a:off x="7955280" y="32461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Softvér nie je vidieť</a:t>
            </a:r>
            <a:endParaRPr lang="en-US" sz="1800" dirty="0"/>
          </a:p>
        </p:txBody>
      </p:sp>
      <p:sp>
        <p:nvSpPr>
          <p:cNvPr id="72" name="text-144"/>
          <p:cNvSpPr txBox="1"/>
          <p:nvPr/>
        </p:nvSpPr>
        <p:spPr>
          <a:xfrm>
            <a:off x="7955280" y="3721608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Kým nie je hotový, každý si ho predstavuje inak. Preto toľko pomáhajú prototypy a demá.</a:t>
            </a:r>
            <a:endParaRPr lang="en-US" sz="1500" dirty="0"/>
          </a:p>
        </p:txBody>
      </p:sp>
      <p:sp>
        <p:nvSpPr>
          <p:cNvPr id="73" name="dot-145"/>
          <p:cNvSpPr txBox="1"/>
          <p:nvPr/>
        </p:nvSpPr>
        <p:spPr>
          <a:xfrm>
            <a:off x="7269480" y="48006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1500" dirty="0"/>
          </a:p>
        </p:txBody>
      </p:sp>
      <p:sp>
        <p:nvSpPr>
          <p:cNvPr id="74" name="text-146"/>
          <p:cNvSpPr txBox="1"/>
          <p:nvPr/>
        </p:nvSpPr>
        <p:spPr>
          <a:xfrm>
            <a:off x="7955280" y="48006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Každý hovorí iným jazykom</a:t>
            </a:r>
            <a:endParaRPr lang="en-US" sz="1800" dirty="0"/>
          </a:p>
        </p:txBody>
      </p:sp>
      <p:sp>
        <p:nvSpPr>
          <p:cNvPr id="75" name="text-147"/>
          <p:cNvSpPr txBox="1"/>
          <p:nvPr/>
        </p:nvSpPr>
        <p:spPr>
          <a:xfrm>
            <a:off x="7955280" y="5276088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Biznis hovorí o cieľoch, vývoj o riešení, vedenie o peniazoch a termínoch.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01 – ČO JE KOMUNIKÁCIA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Správny kanál pre správnu správu</a:t>
            </a:r>
            <a:endParaRPr lang="en-US" sz="3000" dirty="0"/>
          </a:p>
        </p:txBody>
      </p:sp>
      <p:sp>
        <p:nvSpPr>
          <p:cNvPr id="4" name="card-148"/>
          <p:cNvSpPr/>
          <p:nvPr/>
        </p:nvSpPr>
        <p:spPr>
          <a:xfrm>
            <a:off x="548640" y="1600200"/>
            <a:ext cx="3511296" cy="2971800"/>
          </a:xfrm>
          <a:prstGeom prst="roundRect">
            <a:avLst>
              <a:gd name="adj" fmla="val 2462"/>
            </a:avLst>
          </a:prstGeom>
          <a:solidFill>
            <a:schemeClr val="bg2"/>
          </a:solidFill>
          <a:ln/>
        </p:spPr>
      </p:sp>
      <p:sp>
        <p:nvSpPr>
          <p:cNvPr id="5" name="dot-149"/>
          <p:cNvSpPr txBox="1"/>
          <p:nvPr/>
        </p:nvSpPr>
        <p:spPr>
          <a:xfrm>
            <a:off x="822960" y="187452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⇆</a:t>
            </a:r>
            <a:endParaRPr lang="en-US" sz="2000" dirty="0"/>
          </a:p>
        </p:txBody>
      </p:sp>
      <p:sp>
        <p:nvSpPr>
          <p:cNvPr id="6" name="text-150"/>
          <p:cNvSpPr txBox="1"/>
          <p:nvPr/>
        </p:nvSpPr>
        <p:spPr>
          <a:xfrm>
            <a:off x="1554480" y="1847088"/>
            <a:ext cx="23225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Interaktívna</a:t>
            </a:r>
            <a:endParaRPr lang="en-US" sz="1900" dirty="0"/>
          </a:p>
        </p:txBody>
      </p:sp>
      <p:sp>
        <p:nvSpPr>
          <p:cNvPr id="7" name="text-151"/>
          <p:cNvSpPr txBox="1"/>
          <p:nvPr/>
        </p:nvSpPr>
        <p:spPr>
          <a:xfrm>
            <a:off x="1554480" y="2203704"/>
            <a:ext cx="2322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2"/>
                </a:solidFill>
              </a:rPr>
              <a:t>ako telefonát</a:t>
            </a:r>
            <a:endParaRPr lang="en-US" sz="1400" dirty="0"/>
          </a:p>
        </p:txBody>
      </p:sp>
      <p:sp>
        <p:nvSpPr>
          <p:cNvPr id="8" name="text-152"/>
          <p:cNvSpPr txBox="1"/>
          <p:nvPr/>
        </p:nvSpPr>
        <p:spPr>
          <a:xfrm>
            <a:off x="822960" y="2651760"/>
            <a:ext cx="29626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stretnutie, hovor, demo</a:t>
            </a:r>
            <a:endParaRPr lang="en-US" sz="1400" dirty="0"/>
          </a:p>
        </p:txBody>
      </p:sp>
      <p:sp>
        <p:nvSpPr>
          <p:cNvPr id="9" name="text-153"/>
          <p:cNvSpPr txBox="1"/>
          <p:nvPr/>
        </p:nvSpPr>
        <p:spPr>
          <a:xfrm>
            <a:off x="822960" y="3063240"/>
            <a:ext cx="29626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Keď treba niečo vyjasniť, rozhodnúť alebo vyriešiť spor. Obe strany sa hneď môžu pýtať.</a:t>
            </a:r>
            <a:endParaRPr lang="en-US" sz="1500" dirty="0"/>
          </a:p>
        </p:txBody>
      </p:sp>
      <p:sp>
        <p:nvSpPr>
          <p:cNvPr id="10" name="card-154"/>
          <p:cNvSpPr/>
          <p:nvPr/>
        </p:nvSpPr>
        <p:spPr>
          <a:xfrm>
            <a:off x="4340200" y="1600200"/>
            <a:ext cx="3511296" cy="2971800"/>
          </a:xfrm>
          <a:prstGeom prst="roundRect">
            <a:avLst>
              <a:gd name="adj" fmla="val 2462"/>
            </a:avLst>
          </a:prstGeom>
          <a:solidFill>
            <a:schemeClr val="bg2"/>
          </a:solidFill>
          <a:ln/>
        </p:spPr>
      </p:sp>
      <p:sp>
        <p:nvSpPr>
          <p:cNvPr id="11" name="dot-155"/>
          <p:cNvSpPr txBox="1"/>
          <p:nvPr/>
        </p:nvSpPr>
        <p:spPr>
          <a:xfrm>
            <a:off x="4614520" y="187452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→</a:t>
            </a:r>
            <a:endParaRPr lang="en-US" sz="2000" dirty="0"/>
          </a:p>
        </p:txBody>
      </p:sp>
      <p:sp>
        <p:nvSpPr>
          <p:cNvPr id="12" name="text-156"/>
          <p:cNvSpPr txBox="1"/>
          <p:nvPr/>
        </p:nvSpPr>
        <p:spPr>
          <a:xfrm>
            <a:off x="5346040" y="1847088"/>
            <a:ext cx="23225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Push</a:t>
            </a:r>
            <a:endParaRPr lang="en-US" sz="1900" dirty="0"/>
          </a:p>
        </p:txBody>
      </p:sp>
      <p:sp>
        <p:nvSpPr>
          <p:cNvPr id="13" name="text-157"/>
          <p:cNvSpPr txBox="1"/>
          <p:nvPr/>
        </p:nvSpPr>
        <p:spPr>
          <a:xfrm>
            <a:off x="5346040" y="2203704"/>
            <a:ext cx="2322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2"/>
                </a:solidFill>
              </a:rPr>
              <a:t>ako list do schránky</a:t>
            </a:r>
            <a:endParaRPr lang="en-US" sz="1400" dirty="0"/>
          </a:p>
        </p:txBody>
      </p:sp>
      <p:sp>
        <p:nvSpPr>
          <p:cNvPr id="14" name="text-158"/>
          <p:cNvSpPr txBox="1"/>
          <p:nvPr/>
        </p:nvSpPr>
        <p:spPr>
          <a:xfrm>
            <a:off x="4614520" y="2651760"/>
            <a:ext cx="29626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e-mail, report, release notes</a:t>
            </a:r>
            <a:endParaRPr lang="en-US" sz="1400" dirty="0"/>
          </a:p>
        </p:txBody>
      </p:sp>
      <p:sp>
        <p:nvSpPr>
          <p:cNvPr id="15" name="text-159"/>
          <p:cNvSpPr txBox="1"/>
          <p:nvPr/>
        </p:nvSpPr>
        <p:spPr>
          <a:xfrm>
            <a:off x="4614520" y="3063240"/>
            <a:ext cx="29626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Keď konkrétni ľudia musia niečo vedieť hneď, ako to vznikne. Doručené ešte neznamená prečítané.</a:t>
            </a:r>
            <a:endParaRPr lang="en-US" sz="1500" dirty="0"/>
          </a:p>
        </p:txBody>
      </p:sp>
      <p:sp>
        <p:nvSpPr>
          <p:cNvPr id="16" name="card-160"/>
          <p:cNvSpPr/>
          <p:nvPr/>
        </p:nvSpPr>
        <p:spPr>
          <a:xfrm>
            <a:off x="8131759" y="1600200"/>
            <a:ext cx="3511296" cy="2971800"/>
          </a:xfrm>
          <a:prstGeom prst="roundRect">
            <a:avLst>
              <a:gd name="adj" fmla="val 2462"/>
            </a:avLst>
          </a:prstGeom>
          <a:solidFill>
            <a:schemeClr val="bg2"/>
          </a:solidFill>
          <a:ln/>
        </p:spPr>
      </p:sp>
      <p:sp>
        <p:nvSpPr>
          <p:cNvPr id="17" name="dot-161"/>
          <p:cNvSpPr txBox="1"/>
          <p:nvPr/>
        </p:nvSpPr>
        <p:spPr>
          <a:xfrm>
            <a:off x="8406079" y="187452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←</a:t>
            </a:r>
            <a:endParaRPr lang="en-US" sz="2000" dirty="0"/>
          </a:p>
        </p:txBody>
      </p:sp>
      <p:sp>
        <p:nvSpPr>
          <p:cNvPr id="18" name="text-162"/>
          <p:cNvSpPr txBox="1"/>
          <p:nvPr/>
        </p:nvSpPr>
        <p:spPr>
          <a:xfrm>
            <a:off x="9137599" y="1847088"/>
            <a:ext cx="23225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Pull</a:t>
            </a:r>
            <a:endParaRPr lang="en-US" sz="1900" dirty="0"/>
          </a:p>
        </p:txBody>
      </p:sp>
      <p:sp>
        <p:nvSpPr>
          <p:cNvPr id="19" name="text-163"/>
          <p:cNvSpPr txBox="1"/>
          <p:nvPr/>
        </p:nvSpPr>
        <p:spPr>
          <a:xfrm>
            <a:off x="9137599" y="2203704"/>
            <a:ext cx="2322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2"/>
                </a:solidFill>
              </a:rPr>
              <a:t>ako knižnica</a:t>
            </a:r>
            <a:endParaRPr lang="en-US" sz="1400" dirty="0"/>
          </a:p>
        </p:txBody>
      </p:sp>
      <p:sp>
        <p:nvSpPr>
          <p:cNvPr id="20" name="text-164"/>
          <p:cNvSpPr txBox="1"/>
          <p:nvPr/>
        </p:nvSpPr>
        <p:spPr>
          <a:xfrm>
            <a:off x="8406079" y="2651760"/>
            <a:ext cx="29626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wiki, backlog, dashboard</a:t>
            </a:r>
            <a:endParaRPr lang="en-US" sz="1400" dirty="0"/>
          </a:p>
        </p:txBody>
      </p:sp>
      <p:sp>
        <p:nvSpPr>
          <p:cNvPr id="21" name="text-165"/>
          <p:cNvSpPr txBox="1"/>
          <p:nvPr/>
        </p:nvSpPr>
        <p:spPr>
          <a:xfrm>
            <a:off x="8406079" y="3063240"/>
            <a:ext cx="29626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Keď si to ľudia nájdu sami, keď to budú potrebovať. Funguje, len ak je to aktuálne.</a:t>
            </a:r>
            <a:endParaRPr lang="en-US" sz="1500" dirty="0"/>
          </a:p>
        </p:txBody>
      </p:sp>
      <p:sp>
        <p:nvSpPr>
          <p:cNvPr id="22" name="text-166"/>
          <p:cNvSpPr txBox="1"/>
          <p:nvPr/>
        </p:nvSpPr>
        <p:spPr>
          <a:xfrm>
            <a:off x="548640" y="4800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Pravidlo: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čím nejasnejšia alebo citlivejšia správa, tým „živší“ kanál potrebuje.</a:t>
            </a:r>
            <a:endParaRPr lang="en-US" sz="1600" dirty="0"/>
          </a:p>
        </p:txBody>
      </p:sp>
      <p:sp>
        <p:nvSpPr>
          <p:cNvPr id="23" name="line-167"/>
          <p:cNvSpPr/>
          <p:nvPr/>
        </p:nvSpPr>
        <p:spPr>
          <a:xfrm>
            <a:off x="548640" y="5440680"/>
            <a:ext cx="11094415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4" name="dot-168"/>
          <p:cNvSpPr txBox="1"/>
          <p:nvPr/>
        </p:nvSpPr>
        <p:spPr>
          <a:xfrm>
            <a:off x="1779386" y="5340096"/>
            <a:ext cx="201168" cy="20116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25" name="text-169"/>
          <p:cNvSpPr txBox="1"/>
          <p:nvPr/>
        </p:nvSpPr>
        <p:spPr>
          <a:xfrm>
            <a:off x="416930" y="56235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stav buildu → </a:t>
            </a:r>
            <a:pPr algn="ct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dashboard</a:t>
            </a:r>
            <a:endParaRPr lang="en-US" sz="1400" dirty="0"/>
          </a:p>
        </p:txBody>
      </p:sp>
      <p:sp>
        <p:nvSpPr>
          <p:cNvPr id="26" name="dot-170"/>
          <p:cNvSpPr txBox="1"/>
          <p:nvPr/>
        </p:nvSpPr>
        <p:spPr>
          <a:xfrm>
            <a:off x="5995264" y="5340096"/>
            <a:ext cx="201168" cy="20116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27" name="text-171"/>
          <p:cNvSpPr txBox="1"/>
          <p:nvPr/>
        </p:nvSpPr>
        <p:spPr>
          <a:xfrm>
            <a:off x="4632808" y="56235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nová verzia → </a:t>
            </a:r>
            <a:pPr algn="ct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release notes</a:t>
            </a:r>
            <a:endParaRPr lang="en-US" sz="1400" dirty="0"/>
          </a:p>
        </p:txBody>
      </p:sp>
      <p:sp>
        <p:nvSpPr>
          <p:cNvPr id="28" name="dot-172"/>
          <p:cNvSpPr txBox="1"/>
          <p:nvPr/>
        </p:nvSpPr>
        <p:spPr>
          <a:xfrm>
            <a:off x="10211141" y="5340096"/>
            <a:ext cx="201168" cy="20116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29" name="text-173"/>
          <p:cNvSpPr txBox="1"/>
          <p:nvPr/>
        </p:nvSpPr>
        <p:spPr>
          <a:xfrm>
            <a:off x="8848685" y="56235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spor o priority → </a:t>
            </a:r>
            <a:pPr algn="ct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stretnutie</a:t>
            </a:r>
            <a:endParaRPr lang="en-US" sz="1400" dirty="0"/>
          </a:p>
        </p:txBody>
      </p:sp>
      <p:sp>
        <p:nvSpPr>
          <p:cNvPr id="30" name="text-174"/>
          <p:cNvSpPr txBox="1"/>
          <p:nvPr/>
        </p:nvSpPr>
        <p:spPr>
          <a:xfrm>
            <a:off x="548640" y="50566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rutinná správa</a:t>
            </a:r>
            <a:endParaRPr lang="en-US" sz="1200" dirty="0"/>
          </a:p>
        </p:txBody>
      </p:sp>
      <p:sp>
        <p:nvSpPr>
          <p:cNvPr id="31" name="text-175"/>
          <p:cNvSpPr txBox="1"/>
          <p:nvPr/>
        </p:nvSpPr>
        <p:spPr>
          <a:xfrm>
            <a:off x="9357055" y="50566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nejasná správa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02 – AKO KOMUNIKÁCIU RIADIŤ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Riadenie komunikácie je cyklus troch krokov</a:t>
            </a:r>
            <a:endParaRPr lang="en-US" sz="3000" dirty="0"/>
          </a:p>
        </p:txBody>
      </p:sp>
      <p:sp>
        <p:nvSpPr>
          <p:cNvPr id="4" name="card-176"/>
          <p:cNvSpPr/>
          <p:nvPr/>
        </p:nvSpPr>
        <p:spPr>
          <a:xfrm>
            <a:off x="548640" y="1645920"/>
            <a:ext cx="3383280" cy="2834640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/>
        </p:spPr>
      </p:sp>
      <p:sp>
        <p:nvSpPr>
          <p:cNvPr id="5" name="dot-177"/>
          <p:cNvSpPr txBox="1"/>
          <p:nvPr/>
        </p:nvSpPr>
        <p:spPr>
          <a:xfrm>
            <a:off x="822960" y="19202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-178"/>
          <p:cNvSpPr txBox="1"/>
          <p:nvPr/>
        </p:nvSpPr>
        <p:spPr>
          <a:xfrm>
            <a:off x="1508760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Plánovanie</a:t>
            </a:r>
            <a:endParaRPr lang="en-US" sz="2000" dirty="0"/>
          </a:p>
        </p:txBody>
      </p:sp>
      <p:sp>
        <p:nvSpPr>
          <p:cNvPr id="7" name="text-179"/>
          <p:cNvSpPr txBox="1"/>
          <p:nvPr/>
        </p:nvSpPr>
        <p:spPr>
          <a:xfrm>
            <a:off x="822960" y="269748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„Kto čo potrebuje vedieť, kedy a ako?“</a:t>
            </a:r>
            <a:endParaRPr lang="en-US" sz="1700" dirty="0"/>
          </a:p>
        </p:txBody>
      </p:sp>
      <p:sp>
        <p:nvSpPr>
          <p:cNvPr id="8" name="text-180"/>
          <p:cNvSpPr txBox="1"/>
          <p:nvPr/>
        </p:nvSpPr>
        <p:spPr>
          <a:xfrm>
            <a:off x="822960" y="3429000"/>
            <a:ext cx="2834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Na začiatku projektu si to spíšeme do komunikačného plánu.</a:t>
            </a:r>
            <a:endParaRPr lang="en-US" sz="1500" dirty="0"/>
          </a:p>
        </p:txBody>
      </p:sp>
      <p:sp>
        <p:nvSpPr>
          <p:cNvPr id="9" name="line-181"/>
          <p:cNvSpPr/>
          <p:nvPr/>
        </p:nvSpPr>
        <p:spPr>
          <a:xfrm>
            <a:off x="3986784" y="3063240"/>
            <a:ext cx="362560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0" name="card-182"/>
          <p:cNvSpPr/>
          <p:nvPr/>
        </p:nvSpPr>
        <p:spPr>
          <a:xfrm>
            <a:off x="4404208" y="1645920"/>
            <a:ext cx="3383280" cy="2834640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/>
        </p:spPr>
      </p:sp>
      <p:sp>
        <p:nvSpPr>
          <p:cNvPr id="11" name="dot-183"/>
          <p:cNvSpPr txBox="1"/>
          <p:nvPr/>
        </p:nvSpPr>
        <p:spPr>
          <a:xfrm>
            <a:off x="4678528" y="19202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-184"/>
          <p:cNvSpPr txBox="1"/>
          <p:nvPr/>
        </p:nvSpPr>
        <p:spPr>
          <a:xfrm>
            <a:off x="5364328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Riadenie</a:t>
            </a:r>
            <a:endParaRPr lang="en-US" sz="2000" dirty="0"/>
          </a:p>
        </p:txBody>
      </p:sp>
      <p:sp>
        <p:nvSpPr>
          <p:cNvPr id="13" name="text-185"/>
          <p:cNvSpPr txBox="1"/>
          <p:nvPr/>
        </p:nvSpPr>
        <p:spPr>
          <a:xfrm>
            <a:off x="4678528" y="269748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„Deje sa to naozaj?“</a:t>
            </a:r>
            <a:endParaRPr lang="en-US" sz="1700" dirty="0"/>
          </a:p>
        </p:txBody>
      </p:sp>
      <p:sp>
        <p:nvSpPr>
          <p:cNvPr id="14" name="text-186"/>
          <p:cNvSpPr txBox="1"/>
          <p:nvPr/>
        </p:nvSpPr>
        <p:spPr>
          <a:xfrm>
            <a:off x="4678528" y="3429000"/>
            <a:ext cx="2834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Reporty vznikajú, demo prebehne, rozhodnutia sú zapísané a dostanú sa k ľuďom.</a:t>
            </a:r>
            <a:endParaRPr lang="en-US" sz="1500" dirty="0"/>
          </a:p>
        </p:txBody>
      </p:sp>
      <p:sp>
        <p:nvSpPr>
          <p:cNvPr id="15" name="line-187"/>
          <p:cNvSpPr/>
          <p:nvPr/>
        </p:nvSpPr>
        <p:spPr>
          <a:xfrm>
            <a:off x="7842352" y="3063240"/>
            <a:ext cx="362560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6" name="card-188"/>
          <p:cNvSpPr/>
          <p:nvPr/>
        </p:nvSpPr>
        <p:spPr>
          <a:xfrm>
            <a:off x="8259775" y="1645920"/>
            <a:ext cx="3383280" cy="2834640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/>
        </p:spPr>
      </p:sp>
      <p:sp>
        <p:nvSpPr>
          <p:cNvPr id="17" name="dot-189"/>
          <p:cNvSpPr txBox="1"/>
          <p:nvPr/>
        </p:nvSpPr>
        <p:spPr>
          <a:xfrm>
            <a:off x="8534095" y="19202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-190"/>
          <p:cNvSpPr txBox="1"/>
          <p:nvPr/>
        </p:nvSpPr>
        <p:spPr>
          <a:xfrm>
            <a:off x="9219895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Monitorovanie</a:t>
            </a:r>
            <a:endParaRPr lang="en-US" sz="2000" dirty="0"/>
          </a:p>
        </p:txBody>
      </p:sp>
      <p:sp>
        <p:nvSpPr>
          <p:cNvPr id="19" name="text-191"/>
          <p:cNvSpPr txBox="1"/>
          <p:nvPr/>
        </p:nvSpPr>
        <p:spPr>
          <a:xfrm>
            <a:off x="8534095" y="269748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„Pomáha to?“</a:t>
            </a:r>
            <a:endParaRPr lang="en-US" sz="1700" dirty="0"/>
          </a:p>
        </p:txBody>
      </p:sp>
      <p:sp>
        <p:nvSpPr>
          <p:cNvPr id="20" name="text-192"/>
          <p:cNvSpPr txBox="1"/>
          <p:nvPr/>
        </p:nvSpPr>
        <p:spPr>
          <a:xfrm>
            <a:off x="8534095" y="3429000"/>
            <a:ext cx="2834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Pýtame sa ľudí, či majú, čo potrebujú. Ak report nikto nečíta, zmeníme ho.</a:t>
            </a:r>
            <a:endParaRPr lang="en-US" sz="1500" dirty="0"/>
          </a:p>
        </p:txBody>
      </p:sp>
      <p:sp>
        <p:nvSpPr>
          <p:cNvPr id="21" name="line-193"/>
          <p:cNvSpPr/>
          <p:nvPr/>
        </p:nvSpPr>
        <p:spPr>
          <a:xfrm>
            <a:off x="9951415" y="4480560"/>
            <a:ext cx="0" cy="36576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dash"/>
          </a:ln>
        </p:spPr>
      </p:sp>
      <p:sp>
        <p:nvSpPr>
          <p:cNvPr id="22" name="line-194"/>
          <p:cNvSpPr/>
          <p:nvPr/>
        </p:nvSpPr>
        <p:spPr>
          <a:xfrm>
            <a:off x="2240280" y="4846320"/>
            <a:ext cx="7711135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dash"/>
          </a:ln>
        </p:spPr>
      </p:sp>
      <p:sp>
        <p:nvSpPr>
          <p:cNvPr id="23" name="line-195"/>
          <p:cNvSpPr/>
          <p:nvPr/>
        </p:nvSpPr>
        <p:spPr>
          <a:xfrm>
            <a:off x="2240280" y="4480560"/>
            <a:ext cx="0" cy="36576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dash"/>
            <a:headEnd type="triangle"/>
          </a:ln>
        </p:spPr>
      </p:sp>
      <p:sp>
        <p:nvSpPr>
          <p:cNvPr id="24" name="text-196"/>
          <p:cNvSpPr txBox="1"/>
          <p:nvPr/>
        </p:nvSpPr>
        <p:spPr>
          <a:xfrm>
            <a:off x="4023360" y="4690872"/>
            <a:ext cx="4142232" cy="310896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1"/>
                </a:solidFill>
              </a:rPr>
              <a:t>čo zistíme pri monitorovaní, vrátime späť do plánu</a:t>
            </a:r>
            <a:endParaRPr lang="en-US" sz="1200" dirty="0"/>
          </a:p>
        </p:txBody>
      </p:sp>
      <p:sp>
        <p:nvSpPr>
          <p:cNvPr id="25" name="card-197"/>
          <p:cNvSpPr/>
          <p:nvPr/>
        </p:nvSpPr>
        <p:spPr>
          <a:xfrm>
            <a:off x="548640" y="5349240"/>
            <a:ext cx="11094415" cy="777240"/>
          </a:xfrm>
          <a:prstGeom prst="roundRect">
            <a:avLst>
              <a:gd name="adj" fmla="val 9412"/>
            </a:avLst>
          </a:prstGeom>
          <a:solidFill>
            <a:schemeClr val="accent6"/>
          </a:solidFill>
          <a:ln/>
        </p:spPr>
      </p:sp>
      <p:sp>
        <p:nvSpPr>
          <p:cNvPr id="26" name="text-198"/>
          <p:cNvSpPr txBox="1"/>
          <p:nvPr/>
        </p:nvSpPr>
        <p:spPr>
          <a:xfrm>
            <a:off x="822960" y="5349240"/>
            <a:ext cx="105457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A v agilnom tíme?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Veľa komunikácie je už zabudovanej v Scrume – daily, review, retrospektíva. Plán preto môže byť krátky, ale sponzora, prevádzku či iné tímy treba pokryť aj tak.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02 – AKO KOMUNIKÁCIU RIADIŤ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Komunikačný plán môže byť jednoduchá tabuľka</a:t>
            </a:r>
            <a:endParaRPr lang="en-US" sz="3000" dirty="0"/>
          </a:p>
        </p:txBody>
      </p:sp>
      <p:graphicFrame>
        <p:nvGraphicFramePr>
          <p:cNvPr id="8" name="plan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3108960"/>
                <a:gridCol w="1783080"/>
                <a:gridCol w="2194560"/>
                <a:gridCol w="167335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Kto</a:t>
                      </a:r>
                      <a:endParaRPr lang="en-US" sz="15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Čo potrebuje vedieť</a:t>
                      </a:r>
                      <a:endParaRPr lang="en-US" sz="15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Ako často</a:t>
                      </a:r>
                      <a:endParaRPr lang="en-US" sz="15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Kanál</a:t>
                      </a:r>
                      <a:endParaRPr lang="en-US" sz="15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Kto zodpovedá</a:t>
                      </a:r>
                      <a:endParaRPr lang="en-US" sz="15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Sponzor a vedenie</a:t>
                      </a:r>
                      <a:endParaRPr lang="en-US" sz="15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stav, riziká, čo treba rozhodnúť</a:t>
                      </a:r>
                      <a:endParaRPr lang="en-US" sz="15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raz za 2 týždne</a:t>
                      </a:r>
                      <a:endParaRPr lang="en-US" sz="15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krátky report + stretnutie</a:t>
                      </a:r>
                      <a:endParaRPr lang="en-US" sz="15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projektový manažér</a:t>
                      </a:r>
                      <a:endParaRPr lang="en-US" sz="15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Klient / Product Owner</a:t>
                      </a:r>
                      <a:endParaRPr lang="en-US" sz="15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čo je hotové, čo sa mení</a:t>
                      </a:r>
                      <a:endParaRPr lang="en-US" sz="15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každý šprint</a:t>
                      </a:r>
                      <a:endParaRPr lang="en-US" sz="15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demo</a:t>
                      </a:r>
                      <a:endParaRPr lang="en-US" sz="15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Product Owner</a:t>
                      </a:r>
                      <a:endParaRPr lang="en-US" sz="15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Vývojári a testeri</a:t>
                      </a:r>
                      <a:endParaRPr lang="en-US" sz="15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úlohy, blokery, chyby</a:t>
                      </a:r>
                      <a:endParaRPr lang="en-US" sz="15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denne</a:t>
                      </a:r>
                      <a:endParaRPr lang="en-US" sz="15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daily, Jira</a:t>
                      </a:r>
                      <a:endParaRPr lang="en-US" sz="15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celý tím</a:t>
                      </a:r>
                      <a:endParaRPr lang="en-US" sz="15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Prevádzka</a:t>
                      </a:r>
                      <a:endParaRPr lang="en-US" sz="15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čo a kedy sa nasadí</a:t>
                      </a:r>
                      <a:endParaRPr lang="en-US" sz="15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pri každom vydaní</a:t>
                      </a:r>
                      <a:endParaRPr lang="en-US" sz="15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release notes</a:t>
                      </a:r>
                      <a:endParaRPr lang="en-US" sz="15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tech lead</a:t>
                      </a:r>
                      <a:endParaRPr lang="en-US" sz="15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card-199"/>
          <p:cNvSpPr/>
          <p:nvPr/>
        </p:nvSpPr>
        <p:spPr>
          <a:xfrm>
            <a:off x="548640" y="4572000"/>
            <a:ext cx="5410048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6" name="text-200"/>
          <p:cNvSpPr txBox="1"/>
          <p:nvPr/>
        </p:nvSpPr>
        <p:spPr>
          <a:xfrm>
            <a:off x="822960" y="4754880"/>
            <a:ext cx="486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Začína sa od ľudí, nie od nástrojov</a:t>
            </a:r>
            <a:endParaRPr lang="en-US" sz="1800" dirty="0"/>
          </a:p>
        </p:txBody>
      </p:sp>
      <p:sp>
        <p:nvSpPr>
          <p:cNvPr id="7" name="text-201"/>
          <p:cNvSpPr txBox="1"/>
          <p:nvPr/>
        </p:nvSpPr>
        <p:spPr>
          <a:xfrm>
            <a:off x="822960" y="5193792"/>
            <a:ext cx="48614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Najprv: kto čo potrebuje. Až potom: Teams, Jira alebo e-mail.</a:t>
            </a:r>
            <a:endParaRPr lang="en-US" sz="1500" dirty="0"/>
          </a:p>
        </p:txBody>
      </p:sp>
      <p:sp>
        <p:nvSpPr>
          <p:cNvPr id="8" name="card-202"/>
          <p:cNvSpPr/>
          <p:nvPr/>
        </p:nvSpPr>
        <p:spPr>
          <a:xfrm>
            <a:off x="6233008" y="4572000"/>
            <a:ext cx="5410048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9" name="text-203"/>
          <p:cNvSpPr txBox="1"/>
          <p:nvPr/>
        </p:nvSpPr>
        <p:spPr>
          <a:xfrm>
            <a:off x="6507328" y="4754880"/>
            <a:ext cx="486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Obsahuje aj eskalačnú cestu</a:t>
            </a:r>
            <a:endParaRPr lang="en-US" sz="1800" dirty="0"/>
          </a:p>
        </p:txBody>
      </p:sp>
      <p:sp>
        <p:nvSpPr>
          <p:cNvPr id="10" name="text-204"/>
          <p:cNvSpPr txBox="1"/>
          <p:nvPr/>
        </p:nvSpPr>
        <p:spPr>
          <a:xfrm>
            <a:off x="6507328" y="5193792"/>
            <a:ext cx="48614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Keď sa niečo zasekne, každý vie, komu to povedať a dokedy.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02 – AKO KOMUNIKÁCIU RIADIŤ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Každý v projekte hovorí trochu iným jazykom</a:t>
            </a:r>
            <a:endParaRPr lang="en-US" sz="3000" dirty="0"/>
          </a:p>
        </p:txBody>
      </p:sp>
      <p:sp>
        <p:nvSpPr>
          <p:cNvPr id="4" name="line-205"/>
          <p:cNvSpPr/>
          <p:nvPr/>
        </p:nvSpPr>
        <p:spPr>
          <a:xfrm>
            <a:off x="1600200" y="2125980"/>
            <a:ext cx="237744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5" name="line-206"/>
          <p:cNvSpPr/>
          <p:nvPr/>
        </p:nvSpPr>
        <p:spPr>
          <a:xfrm flipH="1">
            <a:off x="1600200" y="2125980"/>
            <a:ext cx="2377440" cy="173736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6" name="line-207"/>
          <p:cNvSpPr/>
          <p:nvPr/>
        </p:nvSpPr>
        <p:spPr>
          <a:xfrm>
            <a:off x="3977640" y="2125980"/>
            <a:ext cx="0" cy="173736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7" name="line-208"/>
          <p:cNvSpPr/>
          <p:nvPr/>
        </p:nvSpPr>
        <p:spPr>
          <a:xfrm flipH="1">
            <a:off x="3977640" y="2125980"/>
            <a:ext cx="2377440" cy="173736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8" name="line-209"/>
          <p:cNvSpPr/>
          <p:nvPr/>
        </p:nvSpPr>
        <p:spPr>
          <a:xfrm>
            <a:off x="3977640" y="3863340"/>
            <a:ext cx="237744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9" name="line-210"/>
          <p:cNvSpPr/>
          <p:nvPr/>
        </p:nvSpPr>
        <p:spPr>
          <a:xfrm>
            <a:off x="1600200" y="3863340"/>
            <a:ext cx="0" cy="173736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10" name="line-211"/>
          <p:cNvSpPr/>
          <p:nvPr/>
        </p:nvSpPr>
        <p:spPr>
          <a:xfrm>
            <a:off x="1600200" y="3863340"/>
            <a:ext cx="237744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11" name="card-212"/>
          <p:cNvSpPr/>
          <p:nvPr/>
        </p:nvSpPr>
        <p:spPr>
          <a:xfrm>
            <a:off x="548640" y="1691640"/>
            <a:ext cx="210312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rgbClr val="CFE3DC"/>
            </a:solidFill>
            <a:prstDash val="solid"/>
          </a:ln>
        </p:spPr>
      </p:sp>
      <p:sp>
        <p:nvSpPr>
          <p:cNvPr id="12" name="text-213"/>
          <p:cNvSpPr txBox="1"/>
          <p:nvPr/>
        </p:nvSpPr>
        <p:spPr>
          <a:xfrm>
            <a:off x="621792" y="1783080"/>
            <a:ext cx="19568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Klient</a:t>
            </a:r>
            <a:endParaRPr lang="en-US" sz="1400" dirty="0"/>
          </a:p>
        </p:txBody>
      </p:sp>
      <p:sp>
        <p:nvSpPr>
          <p:cNvPr id="13" name="text-214"/>
          <p:cNvSpPr txBox="1"/>
          <p:nvPr/>
        </p:nvSpPr>
        <p:spPr>
          <a:xfrm>
            <a:off x="658368" y="2121408"/>
            <a:ext cx="1883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hovorí o: ciele a potreby</a:t>
            </a:r>
            <a:endParaRPr lang="en-US" sz="1200" dirty="0"/>
          </a:p>
        </p:txBody>
      </p:sp>
      <p:sp>
        <p:nvSpPr>
          <p:cNvPr id="14" name="card-215"/>
          <p:cNvSpPr/>
          <p:nvPr/>
        </p:nvSpPr>
        <p:spPr>
          <a:xfrm>
            <a:off x="2926080" y="1691640"/>
            <a:ext cx="210312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rgbClr val="CFE3DC"/>
            </a:solidFill>
            <a:prstDash val="solid"/>
          </a:ln>
        </p:spPr>
      </p:sp>
      <p:sp>
        <p:nvSpPr>
          <p:cNvPr id="15" name="text-216"/>
          <p:cNvSpPr txBox="1"/>
          <p:nvPr/>
        </p:nvSpPr>
        <p:spPr>
          <a:xfrm>
            <a:off x="2999232" y="1783080"/>
            <a:ext cx="19568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Product Owner</a:t>
            </a:r>
            <a:endParaRPr lang="en-US" sz="1400" dirty="0"/>
          </a:p>
        </p:txBody>
      </p:sp>
      <p:sp>
        <p:nvSpPr>
          <p:cNvPr id="16" name="text-217"/>
          <p:cNvSpPr txBox="1"/>
          <p:nvPr/>
        </p:nvSpPr>
        <p:spPr>
          <a:xfrm>
            <a:off x="3035808" y="2121408"/>
            <a:ext cx="1883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hovorí o: priority</a:t>
            </a:r>
            <a:endParaRPr lang="en-US" sz="1200" dirty="0"/>
          </a:p>
        </p:txBody>
      </p:sp>
      <p:sp>
        <p:nvSpPr>
          <p:cNvPr id="17" name="card-218"/>
          <p:cNvSpPr/>
          <p:nvPr/>
        </p:nvSpPr>
        <p:spPr>
          <a:xfrm>
            <a:off x="5303520" y="1691640"/>
            <a:ext cx="210312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rgbClr val="CFE3DC"/>
            </a:solidFill>
            <a:prstDash val="solid"/>
          </a:ln>
        </p:spPr>
      </p:sp>
      <p:sp>
        <p:nvSpPr>
          <p:cNvPr id="18" name="text-219"/>
          <p:cNvSpPr txBox="1"/>
          <p:nvPr/>
        </p:nvSpPr>
        <p:spPr>
          <a:xfrm>
            <a:off x="5376672" y="1783080"/>
            <a:ext cx="19568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Sponzor a vedenie</a:t>
            </a:r>
            <a:endParaRPr lang="en-US" sz="1400" dirty="0"/>
          </a:p>
        </p:txBody>
      </p:sp>
      <p:sp>
        <p:nvSpPr>
          <p:cNvPr id="19" name="text-220"/>
          <p:cNvSpPr txBox="1"/>
          <p:nvPr/>
        </p:nvSpPr>
        <p:spPr>
          <a:xfrm>
            <a:off x="5413248" y="2121408"/>
            <a:ext cx="1883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hovorí o: peniaze a termíny</a:t>
            </a:r>
            <a:endParaRPr lang="en-US" sz="1200" dirty="0"/>
          </a:p>
        </p:txBody>
      </p:sp>
      <p:sp>
        <p:nvSpPr>
          <p:cNvPr id="20" name="card-221"/>
          <p:cNvSpPr/>
          <p:nvPr/>
        </p:nvSpPr>
        <p:spPr>
          <a:xfrm>
            <a:off x="548640" y="3429000"/>
            <a:ext cx="210312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rgbClr val="CFE3DC"/>
            </a:solidFill>
            <a:prstDash val="solid"/>
          </a:ln>
        </p:spPr>
      </p:sp>
      <p:sp>
        <p:nvSpPr>
          <p:cNvPr id="21" name="text-222"/>
          <p:cNvSpPr txBox="1"/>
          <p:nvPr/>
        </p:nvSpPr>
        <p:spPr>
          <a:xfrm>
            <a:off x="621792" y="3520440"/>
            <a:ext cx="19568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Vývojári</a:t>
            </a:r>
            <a:endParaRPr lang="en-US" sz="1400" dirty="0"/>
          </a:p>
        </p:txBody>
      </p:sp>
      <p:sp>
        <p:nvSpPr>
          <p:cNvPr id="22" name="text-223"/>
          <p:cNvSpPr txBox="1"/>
          <p:nvPr/>
        </p:nvSpPr>
        <p:spPr>
          <a:xfrm>
            <a:off x="658368" y="3858768"/>
            <a:ext cx="1883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hovorí o: technické riešenie</a:t>
            </a:r>
            <a:endParaRPr lang="en-US" sz="1200" dirty="0"/>
          </a:p>
        </p:txBody>
      </p:sp>
      <p:sp>
        <p:nvSpPr>
          <p:cNvPr id="23" name="card-224"/>
          <p:cNvSpPr/>
          <p:nvPr/>
        </p:nvSpPr>
        <p:spPr>
          <a:xfrm>
            <a:off x="2926080" y="3429000"/>
            <a:ext cx="210312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rgbClr val="CFE3DC"/>
            </a:solidFill>
            <a:prstDash val="solid"/>
          </a:ln>
        </p:spPr>
      </p:sp>
      <p:sp>
        <p:nvSpPr>
          <p:cNvPr id="24" name="text-225"/>
          <p:cNvSpPr txBox="1"/>
          <p:nvPr/>
        </p:nvSpPr>
        <p:spPr>
          <a:xfrm>
            <a:off x="2999232" y="3520440"/>
            <a:ext cx="19568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Projektový manažér</a:t>
            </a:r>
            <a:endParaRPr lang="en-US" sz="1400" dirty="0"/>
          </a:p>
        </p:txBody>
      </p:sp>
      <p:sp>
        <p:nvSpPr>
          <p:cNvPr id="25" name="text-226"/>
          <p:cNvSpPr txBox="1"/>
          <p:nvPr/>
        </p:nvSpPr>
        <p:spPr>
          <a:xfrm>
            <a:off x="3035808" y="3858768"/>
            <a:ext cx="1883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hovorí o: plán a riziká</a:t>
            </a:r>
            <a:endParaRPr lang="en-US" sz="1200" dirty="0"/>
          </a:p>
        </p:txBody>
      </p:sp>
      <p:sp>
        <p:nvSpPr>
          <p:cNvPr id="26" name="card-227"/>
          <p:cNvSpPr/>
          <p:nvPr/>
        </p:nvSpPr>
        <p:spPr>
          <a:xfrm>
            <a:off x="5303520" y="3429000"/>
            <a:ext cx="2103120" cy="868680"/>
          </a:xfrm>
          <a:prstGeom prst="roundRect">
            <a:avLst>
              <a:gd name="adj" fmla="val 8421"/>
            </a:avLst>
          </a:prstGeom>
          <a:solidFill>
            <a:schemeClr val="accent1"/>
          </a:solidFill>
          <a:ln w="12700">
            <a:solidFill>
              <a:srgbClr val="0E7C66"/>
            </a:solidFill>
            <a:prstDash val="solid"/>
          </a:ln>
        </p:spPr>
      </p:sp>
      <p:sp>
        <p:nvSpPr>
          <p:cNvPr id="27" name="text-228"/>
          <p:cNvSpPr txBox="1"/>
          <p:nvPr/>
        </p:nvSpPr>
        <p:spPr>
          <a:xfrm>
            <a:off x="5376672" y="3520440"/>
            <a:ext cx="19568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PMO</a:t>
            </a:r>
            <a:endParaRPr lang="en-US" sz="1400" dirty="0"/>
          </a:p>
        </p:txBody>
      </p:sp>
      <p:sp>
        <p:nvSpPr>
          <p:cNvPr id="28" name="text-229"/>
          <p:cNvSpPr txBox="1"/>
          <p:nvPr/>
        </p:nvSpPr>
        <p:spPr>
          <a:xfrm>
            <a:off x="5413248" y="3858768"/>
            <a:ext cx="1883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4"/>
                </a:solidFill>
              </a:rPr>
              <a:t>hovorí o: prehľad naprieč projektmi</a:t>
            </a:r>
            <a:endParaRPr lang="en-US" sz="1200" dirty="0"/>
          </a:p>
        </p:txBody>
      </p:sp>
      <p:sp>
        <p:nvSpPr>
          <p:cNvPr id="29" name="card-230"/>
          <p:cNvSpPr/>
          <p:nvPr/>
        </p:nvSpPr>
        <p:spPr>
          <a:xfrm>
            <a:off x="548640" y="5166360"/>
            <a:ext cx="210312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rgbClr val="CFE3DC"/>
            </a:solidFill>
            <a:prstDash val="solid"/>
          </a:ln>
        </p:spPr>
      </p:sp>
      <p:sp>
        <p:nvSpPr>
          <p:cNvPr id="30" name="text-231"/>
          <p:cNvSpPr txBox="1"/>
          <p:nvPr/>
        </p:nvSpPr>
        <p:spPr>
          <a:xfrm>
            <a:off x="621792" y="5257800"/>
            <a:ext cx="19568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Testeri</a:t>
            </a:r>
            <a:endParaRPr lang="en-US" sz="1400" dirty="0"/>
          </a:p>
        </p:txBody>
      </p:sp>
      <p:sp>
        <p:nvSpPr>
          <p:cNvPr id="31" name="text-232"/>
          <p:cNvSpPr txBox="1"/>
          <p:nvPr/>
        </p:nvSpPr>
        <p:spPr>
          <a:xfrm>
            <a:off x="658368" y="5596128"/>
            <a:ext cx="1883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hovorí o: chyby a kvalita</a:t>
            </a:r>
            <a:endParaRPr lang="en-US" sz="1200" dirty="0"/>
          </a:p>
        </p:txBody>
      </p:sp>
      <p:sp>
        <p:nvSpPr>
          <p:cNvPr id="32" name="dot-233"/>
          <p:cNvSpPr txBox="1"/>
          <p:nvPr/>
        </p:nvSpPr>
        <p:spPr>
          <a:xfrm>
            <a:off x="2606040" y="1943100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1300" dirty="0"/>
          </a:p>
        </p:txBody>
      </p:sp>
      <p:sp>
        <p:nvSpPr>
          <p:cNvPr id="33" name="dot-234"/>
          <p:cNvSpPr txBox="1"/>
          <p:nvPr/>
        </p:nvSpPr>
        <p:spPr>
          <a:xfrm>
            <a:off x="4983480" y="2811780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1300" dirty="0"/>
          </a:p>
        </p:txBody>
      </p:sp>
      <p:sp>
        <p:nvSpPr>
          <p:cNvPr id="34" name="dot-235"/>
          <p:cNvSpPr txBox="1"/>
          <p:nvPr/>
        </p:nvSpPr>
        <p:spPr>
          <a:xfrm>
            <a:off x="1417320" y="4549140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1300" dirty="0"/>
          </a:p>
        </p:txBody>
      </p:sp>
      <p:sp>
        <p:nvSpPr>
          <p:cNvPr id="35" name="card-236"/>
          <p:cNvSpPr/>
          <p:nvPr/>
        </p:nvSpPr>
        <p:spPr>
          <a:xfrm>
            <a:off x="7680960" y="1691640"/>
            <a:ext cx="3959352" cy="4343400"/>
          </a:xfrm>
          <a:prstGeom prst="roundRect">
            <a:avLst>
              <a:gd name="adj" fmla="val 1848"/>
            </a:avLst>
          </a:prstGeom>
          <a:solidFill>
            <a:schemeClr val="bg2"/>
          </a:solidFill>
          <a:ln/>
        </p:spPr>
      </p:sp>
      <p:sp>
        <p:nvSpPr>
          <p:cNvPr id="36" name="text-237"/>
          <p:cNvSpPr txBox="1"/>
          <p:nvPr/>
        </p:nvSpPr>
        <p:spPr>
          <a:xfrm>
            <a:off x="7955280" y="192024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Niekto musí prekladať</a:t>
            </a:r>
            <a:endParaRPr lang="en-US" sz="2000" dirty="0"/>
          </a:p>
        </p:txBody>
      </p:sp>
      <p:sp>
        <p:nvSpPr>
          <p:cNvPr id="37" name="text-238"/>
          <p:cNvSpPr txBox="1"/>
          <p:nvPr/>
        </p:nvSpPr>
        <p:spPr>
          <a:xfrm>
            <a:off x="7955280" y="2468880"/>
            <a:ext cx="34747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Product Owner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prekladá potreby klienta do zrozumiteľných úloh pre vývoj.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Projektový manažér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prekladá technický stav do reči dopadov: čo to znamená pre termín, peniaze a aké rozhodnutie treba.</a:t>
            </a:r>
            <a:endParaRPr lang="en-US" sz="1500" dirty="0"/>
          </a:p>
        </p:txBody>
      </p:sp>
      <p:sp>
        <p:nvSpPr>
          <p:cNvPr id="38" name="dot-239"/>
          <p:cNvSpPr txBox="1"/>
          <p:nvPr/>
        </p:nvSpPr>
        <p:spPr>
          <a:xfrm>
            <a:off x="7955280" y="4983480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!</a:t>
            </a:r>
            <a:endParaRPr lang="en-US" sz="1300" dirty="0"/>
          </a:p>
        </p:txBody>
      </p:sp>
      <p:sp>
        <p:nvSpPr>
          <p:cNvPr id="39" name="text-240"/>
          <p:cNvSpPr txBox="1"/>
          <p:nvPr/>
        </p:nvSpPr>
        <p:spPr>
          <a:xfrm>
            <a:off x="8458200" y="4892040"/>
            <a:ext cx="2971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Oranžové body sú miesta, kde sa informácia najčastejšie stráca.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02 – AKO KOMUNIKÁCIU RIADIŤ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Tri typické bariéry a ako ich obísť</a:t>
            </a:r>
            <a:endParaRPr lang="en-US" sz="3000" dirty="0"/>
          </a:p>
        </p:txBody>
      </p:sp>
      <p:sp>
        <p:nvSpPr>
          <p:cNvPr id="4" name="text-241"/>
          <p:cNvSpPr txBox="1"/>
          <p:nvPr/>
        </p:nvSpPr>
        <p:spPr>
          <a:xfrm>
            <a:off x="822960" y="15544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Bariéra</a:t>
            </a:r>
            <a:endParaRPr lang="en-US" sz="1300" dirty="0"/>
          </a:p>
        </p:txBody>
      </p:sp>
      <p:sp>
        <p:nvSpPr>
          <p:cNvPr id="5" name="text-242"/>
          <p:cNvSpPr txBox="1"/>
          <p:nvPr/>
        </p:nvSpPr>
        <p:spPr>
          <a:xfrm>
            <a:off x="4023360" y="155448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Ako to znie v praxi</a:t>
            </a:r>
            <a:endParaRPr lang="en-US" sz="1300" dirty="0"/>
          </a:p>
        </p:txBody>
      </p:sp>
      <p:sp>
        <p:nvSpPr>
          <p:cNvPr id="6" name="text-243"/>
          <p:cNvSpPr txBox="1"/>
          <p:nvPr/>
        </p:nvSpPr>
        <p:spPr>
          <a:xfrm>
            <a:off x="7726680" y="1554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Čo pomôže</a:t>
            </a:r>
            <a:endParaRPr lang="en-US" sz="1300" dirty="0"/>
          </a:p>
        </p:txBody>
      </p:sp>
      <p:sp>
        <p:nvSpPr>
          <p:cNvPr id="7" name="card-244"/>
          <p:cNvSpPr/>
          <p:nvPr/>
        </p:nvSpPr>
        <p:spPr>
          <a:xfrm>
            <a:off x="548640" y="1920240"/>
            <a:ext cx="11094415" cy="1024128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/>
        </p:spPr>
      </p:sp>
      <p:sp>
        <p:nvSpPr>
          <p:cNvPr id="8" name="dot-245"/>
          <p:cNvSpPr txBox="1"/>
          <p:nvPr/>
        </p:nvSpPr>
        <p:spPr>
          <a:xfrm>
            <a:off x="822960" y="2221992"/>
            <a:ext cx="420624" cy="420624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-246"/>
          <p:cNvSpPr txBox="1"/>
          <p:nvPr/>
        </p:nvSpPr>
        <p:spPr>
          <a:xfrm>
            <a:off x="1417320" y="1920240"/>
            <a:ext cx="23774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Nejasné zadanie</a:t>
            </a:r>
            <a:endParaRPr lang="en-US" sz="1700" dirty="0"/>
          </a:p>
        </p:txBody>
      </p:sp>
      <p:sp>
        <p:nvSpPr>
          <p:cNvPr id="10" name="text-247"/>
          <p:cNvSpPr txBox="1"/>
          <p:nvPr/>
        </p:nvSpPr>
        <p:spPr>
          <a:xfrm>
            <a:off x="4023360" y="1920240"/>
            <a:ext cx="34290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2"/>
                </a:solidFill>
              </a:rPr>
              <a:t>„Veď je jasné, čo chceme.“</a:t>
            </a:r>
            <a:endParaRPr lang="en-US" sz="1500" dirty="0"/>
          </a:p>
        </p:txBody>
      </p:sp>
      <p:sp>
        <p:nvSpPr>
          <p:cNvPr id="11" name="text-248"/>
          <p:cNvSpPr txBox="1"/>
          <p:nvPr/>
        </p:nvSpPr>
        <p:spPr>
          <a:xfrm>
            <a:off x="7726680" y="1920240"/>
            <a:ext cx="36576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Akceptačné kritériá s konkrétnym príkladom, prototyp a demo po každom šprinte.</a:t>
            </a:r>
            <a:endParaRPr lang="en-US" sz="1500" dirty="0"/>
          </a:p>
        </p:txBody>
      </p:sp>
      <p:sp>
        <p:nvSpPr>
          <p:cNvPr id="12" name="card-249"/>
          <p:cNvSpPr/>
          <p:nvPr/>
        </p:nvSpPr>
        <p:spPr>
          <a:xfrm>
            <a:off x="548640" y="3108960"/>
            <a:ext cx="11094415" cy="1024128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/>
        </p:spPr>
      </p:sp>
      <p:sp>
        <p:nvSpPr>
          <p:cNvPr id="13" name="dot-250"/>
          <p:cNvSpPr txBox="1"/>
          <p:nvPr/>
        </p:nvSpPr>
        <p:spPr>
          <a:xfrm>
            <a:off x="822960" y="3410712"/>
            <a:ext cx="420624" cy="420624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-251"/>
          <p:cNvSpPr txBox="1"/>
          <p:nvPr/>
        </p:nvSpPr>
        <p:spPr>
          <a:xfrm>
            <a:off x="1417320" y="3108960"/>
            <a:ext cx="23774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Technický text pre vedenie</a:t>
            </a:r>
            <a:endParaRPr lang="en-US" sz="1700" dirty="0"/>
          </a:p>
        </p:txBody>
      </p:sp>
      <p:sp>
        <p:nvSpPr>
          <p:cNvPr id="15" name="text-252"/>
          <p:cNvSpPr txBox="1"/>
          <p:nvPr/>
        </p:nvSpPr>
        <p:spPr>
          <a:xfrm>
            <a:off x="4023360" y="3108960"/>
            <a:ext cx="34290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2"/>
                </a:solidFill>
              </a:rPr>
              <a:t>„Padá nám migrácia DB a CI pipeline je červená.“</a:t>
            </a:r>
            <a:endParaRPr lang="en-US" sz="1500" dirty="0"/>
          </a:p>
        </p:txBody>
      </p:sp>
      <p:sp>
        <p:nvSpPr>
          <p:cNvPr id="16" name="text-253"/>
          <p:cNvSpPr txBox="1"/>
          <p:nvPr/>
        </p:nvSpPr>
        <p:spPr>
          <a:xfrm>
            <a:off x="7726680" y="3108960"/>
            <a:ext cx="36576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Povedať dopad a čo treba rozhodnúť: „Vydanie sa posunie o týždeň, potrebujeme vaše áno.“</a:t>
            </a:r>
            <a:endParaRPr lang="en-US" sz="1500" dirty="0"/>
          </a:p>
        </p:txBody>
      </p:sp>
      <p:sp>
        <p:nvSpPr>
          <p:cNvPr id="17" name="card-254"/>
          <p:cNvSpPr/>
          <p:nvPr/>
        </p:nvSpPr>
        <p:spPr>
          <a:xfrm>
            <a:off x="548640" y="4297680"/>
            <a:ext cx="11094415" cy="1024128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/>
        </p:spPr>
      </p:sp>
      <p:sp>
        <p:nvSpPr>
          <p:cNvPr id="18" name="dot-255"/>
          <p:cNvSpPr txBox="1"/>
          <p:nvPr/>
        </p:nvSpPr>
        <p:spPr>
          <a:xfrm>
            <a:off x="822960" y="4599432"/>
            <a:ext cx="420624" cy="420624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-256"/>
          <p:cNvSpPr txBox="1"/>
          <p:nvPr/>
        </p:nvSpPr>
        <p:spPr>
          <a:xfrm>
            <a:off x="1417320" y="4297680"/>
            <a:ext cx="23774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Chýbajúca spätná väzba</a:t>
            </a:r>
            <a:endParaRPr lang="en-US" sz="1700" dirty="0"/>
          </a:p>
        </p:txBody>
      </p:sp>
      <p:sp>
        <p:nvSpPr>
          <p:cNvPr id="20" name="text-257"/>
          <p:cNvSpPr txBox="1"/>
          <p:nvPr/>
        </p:nvSpPr>
        <p:spPr>
          <a:xfrm>
            <a:off x="4023360" y="4297680"/>
            <a:ext cx="34290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2"/>
                </a:solidFill>
              </a:rPr>
              <a:t>„Myslel som, že to už niekto otestoval.“</a:t>
            </a:r>
            <a:endParaRPr lang="en-US" sz="1500" dirty="0"/>
          </a:p>
        </p:txBody>
      </p:sp>
      <p:sp>
        <p:nvSpPr>
          <p:cNvPr id="21" name="text-258"/>
          <p:cNvSpPr txBox="1"/>
          <p:nvPr/>
        </p:nvSpPr>
        <p:spPr>
          <a:xfrm>
            <a:off x="7726680" y="4297680"/>
            <a:ext cx="36576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Zopakovať zadanie vlastnými slovami, uzatvárať tickety a nebáť sa povedať zlú správu.</a:t>
            </a:r>
            <a:endParaRPr lang="en-US" sz="1500" dirty="0"/>
          </a:p>
        </p:txBody>
      </p:sp>
      <p:sp>
        <p:nvSpPr>
          <p:cNvPr id="22" name="card-259"/>
          <p:cNvSpPr/>
          <p:nvPr/>
        </p:nvSpPr>
        <p:spPr>
          <a:xfrm>
            <a:off x="548640" y="5577840"/>
            <a:ext cx="11094415" cy="640080"/>
          </a:xfrm>
          <a:prstGeom prst="roundRect">
            <a:avLst>
              <a:gd name="adj" fmla="val 11429"/>
            </a:avLst>
          </a:prstGeom>
          <a:solidFill>
            <a:schemeClr val="accent6"/>
          </a:solidFill>
          <a:ln/>
        </p:spPr>
      </p:sp>
      <p:sp>
        <p:nvSpPr>
          <p:cNvPr id="23" name="text-260"/>
          <p:cNvSpPr txBox="1"/>
          <p:nvPr/>
        </p:nvSpPr>
        <p:spPr>
          <a:xfrm>
            <a:off x="822960" y="5577840"/>
            <a:ext cx="105457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Pozor na „melónový report“ –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navonok zelený, vo vnútri červený. Zjednodušiť sa má jazyk, nie pravda.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03 – KANCELÁRIA PROJEKTOVÉHO MANAŽMENTU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PMO funguje ako riadiaca veža na letisku</a:t>
            </a:r>
            <a:endParaRPr lang="en-US" sz="3000" dirty="0"/>
          </a:p>
        </p:txBody>
      </p:sp>
      <p:sp>
        <p:nvSpPr>
          <p:cNvPr id="4" name="card-261"/>
          <p:cNvSpPr/>
          <p:nvPr/>
        </p:nvSpPr>
        <p:spPr>
          <a:xfrm>
            <a:off x="548640" y="1600200"/>
            <a:ext cx="5120640" cy="4434840"/>
          </a:xfrm>
          <a:prstGeom prst="roundRect">
            <a:avLst>
              <a:gd name="adj" fmla="val 1649"/>
            </a:avLst>
          </a:prstGeom>
          <a:solidFill>
            <a:schemeClr val="bg2"/>
          </a:solidFill>
          <a:ln/>
        </p:spPr>
      </p:sp>
      <p:sp>
        <p:nvSpPr>
          <p:cNvPr id="5" name="line-262"/>
          <p:cNvSpPr/>
          <p:nvPr/>
        </p:nvSpPr>
        <p:spPr>
          <a:xfrm>
            <a:off x="1508760" y="2286000"/>
            <a:ext cx="1600200" cy="105156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dash"/>
          </a:ln>
        </p:spPr>
      </p:sp>
      <p:sp>
        <p:nvSpPr>
          <p:cNvPr id="6" name="line-263"/>
          <p:cNvSpPr/>
          <p:nvPr/>
        </p:nvSpPr>
        <p:spPr>
          <a:xfrm flipH="1">
            <a:off x="3108960" y="2286000"/>
            <a:ext cx="1600200" cy="105156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dash"/>
          </a:ln>
        </p:spPr>
      </p:sp>
      <p:sp>
        <p:nvSpPr>
          <p:cNvPr id="7" name="line-264"/>
          <p:cNvSpPr/>
          <p:nvPr/>
        </p:nvSpPr>
        <p:spPr>
          <a:xfrm>
            <a:off x="3108960" y="3337560"/>
            <a:ext cx="0" cy="132588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dash"/>
          </a:ln>
        </p:spPr>
      </p:sp>
      <p:sp>
        <p:nvSpPr>
          <p:cNvPr id="8" name="card-265"/>
          <p:cNvSpPr/>
          <p:nvPr/>
        </p:nvSpPr>
        <p:spPr>
          <a:xfrm>
            <a:off x="777240" y="1938528"/>
            <a:ext cx="1463040" cy="694944"/>
          </a:xfrm>
          <a:prstGeom prst="roundRect">
            <a:avLst>
              <a:gd name="adj" fmla="val 10526"/>
            </a:avLst>
          </a:prstGeom>
          <a:solidFill>
            <a:schemeClr val="bg1"/>
          </a:solidFill>
          <a:ln w="12700">
            <a:solidFill>
              <a:srgbClr val="CFE3DC"/>
            </a:solidFill>
            <a:prstDash val="solid"/>
          </a:ln>
        </p:spPr>
      </p:sp>
      <p:sp>
        <p:nvSpPr>
          <p:cNvPr id="9" name="text-266"/>
          <p:cNvSpPr txBox="1"/>
          <p:nvPr/>
        </p:nvSpPr>
        <p:spPr>
          <a:xfrm>
            <a:off x="777240" y="1938528"/>
            <a:ext cx="14630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Projekt A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„pilot“: manažér</a:t>
            </a:r>
            <a:endParaRPr lang="en-US" sz="1400" dirty="0"/>
          </a:p>
        </p:txBody>
      </p:sp>
      <p:sp>
        <p:nvSpPr>
          <p:cNvPr id="10" name="card-267"/>
          <p:cNvSpPr/>
          <p:nvPr/>
        </p:nvSpPr>
        <p:spPr>
          <a:xfrm>
            <a:off x="3977640" y="1938528"/>
            <a:ext cx="1463040" cy="694944"/>
          </a:xfrm>
          <a:prstGeom prst="roundRect">
            <a:avLst>
              <a:gd name="adj" fmla="val 10526"/>
            </a:avLst>
          </a:prstGeom>
          <a:solidFill>
            <a:schemeClr val="bg1"/>
          </a:solidFill>
          <a:ln w="12700">
            <a:solidFill>
              <a:srgbClr val="CFE3DC"/>
            </a:solidFill>
            <a:prstDash val="solid"/>
          </a:ln>
        </p:spPr>
      </p:sp>
      <p:sp>
        <p:nvSpPr>
          <p:cNvPr id="11" name="text-268"/>
          <p:cNvSpPr txBox="1"/>
          <p:nvPr/>
        </p:nvSpPr>
        <p:spPr>
          <a:xfrm>
            <a:off x="3977640" y="1938528"/>
            <a:ext cx="14630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Projekt B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„pilot“: manažér</a:t>
            </a:r>
            <a:endParaRPr lang="en-US" sz="1400" dirty="0"/>
          </a:p>
        </p:txBody>
      </p:sp>
      <p:sp>
        <p:nvSpPr>
          <p:cNvPr id="12" name="card-269"/>
          <p:cNvSpPr/>
          <p:nvPr/>
        </p:nvSpPr>
        <p:spPr>
          <a:xfrm>
            <a:off x="2377440" y="4315968"/>
            <a:ext cx="1463040" cy="694944"/>
          </a:xfrm>
          <a:prstGeom prst="roundRect">
            <a:avLst>
              <a:gd name="adj" fmla="val 10526"/>
            </a:avLst>
          </a:prstGeom>
          <a:solidFill>
            <a:schemeClr val="bg1"/>
          </a:solidFill>
          <a:ln w="12700">
            <a:solidFill>
              <a:srgbClr val="CFE3DC"/>
            </a:solidFill>
            <a:prstDash val="solid"/>
          </a:ln>
        </p:spPr>
      </p:sp>
      <p:sp>
        <p:nvSpPr>
          <p:cNvPr id="13" name="text-270"/>
          <p:cNvSpPr txBox="1"/>
          <p:nvPr/>
        </p:nvSpPr>
        <p:spPr>
          <a:xfrm>
            <a:off x="2377440" y="4315968"/>
            <a:ext cx="14630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Projekt C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„pilot“: manažér</a:t>
            </a:r>
            <a:endParaRPr lang="en-US" sz="1400" dirty="0"/>
          </a:p>
        </p:txBody>
      </p:sp>
      <p:sp>
        <p:nvSpPr>
          <p:cNvPr id="14" name="dot-271"/>
          <p:cNvSpPr txBox="1"/>
          <p:nvPr/>
        </p:nvSpPr>
        <p:spPr>
          <a:xfrm>
            <a:off x="2542032" y="2770632"/>
            <a:ext cx="1133856" cy="1133856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PMO</a:t>
            </a:r>
            <a:endParaRPr lang="en-US" sz="1800" dirty="0"/>
          </a:p>
        </p:txBody>
      </p:sp>
      <p:sp>
        <p:nvSpPr>
          <p:cNvPr id="15" name="text-272"/>
          <p:cNvSpPr txBox="1"/>
          <p:nvPr/>
        </p:nvSpPr>
        <p:spPr>
          <a:xfrm>
            <a:off x="822960" y="516636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Pilot riadi svoje lietadlo – projektový manažér svoj projekt. Veža vidí všetky naraz a dbá, aby sa nezrazili.</a:t>
            </a:r>
            <a:endParaRPr lang="en-US" sz="1400" dirty="0"/>
          </a:p>
        </p:txBody>
      </p:sp>
      <p:sp>
        <p:nvSpPr>
          <p:cNvPr id="16" name="text-273"/>
          <p:cNvSpPr txBox="1"/>
          <p:nvPr/>
        </p:nvSpPr>
        <p:spPr>
          <a:xfrm>
            <a:off x="6126480" y="1600200"/>
            <a:ext cx="55138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Kancelária projektového manažmentu (PMO)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je útvar, ktorý zjednocuje, ako sa v organizácii riadia projekty, a podporuje ich metodikou, nástrojmi a ľuďmi.</a:t>
            </a:r>
            <a:endParaRPr lang="en-US" sz="1500" dirty="0"/>
          </a:p>
        </p:txBody>
      </p:sp>
      <p:sp>
        <p:nvSpPr>
          <p:cNvPr id="17" name="card-274"/>
          <p:cNvSpPr/>
          <p:nvPr/>
        </p:nvSpPr>
        <p:spPr>
          <a:xfrm>
            <a:off x="6126480" y="2606040"/>
            <a:ext cx="2651760" cy="1572768"/>
          </a:xfrm>
          <a:prstGeom prst="roundRect">
            <a:avLst>
              <a:gd name="adj" fmla="val 4651"/>
            </a:avLst>
          </a:prstGeom>
          <a:solidFill>
            <a:schemeClr val="bg2"/>
          </a:solidFill>
          <a:ln/>
        </p:spPr>
      </p:sp>
      <p:sp>
        <p:nvSpPr>
          <p:cNvPr id="18" name="text-275"/>
          <p:cNvSpPr txBox="1"/>
          <p:nvPr/>
        </p:nvSpPr>
        <p:spPr>
          <a:xfrm>
            <a:off x="6355080" y="27889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Spoločný jazyk</a:t>
            </a:r>
            <a:endParaRPr lang="en-US" sz="1700" dirty="0"/>
          </a:p>
        </p:txBody>
      </p:sp>
      <p:sp>
        <p:nvSpPr>
          <p:cNvPr id="19" name="text-276"/>
          <p:cNvSpPr txBox="1"/>
          <p:nvPr/>
        </p:nvSpPr>
        <p:spPr>
          <a:xfrm>
            <a:off x="6355080" y="320040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rovnaké šablóny a rovnaký význam „zeleného“ stavu vo všetkých projektoch</a:t>
            </a:r>
            <a:endParaRPr lang="en-US" sz="1400" dirty="0"/>
          </a:p>
        </p:txBody>
      </p:sp>
      <p:sp>
        <p:nvSpPr>
          <p:cNvPr id="20" name="card-277"/>
          <p:cNvSpPr/>
          <p:nvPr/>
        </p:nvSpPr>
        <p:spPr>
          <a:xfrm>
            <a:off x="8988552" y="2606040"/>
            <a:ext cx="2651760" cy="1572768"/>
          </a:xfrm>
          <a:prstGeom prst="roundRect">
            <a:avLst>
              <a:gd name="adj" fmla="val 4651"/>
            </a:avLst>
          </a:prstGeom>
          <a:solidFill>
            <a:schemeClr val="bg2"/>
          </a:solidFill>
          <a:ln/>
        </p:spPr>
      </p:sp>
      <p:sp>
        <p:nvSpPr>
          <p:cNvPr id="21" name="text-278"/>
          <p:cNvSpPr txBox="1"/>
          <p:nvPr/>
        </p:nvSpPr>
        <p:spPr>
          <a:xfrm>
            <a:off x="9217152" y="27889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Zdieľaní ľudia</a:t>
            </a:r>
            <a:endParaRPr lang="en-US" sz="1700" dirty="0"/>
          </a:p>
        </p:txBody>
      </p:sp>
      <p:sp>
        <p:nvSpPr>
          <p:cNvPr id="22" name="text-279"/>
          <p:cNvSpPr txBox="1"/>
          <p:nvPr/>
        </p:nvSpPr>
        <p:spPr>
          <a:xfrm>
            <a:off x="9217152" y="320040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prehľad, kto na čom robí, aby si projekty nebrali toho istého človeka naraz</a:t>
            </a:r>
            <a:endParaRPr lang="en-US" sz="1400" dirty="0"/>
          </a:p>
        </p:txBody>
      </p:sp>
      <p:sp>
        <p:nvSpPr>
          <p:cNvPr id="23" name="card-280"/>
          <p:cNvSpPr/>
          <p:nvPr/>
        </p:nvSpPr>
        <p:spPr>
          <a:xfrm>
            <a:off x="6126480" y="4389120"/>
            <a:ext cx="2651760" cy="1572768"/>
          </a:xfrm>
          <a:prstGeom prst="roundRect">
            <a:avLst>
              <a:gd name="adj" fmla="val 4651"/>
            </a:avLst>
          </a:prstGeom>
          <a:solidFill>
            <a:schemeClr val="bg2"/>
          </a:solidFill>
          <a:ln/>
        </p:spPr>
      </p:sp>
      <p:sp>
        <p:nvSpPr>
          <p:cNvPr id="24" name="text-281"/>
          <p:cNvSpPr txBox="1"/>
          <p:nvPr/>
        </p:nvSpPr>
        <p:spPr>
          <a:xfrm>
            <a:off x="6355080" y="45720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Jeden prehľad</a:t>
            </a:r>
            <a:endParaRPr lang="en-US" sz="1700" dirty="0"/>
          </a:p>
        </p:txBody>
      </p:sp>
      <p:sp>
        <p:nvSpPr>
          <p:cNvPr id="25" name="text-282"/>
          <p:cNvSpPr txBox="1"/>
          <p:nvPr/>
        </p:nvSpPr>
        <p:spPr>
          <a:xfrm>
            <a:off x="6355080" y="49834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porovnateľné správy zo všetkých projektov na jednom mieste</a:t>
            </a:r>
            <a:endParaRPr lang="en-US" sz="1400" dirty="0"/>
          </a:p>
        </p:txBody>
      </p:sp>
      <p:sp>
        <p:nvSpPr>
          <p:cNvPr id="26" name="card-283"/>
          <p:cNvSpPr/>
          <p:nvPr/>
        </p:nvSpPr>
        <p:spPr>
          <a:xfrm>
            <a:off x="8988552" y="4389120"/>
            <a:ext cx="2651760" cy="1572768"/>
          </a:xfrm>
          <a:prstGeom prst="roundRect">
            <a:avLst>
              <a:gd name="adj" fmla="val 4651"/>
            </a:avLst>
          </a:prstGeom>
          <a:solidFill>
            <a:schemeClr val="bg2"/>
          </a:solidFill>
          <a:ln/>
        </p:spPr>
      </p:sp>
      <p:sp>
        <p:nvSpPr>
          <p:cNvPr id="27" name="text-284"/>
          <p:cNvSpPr txBox="1"/>
          <p:nvPr/>
        </p:nvSpPr>
        <p:spPr>
          <a:xfrm>
            <a:off x="9217152" y="45720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Poučenia</a:t>
            </a:r>
            <a:endParaRPr lang="en-US" sz="1700" dirty="0"/>
          </a:p>
        </p:txBody>
      </p:sp>
      <p:sp>
        <p:nvSpPr>
          <p:cNvPr id="28" name="text-285"/>
          <p:cNvSpPr txBox="1"/>
          <p:nvPr/>
        </p:nvSpPr>
        <p:spPr>
          <a:xfrm>
            <a:off x="9217152" y="49834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čo sa naučil jeden projekt, ďalší už nemusí opakovať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03 – KANCELÁRIA PROJEKTOVÉHO MANAŽMENTU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Tri typy PMO sa líšia tým, koľko kontrolujú</a:t>
            </a:r>
            <a:endParaRPr lang="en-US" sz="3000" dirty="0"/>
          </a:p>
        </p:txBody>
      </p:sp>
      <p:sp>
        <p:nvSpPr>
          <p:cNvPr id="4" name="line-286"/>
          <p:cNvSpPr/>
          <p:nvPr/>
        </p:nvSpPr>
        <p:spPr>
          <a:xfrm>
            <a:off x="548640" y="1691640"/>
            <a:ext cx="11094415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5" name="text-287"/>
          <p:cNvSpPr txBox="1"/>
          <p:nvPr/>
        </p:nvSpPr>
        <p:spPr>
          <a:xfrm>
            <a:off x="548640" y="1417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málo kontroly</a:t>
            </a:r>
            <a:endParaRPr lang="en-US" sz="1200" dirty="0"/>
          </a:p>
        </p:txBody>
      </p:sp>
      <p:sp>
        <p:nvSpPr>
          <p:cNvPr id="6" name="text-288"/>
          <p:cNvSpPr txBox="1"/>
          <p:nvPr/>
        </p:nvSpPr>
        <p:spPr>
          <a:xfrm>
            <a:off x="8899855" y="1417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veľa kontroly</a:t>
            </a:r>
            <a:endParaRPr lang="en-US" sz="1200" dirty="0"/>
          </a:p>
        </p:txBody>
      </p:sp>
      <p:sp>
        <p:nvSpPr>
          <p:cNvPr id="7" name="card-289"/>
          <p:cNvSpPr/>
          <p:nvPr/>
        </p:nvSpPr>
        <p:spPr>
          <a:xfrm>
            <a:off x="548640" y="1965960"/>
            <a:ext cx="3511296" cy="4160520"/>
          </a:xfrm>
          <a:prstGeom prst="roundRect">
            <a:avLst>
              <a:gd name="adj" fmla="val 2083"/>
            </a:avLst>
          </a:prstGeom>
          <a:solidFill>
            <a:schemeClr val="bg2"/>
          </a:solidFill>
          <a:ln/>
        </p:spPr>
      </p:sp>
      <p:sp>
        <p:nvSpPr>
          <p:cNvPr id="8" name="text-290"/>
          <p:cNvSpPr txBox="1"/>
          <p:nvPr/>
        </p:nvSpPr>
        <p:spPr>
          <a:xfrm>
            <a:off x="822960" y="2194560"/>
            <a:ext cx="29626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Podporné</a:t>
            </a:r>
            <a:endParaRPr lang="en-US" sz="2200" dirty="0"/>
          </a:p>
        </p:txBody>
      </p:sp>
      <p:sp>
        <p:nvSpPr>
          <p:cNvPr id="9" name="text-291"/>
          <p:cNvSpPr txBox="1"/>
          <p:nvPr/>
        </p:nvSpPr>
        <p:spPr>
          <a:xfrm>
            <a:off x="822960" y="2624328"/>
            <a:ext cx="2962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ako poradca</a:t>
            </a:r>
            <a:endParaRPr lang="en-US" sz="1500" dirty="0"/>
          </a:p>
        </p:txBody>
      </p:sp>
      <p:sp>
        <p:nvSpPr>
          <p:cNvPr id="10" name="text-292"/>
          <p:cNvSpPr txBox="1"/>
          <p:nvPr/>
        </p:nvSpPr>
        <p:spPr>
          <a:xfrm>
            <a:off x="822960" y="3063240"/>
            <a:ext cx="29626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Ponúka šablóny, školenia a rady. Nikoho do ničoho nenúti.</a:t>
            </a:r>
            <a:endParaRPr lang="en-US" sz="1500" dirty="0"/>
          </a:p>
        </p:txBody>
      </p:sp>
      <p:sp>
        <p:nvSpPr>
          <p:cNvPr id="11" name="text-293"/>
          <p:cNvSpPr txBox="1"/>
          <p:nvPr/>
        </p:nvSpPr>
        <p:spPr>
          <a:xfrm>
            <a:off x="822960" y="4023360"/>
            <a:ext cx="296265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</a:rPr>
              <a:t>Kedy sa hodí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málo projektov, skúsení manažéri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</a:rPr>
              <a:t>Na čo si dať pozor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bez autority ho nikto nepočúva</a:t>
            </a:r>
            <a:endParaRPr lang="en-US" sz="1500" dirty="0"/>
          </a:p>
        </p:txBody>
      </p:sp>
      <p:sp>
        <p:nvSpPr>
          <p:cNvPr id="12" name="card-294"/>
          <p:cNvSpPr/>
          <p:nvPr/>
        </p:nvSpPr>
        <p:spPr>
          <a:xfrm>
            <a:off x="4340200" y="1965960"/>
            <a:ext cx="3511296" cy="4160520"/>
          </a:xfrm>
          <a:prstGeom prst="roundRect">
            <a:avLst>
              <a:gd name="adj" fmla="val 2083"/>
            </a:avLst>
          </a:prstGeom>
          <a:solidFill>
            <a:schemeClr val="accent3"/>
          </a:solidFill>
          <a:ln/>
        </p:spPr>
      </p:sp>
      <p:sp>
        <p:nvSpPr>
          <p:cNvPr id="13" name="text-295"/>
          <p:cNvSpPr txBox="1"/>
          <p:nvPr/>
        </p:nvSpPr>
        <p:spPr>
          <a:xfrm>
            <a:off x="4614520" y="2194560"/>
            <a:ext cx="29626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Riadiace</a:t>
            </a:r>
            <a:endParaRPr lang="en-US" sz="2200" dirty="0"/>
          </a:p>
        </p:txBody>
      </p:sp>
      <p:sp>
        <p:nvSpPr>
          <p:cNvPr id="14" name="text-296"/>
          <p:cNvSpPr txBox="1"/>
          <p:nvPr/>
        </p:nvSpPr>
        <p:spPr>
          <a:xfrm>
            <a:off x="4614520" y="2624328"/>
            <a:ext cx="2962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ako rozhodca s pravidlami</a:t>
            </a:r>
            <a:endParaRPr lang="en-US" sz="1500" dirty="0"/>
          </a:p>
        </p:txBody>
      </p:sp>
      <p:sp>
        <p:nvSpPr>
          <p:cNvPr id="15" name="text-297"/>
          <p:cNvSpPr txBox="1"/>
          <p:nvPr/>
        </p:nvSpPr>
        <p:spPr>
          <a:xfrm>
            <a:off x="4614520" y="3063240"/>
            <a:ext cx="29626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Vyžaduje spoločnú metodiku a jednotné reporty a kontroluje ich.</a:t>
            </a:r>
            <a:endParaRPr lang="en-US" sz="1500" dirty="0"/>
          </a:p>
        </p:txBody>
      </p:sp>
      <p:sp>
        <p:nvSpPr>
          <p:cNvPr id="16" name="text-298"/>
          <p:cNvSpPr txBox="1"/>
          <p:nvPr/>
        </p:nvSpPr>
        <p:spPr>
          <a:xfrm>
            <a:off x="4614520" y="4023360"/>
            <a:ext cx="296265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</a:rPr>
              <a:t>Kedy sa hodí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projekty si delia ľudí, vedenie chce porovnateľný prehľad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</a:rPr>
              <a:t>Na čo si dať pozor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ľahko z neho vznikne byrokracia</a:t>
            </a:r>
            <a:endParaRPr lang="en-US" sz="1500" dirty="0"/>
          </a:p>
        </p:txBody>
      </p:sp>
      <p:sp>
        <p:nvSpPr>
          <p:cNvPr id="17" name="card-299"/>
          <p:cNvSpPr/>
          <p:nvPr/>
        </p:nvSpPr>
        <p:spPr>
          <a:xfrm>
            <a:off x="8131759" y="1965960"/>
            <a:ext cx="3511296" cy="4160520"/>
          </a:xfrm>
          <a:prstGeom prst="roundRect">
            <a:avLst>
              <a:gd name="adj" fmla="val 2083"/>
            </a:avLst>
          </a:prstGeom>
          <a:solidFill>
            <a:schemeClr val="accent1"/>
          </a:solidFill>
          <a:ln/>
        </p:spPr>
      </p:sp>
      <p:sp>
        <p:nvSpPr>
          <p:cNvPr id="18" name="text-300"/>
          <p:cNvSpPr txBox="1"/>
          <p:nvPr/>
        </p:nvSpPr>
        <p:spPr>
          <a:xfrm>
            <a:off x="8406079" y="2194560"/>
            <a:ext cx="29626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Direktívne</a:t>
            </a:r>
            <a:endParaRPr lang="en-US" sz="2200" dirty="0"/>
          </a:p>
        </p:txBody>
      </p:sp>
      <p:sp>
        <p:nvSpPr>
          <p:cNvPr id="19" name="text-301"/>
          <p:cNvSpPr txBox="1"/>
          <p:nvPr/>
        </p:nvSpPr>
        <p:spPr>
          <a:xfrm>
            <a:off x="8406079" y="2624328"/>
            <a:ext cx="2962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ako kapitán</a:t>
            </a:r>
            <a:endParaRPr lang="en-US" sz="1500" dirty="0"/>
          </a:p>
        </p:txBody>
      </p:sp>
      <p:sp>
        <p:nvSpPr>
          <p:cNvPr id="20" name="text-302"/>
          <p:cNvSpPr txBox="1"/>
          <p:nvPr/>
        </p:nvSpPr>
        <p:spPr>
          <a:xfrm>
            <a:off x="8406079" y="3063240"/>
            <a:ext cx="29626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Projekty priamo riadi, manažéri patria pod neho.</a:t>
            </a:r>
            <a:endParaRPr lang="en-US" sz="1500" dirty="0"/>
          </a:p>
        </p:txBody>
      </p:sp>
      <p:sp>
        <p:nvSpPr>
          <p:cNvPr id="21" name="text-303"/>
          <p:cNvSpPr txBox="1"/>
          <p:nvPr/>
        </p:nvSpPr>
        <p:spPr>
          <a:xfrm>
            <a:off x="8406079" y="4023360"/>
            <a:ext cx="296265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accent4"/>
                </a:solidFill>
              </a:rPr>
              <a:t>Kedy sa hodí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strategické a veľmi rizikové projekty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accent4"/>
                </a:solidFill>
              </a:rPr>
              <a:t>Na čo si dať pozor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drahé, môže sa stať úzkym hrdlom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03 – KANCELÁRIA PROJEKTOVÉHO MANAŽMENTU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Príklad: jeden tester a tri projekty</a:t>
            </a:r>
            <a:endParaRPr lang="en-US" sz="3000" dirty="0"/>
          </a:p>
        </p:txBody>
      </p:sp>
      <p:sp>
        <p:nvSpPr>
          <p:cNvPr id="4" name="text-304"/>
          <p:cNvSpPr txBox="1"/>
          <p:nvPr/>
        </p:nvSpPr>
        <p:spPr>
          <a:xfrm>
            <a:off x="548640" y="1600200"/>
            <a:ext cx="5029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Vymyslená firma má tri projekty a jedného bezpečnostného testera. Každý manažér ho plánuje, akoby bol len jeho – a všetky tri termíny padnú na ten istý týždeň.</a:t>
            </a:r>
            <a:endParaRPr lang="en-US" sz="1600" dirty="0"/>
          </a:p>
        </p:txBody>
      </p:sp>
      <p:sp>
        <p:nvSpPr>
          <p:cNvPr id="5" name="line-305"/>
          <p:cNvSpPr/>
          <p:nvPr/>
        </p:nvSpPr>
        <p:spPr>
          <a:xfrm>
            <a:off x="1325880" y="3611880"/>
            <a:ext cx="1737360" cy="822960"/>
          </a:xfrm>
          <a:prstGeom prst="line">
            <a:avLst/>
          </a:prstGeom>
          <a:noFill/>
          <a:ln w="22225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6" name="card-306"/>
          <p:cNvSpPr/>
          <p:nvPr/>
        </p:nvSpPr>
        <p:spPr>
          <a:xfrm>
            <a:off x="594360" y="3154680"/>
            <a:ext cx="146304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rgbClr val="CFE3DC"/>
            </a:solidFill>
            <a:prstDash val="solid"/>
          </a:ln>
        </p:spPr>
      </p:sp>
      <p:sp>
        <p:nvSpPr>
          <p:cNvPr id="7" name="text-307"/>
          <p:cNvSpPr txBox="1"/>
          <p:nvPr/>
        </p:nvSpPr>
        <p:spPr>
          <a:xfrm>
            <a:off x="594360" y="315468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Projekt A</a:t>
            </a:r>
            <a:endParaRPr lang="en-US" sz="1500" dirty="0"/>
          </a:p>
        </p:txBody>
      </p:sp>
      <p:sp>
        <p:nvSpPr>
          <p:cNvPr id="8" name="line-308"/>
          <p:cNvSpPr/>
          <p:nvPr/>
        </p:nvSpPr>
        <p:spPr>
          <a:xfrm>
            <a:off x="3063240" y="3611880"/>
            <a:ext cx="0" cy="822960"/>
          </a:xfrm>
          <a:prstGeom prst="line">
            <a:avLst/>
          </a:prstGeom>
          <a:noFill/>
          <a:ln w="22225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9" name="card-309"/>
          <p:cNvSpPr/>
          <p:nvPr/>
        </p:nvSpPr>
        <p:spPr>
          <a:xfrm>
            <a:off x="2331720" y="3154680"/>
            <a:ext cx="146304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rgbClr val="CFE3DC"/>
            </a:solidFill>
            <a:prstDash val="solid"/>
          </a:ln>
        </p:spPr>
      </p:sp>
      <p:sp>
        <p:nvSpPr>
          <p:cNvPr id="10" name="text-310"/>
          <p:cNvSpPr txBox="1"/>
          <p:nvPr/>
        </p:nvSpPr>
        <p:spPr>
          <a:xfrm>
            <a:off x="2331720" y="315468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Projekt B</a:t>
            </a:r>
            <a:endParaRPr lang="en-US" sz="1500" dirty="0"/>
          </a:p>
        </p:txBody>
      </p:sp>
      <p:sp>
        <p:nvSpPr>
          <p:cNvPr id="11" name="line-311"/>
          <p:cNvSpPr/>
          <p:nvPr/>
        </p:nvSpPr>
        <p:spPr>
          <a:xfrm flipH="1">
            <a:off x="3063240" y="3611880"/>
            <a:ext cx="1737360" cy="822960"/>
          </a:xfrm>
          <a:prstGeom prst="line">
            <a:avLst/>
          </a:prstGeom>
          <a:noFill/>
          <a:ln w="22225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12" name="card-312"/>
          <p:cNvSpPr/>
          <p:nvPr/>
        </p:nvSpPr>
        <p:spPr>
          <a:xfrm>
            <a:off x="4069080" y="3154680"/>
            <a:ext cx="146304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rgbClr val="CFE3DC"/>
            </a:solidFill>
            <a:prstDash val="solid"/>
          </a:ln>
        </p:spPr>
      </p:sp>
      <p:sp>
        <p:nvSpPr>
          <p:cNvPr id="13" name="text-313"/>
          <p:cNvSpPr txBox="1"/>
          <p:nvPr/>
        </p:nvSpPr>
        <p:spPr>
          <a:xfrm>
            <a:off x="4069080" y="315468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Projekt C</a:t>
            </a:r>
            <a:endParaRPr lang="en-US" sz="1500" dirty="0"/>
          </a:p>
        </p:txBody>
      </p:sp>
      <p:sp>
        <p:nvSpPr>
          <p:cNvPr id="14" name="card-314"/>
          <p:cNvSpPr/>
          <p:nvPr/>
        </p:nvSpPr>
        <p:spPr>
          <a:xfrm>
            <a:off x="1965960" y="4434840"/>
            <a:ext cx="2194560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9050">
            <a:solidFill>
              <a:srgbClr val="D97A1E"/>
            </a:solidFill>
            <a:prstDash val="solid"/>
          </a:ln>
        </p:spPr>
      </p:sp>
      <p:sp>
        <p:nvSpPr>
          <p:cNvPr id="15" name="text-315"/>
          <p:cNvSpPr txBox="1"/>
          <p:nvPr/>
        </p:nvSpPr>
        <p:spPr>
          <a:xfrm>
            <a:off x="1965960" y="44348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Bezpečnostný tester</a:t>
            </a:r>
            <a:endParaRPr lang="en-US" sz="1500" dirty="0"/>
          </a:p>
          <a:p>
            <a:pPr algn="ctr" indent="0" marL="0">
              <a:buNone/>
            </a:pPr>
            <a:r>
              <a:rPr lang="en-US" sz="1300" i="1" dirty="0">
                <a:solidFill>
                  <a:schemeClr val="accent2"/>
                </a:solidFill>
              </a:rPr>
              <a:t>3 projekty, 1 týždeň</a:t>
            </a:r>
            <a:endParaRPr lang="en-US" sz="1500" dirty="0"/>
          </a:p>
        </p:txBody>
      </p:sp>
      <p:sp>
        <p:nvSpPr>
          <p:cNvPr id="16" name="card-316"/>
          <p:cNvSpPr/>
          <p:nvPr/>
        </p:nvSpPr>
        <p:spPr>
          <a:xfrm>
            <a:off x="6035040" y="1600200"/>
            <a:ext cx="5605272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/>
        </p:spPr>
      </p:sp>
      <p:sp>
        <p:nvSpPr>
          <p:cNvPr id="17" name="text-317"/>
          <p:cNvSpPr txBox="1"/>
          <p:nvPr/>
        </p:nvSpPr>
        <p:spPr>
          <a:xfrm>
            <a:off x="6309360" y="1737360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Podporné PMO</a:t>
            </a:r>
            <a:endParaRPr lang="en-US" sz="1700" dirty="0"/>
          </a:p>
        </p:txBody>
      </p:sp>
      <p:sp>
        <p:nvSpPr>
          <p:cNvPr id="18" name="text-318"/>
          <p:cNvSpPr txBox="1"/>
          <p:nvPr/>
        </p:nvSpPr>
        <p:spPr>
          <a:xfrm>
            <a:off x="6309360" y="210312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Poradí plánovať testy skôr. Konflikt však nevyrieši – nikto nemusí poslúchnuť.</a:t>
            </a:r>
            <a:endParaRPr lang="en-US" sz="1400" dirty="0"/>
          </a:p>
        </p:txBody>
      </p:sp>
      <p:sp>
        <p:nvSpPr>
          <p:cNvPr id="19" name="card-319"/>
          <p:cNvSpPr/>
          <p:nvPr/>
        </p:nvSpPr>
        <p:spPr>
          <a:xfrm>
            <a:off x="6035040" y="2898648"/>
            <a:ext cx="5605272" cy="1115568"/>
          </a:xfrm>
          <a:prstGeom prst="roundRect">
            <a:avLst>
              <a:gd name="adj" fmla="val 6557"/>
            </a:avLst>
          </a:prstGeom>
          <a:solidFill>
            <a:schemeClr val="accent1"/>
          </a:solidFill>
          <a:ln/>
        </p:spPr>
      </p:sp>
      <p:sp>
        <p:nvSpPr>
          <p:cNvPr id="20" name="text-320"/>
          <p:cNvSpPr txBox="1"/>
          <p:nvPr/>
        </p:nvSpPr>
        <p:spPr>
          <a:xfrm>
            <a:off x="6309360" y="303580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Riadiace PMO</a:t>
            </a:r>
            <a:endParaRPr lang="en-US" sz="1700" dirty="0"/>
          </a:p>
        </p:txBody>
      </p:sp>
      <p:sp>
        <p:nvSpPr>
          <p:cNvPr id="21" name="text-321"/>
          <p:cNvSpPr txBox="1"/>
          <p:nvPr/>
        </p:nvSpPr>
        <p:spPr>
          <a:xfrm>
            <a:off x="6309360" y="340156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Zavedie spoločný kalendár zdieľaných ľudí. O prioritách rozhodne vedenie podľa podkladov od PMO.</a:t>
            </a:r>
            <a:endParaRPr lang="en-US" sz="1400" dirty="0"/>
          </a:p>
        </p:txBody>
      </p:sp>
      <p:sp>
        <p:nvSpPr>
          <p:cNvPr id="22" name="card-322"/>
          <p:cNvSpPr/>
          <p:nvPr/>
        </p:nvSpPr>
        <p:spPr>
          <a:xfrm>
            <a:off x="6035040" y="4197096"/>
            <a:ext cx="5605272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/>
        </p:spPr>
      </p:sp>
      <p:sp>
        <p:nvSpPr>
          <p:cNvPr id="23" name="text-323"/>
          <p:cNvSpPr txBox="1"/>
          <p:nvPr/>
        </p:nvSpPr>
        <p:spPr>
          <a:xfrm>
            <a:off x="6309360" y="4334256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Direktívne PMO</a:t>
            </a:r>
            <a:endParaRPr lang="en-US" sz="1700" dirty="0"/>
          </a:p>
        </p:txBody>
      </p:sp>
      <p:sp>
        <p:nvSpPr>
          <p:cNvPr id="24" name="text-324"/>
          <p:cNvSpPr txBox="1"/>
          <p:nvPr/>
        </p:nvSpPr>
        <p:spPr>
          <a:xfrm>
            <a:off x="6309360" y="470001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Vyriešilo by to tiež, ale kvôli trom projektom je to zbytočne drahé.</a:t>
            </a:r>
            <a:endParaRPr lang="en-US" sz="1400" dirty="0"/>
          </a:p>
        </p:txBody>
      </p:sp>
      <p:sp>
        <p:nvSpPr>
          <p:cNvPr id="25" name="text-325"/>
          <p:cNvSpPr txBox="1"/>
          <p:nvPr/>
        </p:nvSpPr>
        <p:spPr>
          <a:xfrm>
            <a:off x="6035040" y="5577840"/>
            <a:ext cx="56052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Záver: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typ PMO sa vyberá podľa problému, ktorý má riešiť.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4"/>
                </a:solidFill>
              </a:rPr>
              <a:t>ZHRNUTIE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229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Čo si z toho odniesť</a:t>
            </a:r>
            <a:endParaRPr lang="en-US" sz="3400" dirty="0"/>
          </a:p>
        </p:txBody>
      </p:sp>
      <p:sp>
        <p:nvSpPr>
          <p:cNvPr id="4" name="dot-326"/>
          <p:cNvSpPr txBox="1"/>
          <p:nvPr/>
        </p:nvSpPr>
        <p:spPr>
          <a:xfrm>
            <a:off x="548640" y="201168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2200" dirty="0"/>
          </a:p>
        </p:txBody>
      </p:sp>
      <p:sp>
        <p:nvSpPr>
          <p:cNvPr id="5" name="text-327"/>
          <p:cNvSpPr txBox="1"/>
          <p:nvPr/>
        </p:nvSpPr>
        <p:spPr>
          <a:xfrm>
            <a:off x="548640" y="2926080"/>
            <a:ext cx="3511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Cieľom je porozumenie</a:t>
            </a:r>
            <a:endParaRPr lang="en-US" sz="2100" dirty="0"/>
          </a:p>
        </p:txBody>
      </p:sp>
      <p:sp>
        <p:nvSpPr>
          <p:cNvPr id="6" name="text-328"/>
          <p:cNvSpPr txBox="1"/>
          <p:nvPr/>
        </p:nvSpPr>
        <p:spPr>
          <a:xfrm>
            <a:off x="548640" y="3429000"/>
            <a:ext cx="332841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Správa splnila účel, až keď ju príjemca pochopí a vie podľa nej konať.</a:t>
            </a:r>
            <a:endParaRPr lang="en-US" sz="1600" dirty="0"/>
          </a:p>
        </p:txBody>
      </p:sp>
      <p:sp>
        <p:nvSpPr>
          <p:cNvPr id="7" name="dot-329"/>
          <p:cNvSpPr txBox="1"/>
          <p:nvPr/>
        </p:nvSpPr>
        <p:spPr>
          <a:xfrm>
            <a:off x="4340200" y="201168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2200" dirty="0"/>
          </a:p>
        </p:txBody>
      </p:sp>
      <p:sp>
        <p:nvSpPr>
          <p:cNvPr id="8" name="text-330"/>
          <p:cNvSpPr txBox="1"/>
          <p:nvPr/>
        </p:nvSpPr>
        <p:spPr>
          <a:xfrm>
            <a:off x="4340200" y="2926080"/>
            <a:ext cx="3511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Riadi sa vedome</a:t>
            </a:r>
            <a:endParaRPr lang="en-US" sz="2100" dirty="0"/>
          </a:p>
        </p:txBody>
      </p:sp>
      <p:sp>
        <p:nvSpPr>
          <p:cNvPr id="9" name="text-331"/>
          <p:cNvSpPr txBox="1"/>
          <p:nvPr/>
        </p:nvSpPr>
        <p:spPr>
          <a:xfrm>
            <a:off x="4340200" y="3429000"/>
            <a:ext cx="332841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Plán podľa potrieb ľudí, každodenné riadenie a pravidelná kontrola, či to funguje.</a:t>
            </a:r>
            <a:endParaRPr lang="en-US" sz="1600" dirty="0"/>
          </a:p>
        </p:txBody>
      </p:sp>
      <p:sp>
        <p:nvSpPr>
          <p:cNvPr id="10" name="dot-332"/>
          <p:cNvSpPr txBox="1"/>
          <p:nvPr/>
        </p:nvSpPr>
        <p:spPr>
          <a:xfrm>
            <a:off x="8131759" y="201168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2200" dirty="0"/>
          </a:p>
        </p:txBody>
      </p:sp>
      <p:sp>
        <p:nvSpPr>
          <p:cNvPr id="11" name="text-333"/>
          <p:cNvSpPr txBox="1"/>
          <p:nvPr/>
        </p:nvSpPr>
        <p:spPr>
          <a:xfrm>
            <a:off x="8131759" y="2926080"/>
            <a:ext cx="3511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PMO drží celok pokope</a:t>
            </a:r>
            <a:endParaRPr lang="en-US" sz="2100" dirty="0"/>
          </a:p>
        </p:txBody>
      </p:sp>
      <p:sp>
        <p:nvSpPr>
          <p:cNvPr id="12" name="text-334"/>
          <p:cNvSpPr txBox="1"/>
          <p:nvPr/>
        </p:nvSpPr>
        <p:spPr>
          <a:xfrm>
            <a:off x="8131759" y="3429000"/>
            <a:ext cx="332841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Zjednocuje jazyk a prehľad naprieč projektmi. Jeho typ volíme podľa problému.</a:t>
            </a:r>
            <a:endParaRPr lang="en-US" sz="1600" dirty="0"/>
          </a:p>
        </p:txBody>
      </p:sp>
      <p:sp>
        <p:nvSpPr>
          <p:cNvPr id="13" name="card-335"/>
          <p:cNvSpPr/>
          <p:nvPr/>
        </p:nvSpPr>
        <p:spPr>
          <a:xfrm>
            <a:off x="548640" y="4983480"/>
            <a:ext cx="11094415" cy="960120"/>
          </a:xfrm>
          <a:prstGeom prst="roundRect">
            <a:avLst>
              <a:gd name="adj" fmla="val 7619"/>
            </a:avLst>
          </a:prstGeom>
          <a:solidFill>
            <a:schemeClr val="accent5"/>
          </a:solidFill>
          <a:ln/>
        </p:spPr>
      </p:sp>
      <p:sp>
        <p:nvSpPr>
          <p:cNvPr id="14" name="text-336"/>
          <p:cNvSpPr txBox="1"/>
          <p:nvPr/>
        </p:nvSpPr>
        <p:spPr>
          <a:xfrm>
            <a:off x="868680" y="4983480"/>
            <a:ext cx="104543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Nástroje ani porady samy osebe komunikáciu nezaručia. Zaručia ju ľudia, ktorí si overujú, že si rozumejú.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ZDROJE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Referencie</a:t>
            </a:r>
            <a:endParaRPr lang="en-US" sz="3000" dirty="0"/>
          </a:p>
        </p:txBody>
      </p:sp>
      <p:sp>
        <p:nvSpPr>
          <p:cNvPr id="4" name="text-337"/>
          <p:cNvSpPr txBox="1"/>
          <p:nvPr/>
        </p:nvSpPr>
        <p:spPr>
          <a:xfrm>
            <a:off x="548640" y="1691640"/>
            <a:ext cx="53643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Project Management Institute. (2017). A Guide to the Project Management Body of Knowledge (PMBOK Guide) (6. vyd.). PMI.</a:t>
            </a:r>
            <a:endParaRPr lang="en-US" sz="1400" dirty="0"/>
          </a:p>
        </p:txBody>
      </p:sp>
      <p:sp>
        <p:nvSpPr>
          <p:cNvPr id="5" name="text-338"/>
          <p:cNvSpPr txBox="1"/>
          <p:nvPr/>
        </p:nvSpPr>
        <p:spPr>
          <a:xfrm>
            <a:off x="6278728" y="1691640"/>
            <a:ext cx="53643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Hobbs, B., &amp; Aubry, M. (2007). A multi-phase research program investigating project management offices (PMOs): The results of phase 1. Project Management Journal, 38(1), 74–86.</a:t>
            </a:r>
            <a:endParaRPr lang="en-US" sz="1400" dirty="0"/>
          </a:p>
        </p:txBody>
      </p:sp>
      <p:sp>
        <p:nvSpPr>
          <p:cNvPr id="6" name="text-339"/>
          <p:cNvSpPr txBox="1"/>
          <p:nvPr/>
        </p:nvSpPr>
        <p:spPr>
          <a:xfrm>
            <a:off x="548640" y="3017520"/>
            <a:ext cx="53643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Daft, R. L., &amp; Lengel, R. H. (1986). Organizational information requirements, media richness and structural design. Management Science, 32(5), 554–571.</a:t>
            </a:r>
            <a:endParaRPr lang="en-US" sz="1400" dirty="0"/>
          </a:p>
        </p:txBody>
      </p:sp>
      <p:sp>
        <p:nvSpPr>
          <p:cNvPr id="7" name="text-340"/>
          <p:cNvSpPr txBox="1"/>
          <p:nvPr/>
        </p:nvSpPr>
        <p:spPr>
          <a:xfrm>
            <a:off x="6278728" y="3017520"/>
            <a:ext cx="53643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Edmondson, A. (1999). Psychological safety and learning behavior in work teams. Administrative Science Quarterly, 44(2), 350–383.</a:t>
            </a:r>
            <a:endParaRPr lang="en-US" sz="1400" dirty="0"/>
          </a:p>
        </p:txBody>
      </p:sp>
      <p:sp>
        <p:nvSpPr>
          <p:cNvPr id="8" name="text-341"/>
          <p:cNvSpPr txBox="1"/>
          <p:nvPr/>
        </p:nvSpPr>
        <p:spPr>
          <a:xfrm>
            <a:off x="548640" y="4343400"/>
            <a:ext cx="53643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Schwaber, K., &amp; Sutherland, J. (2020). The Scrum Guide. scrumguides.org</a:t>
            </a:r>
            <a:endParaRPr lang="en-US" sz="1400" dirty="0"/>
          </a:p>
        </p:txBody>
      </p:sp>
      <p:sp>
        <p:nvSpPr>
          <p:cNvPr id="9" name="text-342"/>
          <p:cNvSpPr txBox="1"/>
          <p:nvPr/>
        </p:nvSpPr>
        <p:spPr>
          <a:xfrm>
            <a:off x="6278728" y="4343400"/>
            <a:ext cx="53643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Brooks, F. P. (1995). The Mythical Man-Month: Essays on Software Engineering (výročné vyd.). Addison-Wesley.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omunikacia">
  <a:themeElements>
    <a:clrScheme name="Komunikacia">
      <a:dk1>
        <a:srgbClr val="1B2B27"/>
      </a:dk1>
      <a:lt1>
        <a:srgbClr val="FFFFFF"/>
      </a:lt1>
      <a:dk2>
        <a:srgbClr val="133A31"/>
      </a:dk2>
      <a:lt2>
        <a:srgbClr val="EEF4F1"/>
      </a:lt2>
      <a:accent1>
        <a:srgbClr val="0E7C66"/>
      </a:accent1>
      <a:accent2>
        <a:srgbClr val="D97A1E"/>
      </a:accent2>
      <a:accent3>
        <a:srgbClr val="CFE3DC"/>
      </a:accent3>
      <a:accent4>
        <a:srgbClr val="8FD3BF"/>
      </a:accent4>
      <a:accent5>
        <a:srgbClr val="2E5C53"/>
      </a:accent5>
      <a:accent6>
        <a:srgbClr val="FBEBD9"/>
      </a:accent6>
      <a:hlink>
        <a:srgbClr val="0E7C66"/>
      </a:hlink>
      <a:folHlink>
        <a:srgbClr val="2E5C53"/>
      </a:folHlink>
    </a:clrScheme>
    <a:fontScheme name="Komunikacia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Manažment komunikácie – vysvetľujúca prezentácia</dc:title>
  <dc:subject>PptxGenJS Presentation</dc:subject>
  <dc:creator>Adam Svitek, Nikolas Knapík</dc:creator>
  <cp:lastModifiedBy>Adam Svitek, Nikolas Knapík</cp:lastModifiedBy>
  <cp:revision>1</cp:revision>
  <dcterms:created xsi:type="dcterms:W3CDTF">2026-10-27T18:20:00Z</dcterms:created>
  <dcterms:modified xsi:type="dcterms:W3CDTF">2026-10-27T18:20:00Z</dcterms:modified>
</cp:coreProperties>
</file>