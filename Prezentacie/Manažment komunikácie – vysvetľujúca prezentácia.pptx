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9FCD2CF-EF33-48B3-86F6-A9D9446530F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ADAM · 15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Dobrý deň, sme tím 5, Adam Svitek a Nikolas Knapík. Naša téma je manažment komunikácie v softvérovom projekte a kancelária projektového manažmentu. Dnes to nechceme ukazovať cez čísla, ale vysvetliť tak, aby ste si z toho odniesli, ako komunikácia v projekte naozaj funguje – a kde sa kazí.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980F6B-9737-407A-86A5-59210A79E9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ADAM · 20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Celá prezentácia odpovedá na jednu otázku: ako zabezpečiť, aby si ľudia v projekte naozaj rozumeli, a akú rolu v tom má kancelária projektového manažmentu, skrátene PMO. Pôjdeme v troch krokoch: najprv si vysvetlíme, čo komunikácia vlastne je, potom ako ju v projekte riadiť a nakoniec, čo robí PMO, keď projektov je viac.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211755-16E8-4343-9B92-EE81D7D967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ADAM · 45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Začnime príkladom. Klient napíše do ticketu: chceme jednoduchý export dát. V hlave má účtovníčku, ktorá raz mesačne potrebuje tabuľku faktúr v Exceli. To je zámer. Do ticketu ho ale zakóduje iba do troch slov. Ticket je kanál a šumom je tu to, že chýba príklad aj kontext. Vývojár si to dekóduje po svojom a urobí CSV cez API – technicky správne, ale pre účtovníčku nepoužiteľné.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Zachráni to až spätná väzba: keď sa niekto spýta „myslíte takto?“ a ukáže návrh. Preto hovoríme, že komunikácia nekončí odoslaním.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B7F8F1-CB70-450F-88D9-D3223CB74B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ADAM · 40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Prečo je to práve v softvéri také ťažké? Prvý dôvod vidíte vľavo. Keď sú v tíme traja ľudia, majú medzi sebou tri spojenia. Pri piatich je ich desať a pri ôsmich už dvadsaťosem.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Druhý dôvod: softvér nie je vidieť. A tretí: každý hovorí iným jazykom – biznis o cieľoch, vývojár o riešení a vedenie o peniazoch a termínoch.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38B973-F455-4042-9434-D99964394B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ADAM · 40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Keď už vieme, že správa sa môže cestou pokaziť, ďalšia otázka je, akým kanálom ju poslať. Interaktívna komunikácia je ako telefonát – stretnutie, hovor alebo demo, kde sa obe strany môžu hneď pýtať. Push je ako list do schránky – pošlem e-mail alebo report, ale to, že ho niekto dostal, ešte neznamená, že ho prečítal. Pull je ako knižnica – wiki alebo backlog, kde si človek informáciu nájde sám, keď ju potrebuje.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Pravidlo je jednoduché: čím je správa nejasnejšia alebo citlivejšia, tým živší kanál potrebuje. Stav buildu stačí na dashboarde, ale spor o priority e-mailom nevyriešime.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AC8CBE-5750-4528-8DD1-196931B192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NIKOLAS · 40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Teraz k tomu, ako komunikáciu v projekte riadiť. Podľa PMBOK sú to tri kroky a každý sa dá zhrnúť jednou otázkou. Plánovanie: kto čo potrebuje vedieť, kedy a ako? Riadenie: deje sa to naozaj – vznikajú reporty, prebehne demo, zapisujú sa rozhodnutia? A monitorovanie: pomáha to? Napríklad zistíme, že náš týždenný report nikto nečíta – tak ho zmeníme. To, čo zistíme, sa vracia do plánu, takže je to cyklus, nie jednorazová úloha.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76D7BD-C593-41B2-9EDE-30D59A9397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NIKOLAS · 35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Ako vyzerá komunikačný plán? Nemusí to byť hrubý dokument. Často stačí takáto tabuľka: kto, čo potrebuje vedieť, ako často, akým kanálom a kto za to zodpovedá. Sponzor chce raz za dva týždne vedieť stav, riziká a čo má rozhodnúť. Klient chce každý šprint vidieť demo. Tím rieši úlohy denne a prevádzka potrebuje vedieť, čo a kedy sa nasadí.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Dôležité je začať od ľudí, nie od nástrojov – až potom vyberáme Teams alebo Jiru. A plán má mať aj eskalačnú cestu: keď sa niečo zasekne, každý vie, komu to povedať.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45F7F4-5BA4-4712-BF75-4A3450950D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NIKOLAS · 35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Každý v projekte hovorí o tom, čo sám rieši: klient o cieľoch, vývojár o technickom riešení, vedenie o peniazoch a termínoch. Preto projekt potrebuje prekladateľov.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Hore: klient povie, že chce, aby si zákazník vedel sám stiahnuť faktúru. Product Owner to preloží do konkrétnej úlohy – tlačidlo Stiahnuť PDF pri faktúre. Dole opačný smer: vývojár povie, že platobný modul má technický dlh. Vedeniu to nič nepovie, tak projektový manažér to preloží do dopadu – bez dvoch týždňov na opravu bude každá zmena platieb pomalšia a rizikovejšia. Keď tento preklad chýba, vznikajú bariéry, ktoré ukážeme teraz.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3C038A-8C3F-4293-92F4-752A87A3F7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NIKOLAS · 40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Prvá bariéra je nejasné zadanie – klient povie „veď je jasné, čo chceme“, ale jasné je to iba jemu. Pomáhajú akceptačné kritériá s konkrétnym príkladom, prototyp a demo.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Druhá je technický text pre vedenie. Veta „padá nám migrácia databázy“ sponzorovi nič nepovie. Povieme radšej dopad a čo treba rozhodnúť: vydanie sa posunie o týždeň, potrebujeme vaše áno.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Tretia je chýbajúca spätná väzba. Pomôže zopakovať zadanie vlastnými slovami a prostredie, kde sa nikto nebojí povedať zlú správu. Inak vzniká melónový report – zelený navonok a červený vo vnútri.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D2CEE5-FB1F-4781-B57C-F60F1347C9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NIKOLAS · 40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Tretia časť je kancelária projektového manažmentu, PMO. Pilot riadi svoje lietadlo – to je projektový manažér a jeho projekt. Riadiaca veža vidí všetky lietadlá naraz a stará sa, aby sa nezrazili – to je PMO.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Čo konkrétne robí? Dáva projektom spoločný jazyk – rovnaké šablóny a rovnaký význam toho, čo je „zelený“ stav. Sleduje zdieľaných ľudí, aby si projekty nebrali toho istého človeka naraz. Dáva vedeniu porovnateľný prehľad zo všetkých projektov. A prenáša poučenia z jedného projektu do ďalšieho. PMO je teda v podstate komunikačná infraštruktúra celej organizácie.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F4131-1589-4027-9227-D59446F6F7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NIKOLAS · 40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PMO nie je jedno – rozlišujeme tri typy podľa toho, koľko kontroly majú. Podporné PMO je ako poradca: ponúka šablóny a rady, ale nikoho nenúti. Hodí sa pri pár projektoch so skúsenými manažérmi, no keď nemá autoritu, nikto ho nepočúva.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Riadiace PMO je ako rozhodca s pravidlami: vyžaduje spoločnú metodiku a jednotné reporty. Dáva zmysel, keď si projekty delia ľudí, ale ľahko z neho vznikne byrokracia.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Direktívne PMO je ako kapitán – projekty priamo riadi. Pri strategických projektoch dáva zmysel, no je drahé a môže sa stať úzkym hrdlom.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C6150B-19B7-4850-9BE7-6C2973678A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NIKOLAS · 35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Ukážeme to na vymyslenom príklade. Firma má tri projekty a jedného bezpečnostného testera. Každý manažér ho plánuje, akoby bol iba jeho, a všetky tri termíny padnú na ten istý týždeň.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Podporné PMO by iba poradilo plánovať skôr – ale konflikt by to nevyriešilo. Direktívne PMO by to vyriešilo, no pri troch projektoch je to zbytočne drahé. Riadiace PMO zavedie spoločný kalendár zdieľaných ľudí a pravidlo, že o prioritách rozhodne vedenie podľa podkladov od PMO. Typ PMO teda vyberáme podľa problému.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13EDE7-9558-4DA4-B757-92504AE5E3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ADAM · 30 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 záver tri myšlienky. Prvá: komunikácia znamená porozumenie – správa splnila účel, až keď ju príjemca pochopí a vie podľa nej konať. Druhá: komunikáciu treba riadiť vedome – naplánovať podľa potrieb ľudí, priebežne riadiť a kontrolovať, či funguje. A tretia: PMO drží komunikáciu pokope naprieč projektmi a jeho typ vyberáme podľa problému.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ak si máte zapamätať jednu vetu: nástroje ani porady komunikáciu samy nezaručia – zaručia ju ľudia, ktorí si overujú, že si rozumejú. Ďakujeme a tešíme sa na otázky.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96133D-B40D-4420-9E9A-D29EFB6830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Záložný slajd so zdrojmi, z ktorých sme vychádzali.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014854-570F-4E8F-997C-E5CBC6509C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731520" y="1417320"/>
            <a:ext cx="603468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731520" y="1783080"/>
            <a:ext cx="6034680" cy="201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731520" y="3886200"/>
            <a:ext cx="58518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GH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title text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Text 0"/>
          <p:cNvSpPr/>
          <p:nvPr/>
        </p:nvSpPr>
        <p:spPr>
          <a:xfrm>
            <a:off x="54864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Tím 5 · Manažment </a:t>
            </a:r>
            <a:r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komunikácie v </a:t>
            </a:r>
            <a:r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softvérovom projekte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1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FD9F05-7B30-4A04-B585-93F67AF04001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548640" y="5029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548640" y="822960"/>
            <a:ext cx="1109412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3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2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DB2EF1-3361-4E9D-B321-702478279109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hasCustomPrompt="1"/>
          </p:nvPr>
        </p:nvSpPr>
        <p:spPr>
          <a:xfrm>
            <a:off x="731520" y="1417320"/>
            <a:ext cx="6034680" cy="31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MANAŽMENT V TVORBE SOFTVÉRU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 hasCustomPrompt="1"/>
          </p:nvPr>
        </p:nvSpPr>
        <p:spPr>
          <a:xfrm>
            <a:off x="731520" y="1783080"/>
            <a:ext cx="6034680" cy="201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Manaž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ment 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komuni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kácie v 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softvér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ovom 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projekt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-1"/>
          <p:cNvSpPr/>
          <p:nvPr/>
        </p:nvSpPr>
        <p:spPr>
          <a:xfrm>
            <a:off x="731520" y="5257800"/>
            <a:ext cx="5851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Adam Svitek, Nikolas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Knapík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Tím 5 · streda 13:00 –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14:00 · FIIT STU 2026/27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line-2"/>
          <p:cNvSpPr/>
          <p:nvPr/>
        </p:nvSpPr>
        <p:spPr>
          <a:xfrm>
            <a:off x="9144000" y="1463040"/>
            <a:ext cx="1702440" cy="98280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line-3"/>
          <p:cNvSpPr/>
          <p:nvPr/>
        </p:nvSpPr>
        <p:spPr>
          <a:xfrm>
            <a:off x="9144000" y="1463040"/>
            <a:ext cx="1702440" cy="294876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line-4"/>
          <p:cNvSpPr/>
          <p:nvPr/>
        </p:nvSpPr>
        <p:spPr>
          <a:xfrm>
            <a:off x="9144000" y="1463040"/>
            <a:ext cx="360" cy="393192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line-5"/>
          <p:cNvSpPr/>
          <p:nvPr/>
        </p:nvSpPr>
        <p:spPr>
          <a:xfrm flipH="1">
            <a:off x="7441200" y="1463040"/>
            <a:ext cx="1702800" cy="294876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line-6"/>
          <p:cNvSpPr/>
          <p:nvPr/>
        </p:nvSpPr>
        <p:spPr>
          <a:xfrm flipH="1">
            <a:off x="7441200" y="1463040"/>
            <a:ext cx="1702800" cy="98280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line-7"/>
          <p:cNvSpPr/>
          <p:nvPr/>
        </p:nvSpPr>
        <p:spPr>
          <a:xfrm>
            <a:off x="10846440" y="2445840"/>
            <a:ext cx="360" cy="196596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line-8"/>
          <p:cNvSpPr/>
          <p:nvPr/>
        </p:nvSpPr>
        <p:spPr>
          <a:xfrm flipH="1">
            <a:off x="9144000" y="2445840"/>
            <a:ext cx="1702440" cy="294912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line-9"/>
          <p:cNvSpPr/>
          <p:nvPr/>
        </p:nvSpPr>
        <p:spPr>
          <a:xfrm flipH="1">
            <a:off x="7441200" y="2445840"/>
            <a:ext cx="3405240" cy="196596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line-10"/>
          <p:cNvSpPr/>
          <p:nvPr/>
        </p:nvSpPr>
        <p:spPr>
          <a:xfrm>
            <a:off x="7441200" y="2445840"/>
            <a:ext cx="3405240" cy="36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line-11"/>
          <p:cNvSpPr/>
          <p:nvPr/>
        </p:nvSpPr>
        <p:spPr>
          <a:xfrm flipH="1">
            <a:off x="9144000" y="4411800"/>
            <a:ext cx="1702440" cy="98316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line-12"/>
          <p:cNvSpPr/>
          <p:nvPr/>
        </p:nvSpPr>
        <p:spPr>
          <a:xfrm flipH="1">
            <a:off x="7441200" y="4411800"/>
            <a:ext cx="3405240" cy="36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line-13"/>
          <p:cNvSpPr/>
          <p:nvPr/>
        </p:nvSpPr>
        <p:spPr>
          <a:xfrm>
            <a:off x="7441200" y="2445840"/>
            <a:ext cx="3405240" cy="196596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line-14"/>
          <p:cNvSpPr/>
          <p:nvPr/>
        </p:nvSpPr>
        <p:spPr>
          <a:xfrm>
            <a:off x="7441200" y="4411800"/>
            <a:ext cx="1702800" cy="98316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line-15"/>
          <p:cNvSpPr/>
          <p:nvPr/>
        </p:nvSpPr>
        <p:spPr>
          <a:xfrm>
            <a:off x="7441200" y="2445840"/>
            <a:ext cx="1702800" cy="294912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line-16"/>
          <p:cNvSpPr/>
          <p:nvPr/>
        </p:nvSpPr>
        <p:spPr>
          <a:xfrm>
            <a:off x="7441200" y="2445840"/>
            <a:ext cx="360" cy="1965960"/>
          </a:xfrm>
          <a:prstGeom prst="line">
            <a:avLst/>
          </a:prstGeom>
          <a:ln w="12700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line-17"/>
          <p:cNvSpPr/>
          <p:nvPr/>
        </p:nvSpPr>
        <p:spPr>
          <a:xfrm>
            <a:off x="9144000" y="1463040"/>
            <a:ext cx="360" cy="1965960"/>
          </a:xfrm>
          <a:prstGeom prst="line">
            <a:avLst/>
          </a:prstGeom>
          <a:ln w="22225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line-18"/>
          <p:cNvSpPr/>
          <p:nvPr/>
        </p:nvSpPr>
        <p:spPr>
          <a:xfrm flipH="1">
            <a:off x="9144000" y="2445840"/>
            <a:ext cx="1702440" cy="983160"/>
          </a:xfrm>
          <a:prstGeom prst="line">
            <a:avLst/>
          </a:prstGeom>
          <a:ln w="22225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line-19"/>
          <p:cNvSpPr/>
          <p:nvPr/>
        </p:nvSpPr>
        <p:spPr>
          <a:xfrm>
            <a:off x="9144000" y="3429000"/>
            <a:ext cx="1702440" cy="982800"/>
          </a:xfrm>
          <a:prstGeom prst="line">
            <a:avLst/>
          </a:prstGeom>
          <a:ln w="22225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line-20"/>
          <p:cNvSpPr/>
          <p:nvPr/>
        </p:nvSpPr>
        <p:spPr>
          <a:xfrm>
            <a:off x="9144000" y="3429000"/>
            <a:ext cx="360" cy="1965960"/>
          </a:xfrm>
          <a:prstGeom prst="line">
            <a:avLst/>
          </a:prstGeom>
          <a:ln w="22225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line-21"/>
          <p:cNvSpPr/>
          <p:nvPr/>
        </p:nvSpPr>
        <p:spPr>
          <a:xfrm flipH="1">
            <a:off x="7441200" y="3429000"/>
            <a:ext cx="1702800" cy="982800"/>
          </a:xfrm>
          <a:prstGeom prst="line">
            <a:avLst/>
          </a:prstGeom>
          <a:ln w="22225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line-22"/>
          <p:cNvSpPr/>
          <p:nvPr/>
        </p:nvSpPr>
        <p:spPr>
          <a:xfrm>
            <a:off x="7441200" y="2445840"/>
            <a:ext cx="1702800" cy="983160"/>
          </a:xfrm>
          <a:prstGeom prst="line">
            <a:avLst/>
          </a:prstGeom>
          <a:ln w="22225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dot-23"/>
          <p:cNvSpPr/>
          <p:nvPr/>
        </p:nvSpPr>
        <p:spPr>
          <a:xfrm>
            <a:off x="8888040" y="1207080"/>
            <a:ext cx="511560" cy="5115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dot-24"/>
          <p:cNvSpPr/>
          <p:nvPr/>
        </p:nvSpPr>
        <p:spPr>
          <a:xfrm>
            <a:off x="10590480" y="2189880"/>
            <a:ext cx="511560" cy="5115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dot-25"/>
          <p:cNvSpPr/>
          <p:nvPr/>
        </p:nvSpPr>
        <p:spPr>
          <a:xfrm>
            <a:off x="10590480" y="4155840"/>
            <a:ext cx="511560" cy="5115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dot-26"/>
          <p:cNvSpPr/>
          <p:nvPr/>
        </p:nvSpPr>
        <p:spPr>
          <a:xfrm>
            <a:off x="8888040" y="5139000"/>
            <a:ext cx="511560" cy="5115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dot-27"/>
          <p:cNvSpPr/>
          <p:nvPr/>
        </p:nvSpPr>
        <p:spPr>
          <a:xfrm>
            <a:off x="7185240" y="4155840"/>
            <a:ext cx="511560" cy="5115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dot-28"/>
          <p:cNvSpPr/>
          <p:nvPr/>
        </p:nvSpPr>
        <p:spPr>
          <a:xfrm>
            <a:off x="7185240" y="2189880"/>
            <a:ext cx="511560" cy="5115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dot-29"/>
          <p:cNvSpPr/>
          <p:nvPr/>
        </p:nvSpPr>
        <p:spPr>
          <a:xfrm>
            <a:off x="8686800" y="2971800"/>
            <a:ext cx="914040" cy="9140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P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ÚVOD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O čom dnes budeme hovoriť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card-30"/>
          <p:cNvSpPr/>
          <p:nvPr/>
        </p:nvSpPr>
        <p:spPr>
          <a:xfrm>
            <a:off x="548640" y="1645920"/>
            <a:ext cx="4754520" cy="4251600"/>
          </a:xfrm>
          <a:prstGeom prst="roundRect">
            <a:avLst>
              <a:gd name="adj" fmla="val 172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-31"/>
          <p:cNvSpPr/>
          <p:nvPr/>
        </p:nvSpPr>
        <p:spPr>
          <a:xfrm>
            <a:off x="960120" y="20116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-32"/>
          <p:cNvSpPr/>
          <p:nvPr/>
        </p:nvSpPr>
        <p:spPr>
          <a:xfrm>
            <a:off x="960120" y="2468880"/>
            <a:ext cx="39315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Ako zabezpečiť,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aby si ľudia v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projekte naozaj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rozumeli – a ako s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tým pomáha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kancelária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projektového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manažmentu?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card-33"/>
          <p:cNvSpPr/>
          <p:nvPr/>
        </p:nvSpPr>
        <p:spPr>
          <a:xfrm>
            <a:off x="5669280" y="1645920"/>
            <a:ext cx="5970600" cy="123408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dot-34"/>
          <p:cNvSpPr/>
          <p:nvPr/>
        </p:nvSpPr>
        <p:spPr>
          <a:xfrm>
            <a:off x="5943600" y="1947600"/>
            <a:ext cx="639720" cy="63972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-35"/>
          <p:cNvSpPr/>
          <p:nvPr/>
        </p:nvSpPr>
        <p:spPr>
          <a:xfrm>
            <a:off x="6858000" y="21492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Čo je komunikácia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v projekte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-36"/>
          <p:cNvSpPr/>
          <p:nvPr/>
        </p:nvSpPr>
        <p:spPr>
          <a:xfrm>
            <a:off x="6858000" y="23043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card-37"/>
          <p:cNvSpPr/>
          <p:nvPr/>
        </p:nvSpPr>
        <p:spPr>
          <a:xfrm>
            <a:off x="5669280" y="3154680"/>
            <a:ext cx="5970600" cy="123408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dot-38"/>
          <p:cNvSpPr/>
          <p:nvPr/>
        </p:nvSpPr>
        <p:spPr>
          <a:xfrm>
            <a:off x="5943600" y="3456360"/>
            <a:ext cx="639720" cy="63972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-39"/>
          <p:cNvSpPr/>
          <p:nvPr/>
        </p:nvSpPr>
        <p:spPr>
          <a:xfrm>
            <a:off x="6863760" y="36428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Ako ju riadiť a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sledovať či funguje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-40"/>
          <p:cNvSpPr/>
          <p:nvPr/>
        </p:nvSpPr>
        <p:spPr>
          <a:xfrm>
            <a:off x="6858000" y="38131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card-41"/>
          <p:cNvSpPr/>
          <p:nvPr/>
        </p:nvSpPr>
        <p:spPr>
          <a:xfrm>
            <a:off x="5669280" y="4663440"/>
            <a:ext cx="5970600" cy="123408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dot-42"/>
          <p:cNvSpPr/>
          <p:nvPr/>
        </p:nvSpPr>
        <p:spPr>
          <a:xfrm>
            <a:off x="5943600" y="4965120"/>
            <a:ext cx="639720" cy="63972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-43"/>
          <p:cNvSpPr/>
          <p:nvPr/>
        </p:nvSpPr>
        <p:spPr>
          <a:xfrm>
            <a:off x="6858000" y="51210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Ka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nc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elá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ria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pr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oje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kto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vé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ho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ma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na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žm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ent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6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60BA63-D45C-470B-A259-D4AD124D6AB9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01 – ČO JE KOMUNIKÁCIA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Rovnaké slová môžu mať iný význam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-46"/>
          <p:cNvSpPr/>
          <p:nvPr/>
        </p:nvSpPr>
        <p:spPr>
          <a:xfrm>
            <a:off x="548640" y="1719360"/>
            <a:ext cx="1054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Príklad: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klient napíše do ticketu „Chceme jednoduchý export dát.“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Čo sa stane s vetou: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card-47"/>
          <p:cNvSpPr/>
          <p:nvPr/>
        </p:nvSpPr>
        <p:spPr>
          <a:xfrm>
            <a:off x="548640" y="2423160"/>
            <a:ext cx="2011320" cy="25142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-48"/>
          <p:cNvSpPr/>
          <p:nvPr/>
        </p:nvSpPr>
        <p:spPr>
          <a:xfrm>
            <a:off x="713160" y="2606040"/>
            <a:ext cx="168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Odosielateľ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-49"/>
          <p:cNvSpPr/>
          <p:nvPr/>
        </p:nvSpPr>
        <p:spPr>
          <a:xfrm>
            <a:off x="713160" y="3017520"/>
            <a:ext cx="1682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má v hlave zámer a kontext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-50"/>
          <p:cNvSpPr/>
          <p:nvPr/>
        </p:nvSpPr>
        <p:spPr>
          <a:xfrm>
            <a:off x="713160" y="3794760"/>
            <a:ext cx="1682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účtovníčka chce raz mesačne tabuľku faktúr v Exceli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line-51"/>
          <p:cNvSpPr/>
          <p:nvPr/>
        </p:nvSpPr>
        <p:spPr>
          <a:xfrm>
            <a:off x="2596680" y="3680280"/>
            <a:ext cx="18576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card-52"/>
          <p:cNvSpPr/>
          <p:nvPr/>
        </p:nvSpPr>
        <p:spPr>
          <a:xfrm>
            <a:off x="2819160" y="2423160"/>
            <a:ext cx="2011320" cy="25142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-53"/>
          <p:cNvSpPr/>
          <p:nvPr/>
        </p:nvSpPr>
        <p:spPr>
          <a:xfrm>
            <a:off x="2983680" y="2606040"/>
            <a:ext cx="168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Kódovanie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-54"/>
          <p:cNvSpPr/>
          <p:nvPr/>
        </p:nvSpPr>
        <p:spPr>
          <a:xfrm>
            <a:off x="2983680" y="3017520"/>
            <a:ext cx="1682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zámer zmení na slová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-55"/>
          <p:cNvSpPr/>
          <p:nvPr/>
        </p:nvSpPr>
        <p:spPr>
          <a:xfrm>
            <a:off x="2983680" y="3794760"/>
            <a:ext cx="1682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napíše len „jednoduchý export“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line-56"/>
          <p:cNvSpPr/>
          <p:nvPr/>
        </p:nvSpPr>
        <p:spPr>
          <a:xfrm>
            <a:off x="4867200" y="3680280"/>
            <a:ext cx="18576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ard-57"/>
          <p:cNvSpPr/>
          <p:nvPr/>
        </p:nvSpPr>
        <p:spPr>
          <a:xfrm>
            <a:off x="5089680" y="2423160"/>
            <a:ext cx="2011320" cy="25142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-58"/>
          <p:cNvSpPr/>
          <p:nvPr/>
        </p:nvSpPr>
        <p:spPr>
          <a:xfrm>
            <a:off x="5254200" y="2606040"/>
            <a:ext cx="168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Kanál a šum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-59"/>
          <p:cNvSpPr/>
          <p:nvPr/>
        </p:nvSpPr>
        <p:spPr>
          <a:xfrm>
            <a:off x="5254200" y="3017520"/>
            <a:ext cx="1682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správa ide e-mailom, </a:t>
            </a: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chatom, ticketom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-60"/>
          <p:cNvSpPr/>
          <p:nvPr/>
        </p:nvSpPr>
        <p:spPr>
          <a:xfrm>
            <a:off x="5254200" y="3794760"/>
            <a:ext cx="1682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jedna veta v tickete, bez príkladu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line-61"/>
          <p:cNvSpPr/>
          <p:nvPr/>
        </p:nvSpPr>
        <p:spPr>
          <a:xfrm>
            <a:off x="7137720" y="3680280"/>
            <a:ext cx="18540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ard-62"/>
          <p:cNvSpPr/>
          <p:nvPr/>
        </p:nvSpPr>
        <p:spPr>
          <a:xfrm>
            <a:off x="7359840" y="2423160"/>
            <a:ext cx="2011320" cy="25142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-63"/>
          <p:cNvSpPr/>
          <p:nvPr/>
        </p:nvSpPr>
        <p:spPr>
          <a:xfrm>
            <a:off x="7524720" y="2606040"/>
            <a:ext cx="168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Dekódovanie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-64"/>
          <p:cNvSpPr/>
          <p:nvPr/>
        </p:nvSpPr>
        <p:spPr>
          <a:xfrm>
            <a:off x="7524720" y="3017520"/>
            <a:ext cx="1682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príjemca si ju vyloží podľa seba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-65"/>
          <p:cNvSpPr/>
          <p:nvPr/>
        </p:nvSpPr>
        <p:spPr>
          <a:xfrm>
            <a:off x="7524720" y="3794760"/>
            <a:ext cx="1682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vývojár urobí CSV súbor cez API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line-66"/>
          <p:cNvSpPr/>
          <p:nvPr/>
        </p:nvSpPr>
        <p:spPr>
          <a:xfrm>
            <a:off x="9408240" y="3680280"/>
            <a:ext cx="18540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ard-67"/>
          <p:cNvSpPr/>
          <p:nvPr/>
        </p:nvSpPr>
        <p:spPr>
          <a:xfrm>
            <a:off x="9630360" y="2423160"/>
            <a:ext cx="2011320" cy="251424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-68"/>
          <p:cNvSpPr/>
          <p:nvPr/>
        </p:nvSpPr>
        <p:spPr>
          <a:xfrm>
            <a:off x="9794880" y="2606040"/>
            <a:ext cx="168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Spätná väzba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-69"/>
          <p:cNvSpPr/>
          <p:nvPr/>
        </p:nvSpPr>
        <p:spPr>
          <a:xfrm>
            <a:off x="9794880" y="3017520"/>
            <a:ext cx="1682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overí, či sme si rozumeli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-70"/>
          <p:cNvSpPr/>
          <p:nvPr/>
        </p:nvSpPr>
        <p:spPr>
          <a:xfrm>
            <a:off x="9794880" y="3794760"/>
            <a:ext cx="1682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„Ukážem vám návrh – myslíte takto?“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line-71"/>
          <p:cNvSpPr/>
          <p:nvPr/>
        </p:nvSpPr>
        <p:spPr>
          <a:xfrm>
            <a:off x="10636200" y="4937760"/>
            <a:ext cx="360" cy="274320"/>
          </a:xfrm>
          <a:prstGeom prst="line">
            <a:avLst/>
          </a:prstGeom>
          <a:ln w="19050">
            <a:solidFill>
              <a:srgbClr val="0E7C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line-72"/>
          <p:cNvSpPr/>
          <p:nvPr/>
        </p:nvSpPr>
        <p:spPr>
          <a:xfrm>
            <a:off x="1554480" y="5212080"/>
            <a:ext cx="9081720" cy="360"/>
          </a:xfrm>
          <a:prstGeom prst="line">
            <a:avLst/>
          </a:prstGeom>
          <a:ln w="19050">
            <a:solidFill>
              <a:srgbClr val="0E7C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line-73"/>
          <p:cNvSpPr/>
          <p:nvPr/>
        </p:nvSpPr>
        <p:spPr>
          <a:xfrm>
            <a:off x="1554480" y="4937760"/>
            <a:ext cx="360" cy="274320"/>
          </a:xfrm>
          <a:prstGeom prst="line">
            <a:avLst/>
          </a:prstGeom>
          <a:ln w="19050">
            <a:solidFill>
              <a:srgbClr val="0E7C66"/>
            </a:solidFill>
            <a:prstDash val="dash"/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-74"/>
          <p:cNvSpPr/>
          <p:nvPr/>
        </p:nvSpPr>
        <p:spPr>
          <a:xfrm>
            <a:off x="4572000" y="5056560"/>
            <a:ext cx="3044520" cy="3106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odpoveď sa vracia k odosielateľovi</a:t>
            </a:r>
            <a:endParaRPr lang="en-US" sz="1200" b="0" i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-75"/>
          <p:cNvSpPr/>
          <p:nvPr/>
        </p:nvSpPr>
        <p:spPr>
          <a:xfrm>
            <a:off x="548640" y="5715000"/>
            <a:ext cx="1109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Komunikácia nekončí odoslaním,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ale k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ončí, keď príjemca správu pochopí a vie podľa nej konať – a to zistíme až zo spätnej väzby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7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EF8630-42CE-4283-B65B-6C07390E1790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01 – ČO JE KOMUNIKÁCIA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Prečo je to v softvérovom projekte ťažké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card-76"/>
          <p:cNvSpPr/>
          <p:nvPr/>
        </p:nvSpPr>
        <p:spPr>
          <a:xfrm>
            <a:off x="548640" y="1600200"/>
            <a:ext cx="6309000" cy="443448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-77"/>
          <p:cNvSpPr/>
          <p:nvPr/>
        </p:nvSpPr>
        <p:spPr>
          <a:xfrm>
            <a:off x="868680" y="1783080"/>
            <a:ext cx="5668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Každý nový človek v tíme pridá spojenie s každým, kto tam už je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line-78"/>
          <p:cNvSpPr/>
          <p:nvPr/>
        </p:nvSpPr>
        <p:spPr>
          <a:xfrm>
            <a:off x="1600200" y="2679120"/>
            <a:ext cx="649080" cy="112464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line-79"/>
          <p:cNvSpPr/>
          <p:nvPr/>
        </p:nvSpPr>
        <p:spPr>
          <a:xfrm flipH="1">
            <a:off x="950760" y="2679120"/>
            <a:ext cx="649440" cy="112464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line-80"/>
          <p:cNvSpPr/>
          <p:nvPr/>
        </p:nvSpPr>
        <p:spPr>
          <a:xfrm>
            <a:off x="950760" y="3803760"/>
            <a:ext cx="1298520" cy="36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dot-81"/>
          <p:cNvSpPr/>
          <p:nvPr/>
        </p:nvSpPr>
        <p:spPr>
          <a:xfrm>
            <a:off x="1481400" y="256032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dot-82"/>
          <p:cNvSpPr/>
          <p:nvPr/>
        </p:nvSpPr>
        <p:spPr>
          <a:xfrm>
            <a:off x="2130840" y="368496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dot-83"/>
          <p:cNvSpPr/>
          <p:nvPr/>
        </p:nvSpPr>
        <p:spPr>
          <a:xfrm>
            <a:off x="831960" y="368496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-84"/>
          <p:cNvSpPr/>
          <p:nvPr/>
        </p:nvSpPr>
        <p:spPr>
          <a:xfrm>
            <a:off x="685800" y="443484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 ľudia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3 spojenia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line-85"/>
          <p:cNvSpPr/>
          <p:nvPr/>
        </p:nvSpPr>
        <p:spPr>
          <a:xfrm>
            <a:off x="3703320" y="2679120"/>
            <a:ext cx="712800" cy="51804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line-86"/>
          <p:cNvSpPr/>
          <p:nvPr/>
        </p:nvSpPr>
        <p:spPr>
          <a:xfrm>
            <a:off x="3703320" y="2679120"/>
            <a:ext cx="440640" cy="135648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line-87"/>
          <p:cNvSpPr/>
          <p:nvPr/>
        </p:nvSpPr>
        <p:spPr>
          <a:xfrm flipH="1">
            <a:off x="3262320" y="2679120"/>
            <a:ext cx="441000" cy="135648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line-88"/>
          <p:cNvSpPr/>
          <p:nvPr/>
        </p:nvSpPr>
        <p:spPr>
          <a:xfrm flipH="1">
            <a:off x="2990160" y="2679120"/>
            <a:ext cx="713160" cy="51804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line-89"/>
          <p:cNvSpPr/>
          <p:nvPr/>
        </p:nvSpPr>
        <p:spPr>
          <a:xfrm flipH="1">
            <a:off x="4143960" y="3197160"/>
            <a:ext cx="272160" cy="83844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line-90"/>
          <p:cNvSpPr/>
          <p:nvPr/>
        </p:nvSpPr>
        <p:spPr>
          <a:xfrm flipH="1">
            <a:off x="3262320" y="3197160"/>
            <a:ext cx="1153800" cy="83844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line-91"/>
          <p:cNvSpPr/>
          <p:nvPr/>
        </p:nvSpPr>
        <p:spPr>
          <a:xfrm>
            <a:off x="2990160" y="3197160"/>
            <a:ext cx="1425960" cy="36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line-92"/>
          <p:cNvSpPr/>
          <p:nvPr/>
        </p:nvSpPr>
        <p:spPr>
          <a:xfrm>
            <a:off x="3262320" y="4035600"/>
            <a:ext cx="881640" cy="36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line-93"/>
          <p:cNvSpPr/>
          <p:nvPr/>
        </p:nvSpPr>
        <p:spPr>
          <a:xfrm>
            <a:off x="2990160" y="3197160"/>
            <a:ext cx="1153800" cy="83844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line-94"/>
          <p:cNvSpPr/>
          <p:nvPr/>
        </p:nvSpPr>
        <p:spPr>
          <a:xfrm>
            <a:off x="2990160" y="3197160"/>
            <a:ext cx="272160" cy="83844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dot-95"/>
          <p:cNvSpPr/>
          <p:nvPr/>
        </p:nvSpPr>
        <p:spPr>
          <a:xfrm>
            <a:off x="3584520" y="256032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dot-96"/>
          <p:cNvSpPr/>
          <p:nvPr/>
        </p:nvSpPr>
        <p:spPr>
          <a:xfrm>
            <a:off x="4297680" y="307836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dot-97"/>
          <p:cNvSpPr/>
          <p:nvPr/>
        </p:nvSpPr>
        <p:spPr>
          <a:xfrm>
            <a:off x="4025160" y="391680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dot-98"/>
          <p:cNvSpPr/>
          <p:nvPr/>
        </p:nvSpPr>
        <p:spPr>
          <a:xfrm>
            <a:off x="3143880" y="391680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dot-99"/>
          <p:cNvSpPr/>
          <p:nvPr/>
        </p:nvSpPr>
        <p:spPr>
          <a:xfrm>
            <a:off x="2871360" y="307836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-100"/>
          <p:cNvSpPr/>
          <p:nvPr/>
        </p:nvSpPr>
        <p:spPr>
          <a:xfrm>
            <a:off x="2788920" y="443484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 ľudí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10 spojení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line-101"/>
          <p:cNvSpPr/>
          <p:nvPr/>
        </p:nvSpPr>
        <p:spPr>
          <a:xfrm>
            <a:off x="5806440" y="2679120"/>
            <a:ext cx="529920" cy="2196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line-102"/>
          <p:cNvSpPr/>
          <p:nvPr/>
        </p:nvSpPr>
        <p:spPr>
          <a:xfrm>
            <a:off x="5806440" y="2679120"/>
            <a:ext cx="749520" cy="74988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line-103"/>
          <p:cNvSpPr/>
          <p:nvPr/>
        </p:nvSpPr>
        <p:spPr>
          <a:xfrm>
            <a:off x="5806440" y="2679120"/>
            <a:ext cx="529920" cy="12798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line-104"/>
          <p:cNvSpPr/>
          <p:nvPr/>
        </p:nvSpPr>
        <p:spPr>
          <a:xfrm>
            <a:off x="5806440" y="2679120"/>
            <a:ext cx="360" cy="14994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line-105"/>
          <p:cNvSpPr/>
          <p:nvPr/>
        </p:nvSpPr>
        <p:spPr>
          <a:xfrm flipH="1">
            <a:off x="5276160" y="2679120"/>
            <a:ext cx="530280" cy="12798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line-106"/>
          <p:cNvSpPr/>
          <p:nvPr/>
        </p:nvSpPr>
        <p:spPr>
          <a:xfrm flipH="1">
            <a:off x="5056560" y="2679120"/>
            <a:ext cx="749880" cy="74988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line-107"/>
          <p:cNvSpPr/>
          <p:nvPr/>
        </p:nvSpPr>
        <p:spPr>
          <a:xfrm flipH="1">
            <a:off x="5276160" y="2679120"/>
            <a:ext cx="530280" cy="2196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line-108"/>
          <p:cNvSpPr/>
          <p:nvPr/>
        </p:nvSpPr>
        <p:spPr>
          <a:xfrm>
            <a:off x="6336360" y="2898720"/>
            <a:ext cx="219600" cy="53028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line-109"/>
          <p:cNvSpPr/>
          <p:nvPr/>
        </p:nvSpPr>
        <p:spPr>
          <a:xfrm>
            <a:off x="6336360" y="2898720"/>
            <a:ext cx="360" cy="10602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line-110"/>
          <p:cNvSpPr/>
          <p:nvPr/>
        </p:nvSpPr>
        <p:spPr>
          <a:xfrm flipH="1">
            <a:off x="5806440" y="2898720"/>
            <a:ext cx="529920" cy="12798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line-111"/>
          <p:cNvSpPr/>
          <p:nvPr/>
        </p:nvSpPr>
        <p:spPr>
          <a:xfrm flipH="1">
            <a:off x="5276160" y="2898720"/>
            <a:ext cx="1060200" cy="10602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line-112"/>
          <p:cNvSpPr/>
          <p:nvPr/>
        </p:nvSpPr>
        <p:spPr>
          <a:xfrm flipH="1">
            <a:off x="5056560" y="2898720"/>
            <a:ext cx="1279800" cy="53028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line-113"/>
          <p:cNvSpPr/>
          <p:nvPr/>
        </p:nvSpPr>
        <p:spPr>
          <a:xfrm>
            <a:off x="5276160" y="2898720"/>
            <a:ext cx="1060200" cy="36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line-114"/>
          <p:cNvSpPr/>
          <p:nvPr/>
        </p:nvSpPr>
        <p:spPr>
          <a:xfrm flipH="1">
            <a:off x="6336360" y="3429000"/>
            <a:ext cx="219600" cy="52992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line-115"/>
          <p:cNvSpPr/>
          <p:nvPr/>
        </p:nvSpPr>
        <p:spPr>
          <a:xfrm flipH="1">
            <a:off x="5806440" y="3429000"/>
            <a:ext cx="749520" cy="74952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line-116"/>
          <p:cNvSpPr/>
          <p:nvPr/>
        </p:nvSpPr>
        <p:spPr>
          <a:xfrm flipH="1">
            <a:off x="5276160" y="3429000"/>
            <a:ext cx="1279800" cy="52992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line-117"/>
          <p:cNvSpPr/>
          <p:nvPr/>
        </p:nvSpPr>
        <p:spPr>
          <a:xfrm>
            <a:off x="5056560" y="3429000"/>
            <a:ext cx="1499400" cy="36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line-118"/>
          <p:cNvSpPr/>
          <p:nvPr/>
        </p:nvSpPr>
        <p:spPr>
          <a:xfrm>
            <a:off x="5276160" y="2898720"/>
            <a:ext cx="1279800" cy="53028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line-119"/>
          <p:cNvSpPr/>
          <p:nvPr/>
        </p:nvSpPr>
        <p:spPr>
          <a:xfrm flipH="1">
            <a:off x="5806440" y="3958920"/>
            <a:ext cx="529920" cy="2196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line-120"/>
          <p:cNvSpPr/>
          <p:nvPr/>
        </p:nvSpPr>
        <p:spPr>
          <a:xfrm>
            <a:off x="5276160" y="3958920"/>
            <a:ext cx="1060200" cy="36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line-121"/>
          <p:cNvSpPr/>
          <p:nvPr/>
        </p:nvSpPr>
        <p:spPr>
          <a:xfrm>
            <a:off x="5056560" y="3429000"/>
            <a:ext cx="1279800" cy="52992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line-122"/>
          <p:cNvSpPr/>
          <p:nvPr/>
        </p:nvSpPr>
        <p:spPr>
          <a:xfrm>
            <a:off x="5276160" y="2898720"/>
            <a:ext cx="1060200" cy="10602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line-123"/>
          <p:cNvSpPr/>
          <p:nvPr/>
        </p:nvSpPr>
        <p:spPr>
          <a:xfrm>
            <a:off x="5276160" y="3958920"/>
            <a:ext cx="530280" cy="2196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line-124"/>
          <p:cNvSpPr/>
          <p:nvPr/>
        </p:nvSpPr>
        <p:spPr>
          <a:xfrm>
            <a:off x="5056560" y="3429000"/>
            <a:ext cx="749880" cy="74952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line-125"/>
          <p:cNvSpPr/>
          <p:nvPr/>
        </p:nvSpPr>
        <p:spPr>
          <a:xfrm>
            <a:off x="5276160" y="2898720"/>
            <a:ext cx="530280" cy="12798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line-126"/>
          <p:cNvSpPr/>
          <p:nvPr/>
        </p:nvSpPr>
        <p:spPr>
          <a:xfrm>
            <a:off x="5056560" y="3429000"/>
            <a:ext cx="219600" cy="52992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line-127"/>
          <p:cNvSpPr/>
          <p:nvPr/>
        </p:nvSpPr>
        <p:spPr>
          <a:xfrm>
            <a:off x="5276160" y="2898720"/>
            <a:ext cx="360" cy="106020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line-128"/>
          <p:cNvSpPr/>
          <p:nvPr/>
        </p:nvSpPr>
        <p:spPr>
          <a:xfrm flipH="1">
            <a:off x="5056560" y="2898720"/>
            <a:ext cx="219600" cy="530280"/>
          </a:xfrm>
          <a:prstGeom prst="line">
            <a:avLst/>
          </a:prstGeom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dot-129"/>
          <p:cNvSpPr/>
          <p:nvPr/>
        </p:nvSpPr>
        <p:spPr>
          <a:xfrm>
            <a:off x="5687640" y="256032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dot-130"/>
          <p:cNvSpPr/>
          <p:nvPr/>
        </p:nvSpPr>
        <p:spPr>
          <a:xfrm>
            <a:off x="6217920" y="277992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dot-131"/>
          <p:cNvSpPr/>
          <p:nvPr/>
        </p:nvSpPr>
        <p:spPr>
          <a:xfrm>
            <a:off x="6437520" y="331020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dot-132"/>
          <p:cNvSpPr/>
          <p:nvPr/>
        </p:nvSpPr>
        <p:spPr>
          <a:xfrm>
            <a:off x="6217920" y="384048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dot-133"/>
          <p:cNvSpPr/>
          <p:nvPr/>
        </p:nvSpPr>
        <p:spPr>
          <a:xfrm>
            <a:off x="5687640" y="406008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dot-134"/>
          <p:cNvSpPr/>
          <p:nvPr/>
        </p:nvSpPr>
        <p:spPr>
          <a:xfrm>
            <a:off x="5157360" y="384048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dot-135"/>
          <p:cNvSpPr/>
          <p:nvPr/>
        </p:nvSpPr>
        <p:spPr>
          <a:xfrm>
            <a:off x="4937760" y="331020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dot-136"/>
          <p:cNvSpPr/>
          <p:nvPr/>
        </p:nvSpPr>
        <p:spPr>
          <a:xfrm>
            <a:off x="5157360" y="2779920"/>
            <a:ext cx="237240" cy="2372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-137"/>
          <p:cNvSpPr/>
          <p:nvPr/>
        </p:nvSpPr>
        <p:spPr>
          <a:xfrm>
            <a:off x="4892040" y="443484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 ľudí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28 spojení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-138"/>
          <p:cNvSpPr/>
          <p:nvPr/>
        </p:nvSpPr>
        <p:spPr>
          <a:xfrm>
            <a:off x="868680" y="5166360"/>
            <a:ext cx="5668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Počet spojení rastie rýchlejšie než počet ľudí: n · (n − 1) /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Pridanie ľudí do meškajúceho projektu často nepomôže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dot-139"/>
          <p:cNvSpPr/>
          <p:nvPr/>
        </p:nvSpPr>
        <p:spPr>
          <a:xfrm>
            <a:off x="7269480" y="169164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-140"/>
          <p:cNvSpPr/>
          <p:nvPr/>
        </p:nvSpPr>
        <p:spPr>
          <a:xfrm>
            <a:off x="7955280" y="16916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Veľa odovzdaní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-141"/>
          <p:cNvSpPr/>
          <p:nvPr/>
        </p:nvSpPr>
        <p:spPr>
          <a:xfrm>
            <a:off x="7955280" y="2167200"/>
            <a:ext cx="3657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Informácia ide cez viac rúk a pri každom odovzdaní sa môže skresliť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dot-142"/>
          <p:cNvSpPr/>
          <p:nvPr/>
        </p:nvSpPr>
        <p:spPr>
          <a:xfrm>
            <a:off x="7269480" y="324612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-143"/>
          <p:cNvSpPr/>
          <p:nvPr/>
        </p:nvSpPr>
        <p:spPr>
          <a:xfrm>
            <a:off x="7955280" y="32461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Softvér nie je vidieť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-144"/>
          <p:cNvSpPr/>
          <p:nvPr/>
        </p:nvSpPr>
        <p:spPr>
          <a:xfrm>
            <a:off x="7955280" y="3721680"/>
            <a:ext cx="3657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Kým nie je hotový, každý si ho predstavuje inak. Preto veľmi pomáhajú prototypy a demá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dot-145"/>
          <p:cNvSpPr/>
          <p:nvPr/>
        </p:nvSpPr>
        <p:spPr>
          <a:xfrm>
            <a:off x="7269480" y="480060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-146"/>
          <p:cNvSpPr/>
          <p:nvPr/>
        </p:nvSpPr>
        <p:spPr>
          <a:xfrm>
            <a:off x="7955280" y="480060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Každý hovorí iným jazykom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-147"/>
          <p:cNvSpPr/>
          <p:nvPr/>
        </p:nvSpPr>
        <p:spPr>
          <a:xfrm>
            <a:off x="7955280" y="5276160"/>
            <a:ext cx="3657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Biznis hovorí o cieľoch, vývoj o riešení, vedenie o peniazoch a termínoch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8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58E6A2-3DFB-45A7-A675-2F39BE6A1AAA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01 – ČO JE KOMUNIKÁCIA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Správny kanál pre správnu správu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card-148"/>
          <p:cNvSpPr/>
          <p:nvPr/>
        </p:nvSpPr>
        <p:spPr>
          <a:xfrm>
            <a:off x="548640" y="1600200"/>
            <a:ext cx="3511080" cy="297144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dot-149"/>
          <p:cNvSpPr/>
          <p:nvPr/>
        </p:nvSpPr>
        <p:spPr>
          <a:xfrm>
            <a:off x="822960" y="1860840"/>
            <a:ext cx="566640" cy="566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⇆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-150"/>
          <p:cNvSpPr/>
          <p:nvPr/>
        </p:nvSpPr>
        <p:spPr>
          <a:xfrm>
            <a:off x="1554480" y="1961640"/>
            <a:ext cx="232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Interaktívna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-152"/>
          <p:cNvSpPr/>
          <p:nvPr/>
        </p:nvSpPr>
        <p:spPr>
          <a:xfrm>
            <a:off x="822960" y="2651760"/>
            <a:ext cx="296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stretnutie, hovor, demo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-153"/>
          <p:cNvSpPr/>
          <p:nvPr/>
        </p:nvSpPr>
        <p:spPr>
          <a:xfrm>
            <a:off x="822960" y="3063240"/>
            <a:ext cx="2962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Keď treba niečo vyjasniť, rozhodnúť alebo vyriešiť spor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Obe strany sa hneď môžu pýtať.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ard-154"/>
          <p:cNvSpPr/>
          <p:nvPr/>
        </p:nvSpPr>
        <p:spPr>
          <a:xfrm>
            <a:off x="4340160" y="1600200"/>
            <a:ext cx="3511080" cy="297144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dot-155"/>
          <p:cNvSpPr/>
          <p:nvPr/>
        </p:nvSpPr>
        <p:spPr>
          <a:xfrm>
            <a:off x="4614480" y="1860840"/>
            <a:ext cx="566640" cy="566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-156"/>
          <p:cNvSpPr/>
          <p:nvPr/>
        </p:nvSpPr>
        <p:spPr>
          <a:xfrm>
            <a:off x="5346000" y="1968480"/>
            <a:ext cx="232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Push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-158"/>
          <p:cNvSpPr/>
          <p:nvPr/>
        </p:nvSpPr>
        <p:spPr>
          <a:xfrm>
            <a:off x="4614480" y="2651760"/>
            <a:ext cx="296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e-mail, report, release notes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-159"/>
          <p:cNvSpPr/>
          <p:nvPr/>
        </p:nvSpPr>
        <p:spPr>
          <a:xfrm>
            <a:off x="4614480" y="3063240"/>
            <a:ext cx="2962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Keď konkrétni ľudia musia niečo vedieť hneď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Doručené ešte neznamená prečítané.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card-160"/>
          <p:cNvSpPr/>
          <p:nvPr/>
        </p:nvSpPr>
        <p:spPr>
          <a:xfrm>
            <a:off x="8131680" y="1600200"/>
            <a:ext cx="3511080" cy="297144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dot-161"/>
          <p:cNvSpPr/>
          <p:nvPr/>
        </p:nvSpPr>
        <p:spPr>
          <a:xfrm>
            <a:off x="8406000" y="1874520"/>
            <a:ext cx="566640" cy="566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←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-162"/>
          <p:cNvSpPr/>
          <p:nvPr/>
        </p:nvSpPr>
        <p:spPr>
          <a:xfrm>
            <a:off x="9144000" y="1968480"/>
            <a:ext cx="232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Pull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-164"/>
          <p:cNvSpPr/>
          <p:nvPr/>
        </p:nvSpPr>
        <p:spPr>
          <a:xfrm>
            <a:off x="8406000" y="2651760"/>
            <a:ext cx="296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wiki, backlog, dashboard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-165"/>
          <p:cNvSpPr/>
          <p:nvPr/>
        </p:nvSpPr>
        <p:spPr>
          <a:xfrm>
            <a:off x="8406000" y="3063240"/>
            <a:ext cx="2962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Keď si to ľudia nájdu sami, keď to budú potrebovať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Funguje, len ak je to aktuálne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-166"/>
          <p:cNvSpPr/>
          <p:nvPr/>
        </p:nvSpPr>
        <p:spPr>
          <a:xfrm>
            <a:off x="548640" y="4800600"/>
            <a:ext cx="1109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Čím nejasnejšia alebo citlivejšia správa, tým aktívnejší kanál potrebuje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line-167"/>
          <p:cNvSpPr/>
          <p:nvPr/>
        </p:nvSpPr>
        <p:spPr>
          <a:xfrm>
            <a:off x="548640" y="5440680"/>
            <a:ext cx="11094120" cy="360"/>
          </a:xfrm>
          <a:prstGeom prst="line">
            <a:avLst/>
          </a:prstGeom>
          <a:ln w="3175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dot-168"/>
          <p:cNvSpPr/>
          <p:nvPr/>
        </p:nvSpPr>
        <p:spPr>
          <a:xfrm>
            <a:off x="1779480" y="5340240"/>
            <a:ext cx="200880" cy="2008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-169"/>
          <p:cNvSpPr/>
          <p:nvPr/>
        </p:nvSpPr>
        <p:spPr>
          <a:xfrm>
            <a:off x="416880" y="56235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stav buildu → </a:t>
            </a: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dashboard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dot-170"/>
          <p:cNvSpPr/>
          <p:nvPr/>
        </p:nvSpPr>
        <p:spPr>
          <a:xfrm>
            <a:off x="5995440" y="5340240"/>
            <a:ext cx="200880" cy="2008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-171"/>
          <p:cNvSpPr/>
          <p:nvPr/>
        </p:nvSpPr>
        <p:spPr>
          <a:xfrm>
            <a:off x="4632840" y="56235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nová verzia → </a:t>
            </a: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release notes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dot-172"/>
          <p:cNvSpPr/>
          <p:nvPr/>
        </p:nvSpPr>
        <p:spPr>
          <a:xfrm>
            <a:off x="10211040" y="5340240"/>
            <a:ext cx="200880" cy="2008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-173"/>
          <p:cNvSpPr/>
          <p:nvPr/>
        </p:nvSpPr>
        <p:spPr>
          <a:xfrm>
            <a:off x="8848800" y="56235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spor o priority → </a:t>
            </a: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stretnutie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-174"/>
          <p:cNvSpPr/>
          <p:nvPr/>
        </p:nvSpPr>
        <p:spPr>
          <a:xfrm>
            <a:off x="548640" y="505656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rutinná správa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-175"/>
          <p:cNvSpPr/>
          <p:nvPr/>
        </p:nvSpPr>
        <p:spPr>
          <a:xfrm>
            <a:off x="9357120" y="505656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nejasná správa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9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EAB348-7C33-44BF-9B33-F611153038A7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02 – AKO KOMUNIKÁCIU RIADIŤ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Riadenie komunikácie je cyklus troch krokov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card-176"/>
          <p:cNvSpPr/>
          <p:nvPr/>
        </p:nvSpPr>
        <p:spPr>
          <a:xfrm>
            <a:off x="548640" y="1645920"/>
            <a:ext cx="3382920" cy="283428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dot-177"/>
          <p:cNvSpPr/>
          <p:nvPr/>
        </p:nvSpPr>
        <p:spPr>
          <a:xfrm>
            <a:off x="822960" y="1920240"/>
            <a:ext cx="548280" cy="548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-178"/>
          <p:cNvSpPr/>
          <p:nvPr/>
        </p:nvSpPr>
        <p:spPr>
          <a:xfrm>
            <a:off x="1508760" y="192024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Plánovanie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-179"/>
          <p:cNvSpPr/>
          <p:nvPr/>
        </p:nvSpPr>
        <p:spPr>
          <a:xfrm>
            <a:off x="822960" y="2697480"/>
            <a:ext cx="2834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„Kto čo potrebuje vedieť, kedy a ako?“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-180"/>
          <p:cNvSpPr/>
          <p:nvPr/>
        </p:nvSpPr>
        <p:spPr>
          <a:xfrm>
            <a:off x="822960" y="3429000"/>
            <a:ext cx="28342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 začiatku projektu sa spíše komunikačný plán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line-181"/>
          <p:cNvSpPr/>
          <p:nvPr/>
        </p:nvSpPr>
        <p:spPr>
          <a:xfrm>
            <a:off x="3986640" y="3063240"/>
            <a:ext cx="36252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card-182"/>
          <p:cNvSpPr/>
          <p:nvPr/>
        </p:nvSpPr>
        <p:spPr>
          <a:xfrm>
            <a:off x="4404240" y="1645920"/>
            <a:ext cx="3382920" cy="283428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dot-183"/>
          <p:cNvSpPr/>
          <p:nvPr/>
        </p:nvSpPr>
        <p:spPr>
          <a:xfrm>
            <a:off x="4678560" y="1920240"/>
            <a:ext cx="548280" cy="548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-184"/>
          <p:cNvSpPr/>
          <p:nvPr/>
        </p:nvSpPr>
        <p:spPr>
          <a:xfrm>
            <a:off x="5364360" y="192024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Riadenie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-185"/>
          <p:cNvSpPr/>
          <p:nvPr/>
        </p:nvSpPr>
        <p:spPr>
          <a:xfrm>
            <a:off x="4678560" y="2697480"/>
            <a:ext cx="2834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„Deje sa to naozaj?“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-186"/>
          <p:cNvSpPr/>
          <p:nvPr/>
        </p:nvSpPr>
        <p:spPr>
          <a:xfrm>
            <a:off x="4678560" y="3429000"/>
            <a:ext cx="28342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Reporty vznikajú, demo prebehne, rozhodnutia sú zapísané a dostanú sa k ľuďom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line-187"/>
          <p:cNvSpPr/>
          <p:nvPr/>
        </p:nvSpPr>
        <p:spPr>
          <a:xfrm>
            <a:off x="7842240" y="3063240"/>
            <a:ext cx="36252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card-188"/>
          <p:cNvSpPr/>
          <p:nvPr/>
        </p:nvSpPr>
        <p:spPr>
          <a:xfrm>
            <a:off x="8259840" y="1645920"/>
            <a:ext cx="3382920" cy="283428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dot-189"/>
          <p:cNvSpPr/>
          <p:nvPr/>
        </p:nvSpPr>
        <p:spPr>
          <a:xfrm>
            <a:off x="8534160" y="1920240"/>
            <a:ext cx="548280" cy="548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-190"/>
          <p:cNvSpPr/>
          <p:nvPr/>
        </p:nvSpPr>
        <p:spPr>
          <a:xfrm>
            <a:off x="9219960" y="192024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Monitorovanie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-191"/>
          <p:cNvSpPr/>
          <p:nvPr/>
        </p:nvSpPr>
        <p:spPr>
          <a:xfrm>
            <a:off x="8534160" y="2697480"/>
            <a:ext cx="2834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„Pomáha to?“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-192"/>
          <p:cNvSpPr/>
          <p:nvPr/>
        </p:nvSpPr>
        <p:spPr>
          <a:xfrm>
            <a:off x="8534160" y="3429000"/>
            <a:ext cx="28342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Pýtame sa ľudí, či majú, čo potrebujú. Ak report nikto nečíta, zmeníme ho.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line-193"/>
          <p:cNvSpPr/>
          <p:nvPr/>
        </p:nvSpPr>
        <p:spPr>
          <a:xfrm>
            <a:off x="9951120" y="4480560"/>
            <a:ext cx="360" cy="365760"/>
          </a:xfrm>
          <a:prstGeom prst="line">
            <a:avLst/>
          </a:prstGeom>
          <a:ln w="19050">
            <a:solidFill>
              <a:srgbClr val="0E7C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line-194"/>
          <p:cNvSpPr/>
          <p:nvPr/>
        </p:nvSpPr>
        <p:spPr>
          <a:xfrm>
            <a:off x="2240280" y="4846320"/>
            <a:ext cx="7710840" cy="360"/>
          </a:xfrm>
          <a:prstGeom prst="line">
            <a:avLst/>
          </a:prstGeom>
          <a:ln w="19050">
            <a:solidFill>
              <a:srgbClr val="0E7C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line-195"/>
          <p:cNvSpPr/>
          <p:nvPr/>
        </p:nvSpPr>
        <p:spPr>
          <a:xfrm>
            <a:off x="2240280" y="4480560"/>
            <a:ext cx="360" cy="365760"/>
          </a:xfrm>
          <a:prstGeom prst="line">
            <a:avLst/>
          </a:prstGeom>
          <a:ln w="19050">
            <a:solidFill>
              <a:srgbClr val="0E7C66"/>
            </a:solidFill>
            <a:prstDash val="dash"/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-196"/>
          <p:cNvSpPr/>
          <p:nvPr/>
        </p:nvSpPr>
        <p:spPr>
          <a:xfrm>
            <a:off x="4023360" y="4690800"/>
            <a:ext cx="4141800" cy="3106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čo zistíme pri monitorovaní, vrátime späť do plánu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-198"/>
          <p:cNvSpPr/>
          <p:nvPr/>
        </p:nvSpPr>
        <p:spPr>
          <a:xfrm>
            <a:off x="822960" y="5349240"/>
            <a:ext cx="10545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0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9714D7-58CA-457B-80EE-2390197755D2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02 – AKO KOMUNIKÁCIU RIADIŤ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Komunikačný plán môže byť jednoduchá tabuľka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29" name="plan-table"/>
          <p:cNvGraphicFramePr/>
          <p:nvPr/>
        </p:nvGraphicFramePr>
        <p:xfrm>
          <a:off x="548640" y="1600200"/>
          <a:ext cx="11091240" cy="2377080"/>
        </p:xfrm>
        <a:graphic>
          <a:graphicData uri="http://schemas.openxmlformats.org/drawingml/2006/table">
            <a:tbl>
              <a:tblPr/>
              <a:tblGrid>
                <a:gridCol w="2331720"/>
                <a:gridCol w="3108960"/>
                <a:gridCol w="1783080"/>
                <a:gridCol w="2194560"/>
                <a:gridCol w="1673280"/>
              </a:tblGrid>
              <a:tr h="47520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Kto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Čo potrebuje vedieť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Ako často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Kanál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Kto zodpovedá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7520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Sponzor a vedenie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stav, riziká, čo treba rozhodnúť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raz za 2 týždne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krátky report + stretnutie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projektový manažér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7520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Klient / Product Owner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čo je hotové, čo sa mení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každý šprint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demo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Product Owner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7520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Vývojári a testeri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úlohy, blokery, chyby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denne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daily, Jira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celý tím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7520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Prevádzka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čo a kedy sa nasadí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pri každom vydaní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release notes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tech lead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CFE3DC"/>
                      </a:solidFill>
                      <a:prstDash val="solid"/>
                    </a:lnL>
                    <a:lnR w="9360">
                      <a:solidFill>
                        <a:srgbClr val="CFE3DC"/>
                      </a:solidFill>
                      <a:prstDash val="solid"/>
                    </a:lnR>
                    <a:lnT w="9360">
                      <a:solidFill>
                        <a:srgbClr val="CFE3DC"/>
                      </a:solidFill>
                      <a:prstDash val="solid"/>
                    </a:lnT>
                    <a:lnB w="9360">
                      <a:solidFill>
                        <a:srgbClr val="CFE3DC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0" name="card-199"/>
          <p:cNvSpPr/>
          <p:nvPr/>
        </p:nvSpPr>
        <p:spPr>
          <a:xfrm>
            <a:off x="548640" y="4572000"/>
            <a:ext cx="5409720" cy="13712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-200"/>
          <p:cNvSpPr/>
          <p:nvPr/>
        </p:nvSpPr>
        <p:spPr>
          <a:xfrm>
            <a:off x="822960" y="4754880"/>
            <a:ext cx="486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Začína sa od ľudí, nie od nástrojov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-201"/>
          <p:cNvSpPr/>
          <p:nvPr/>
        </p:nvSpPr>
        <p:spPr>
          <a:xfrm>
            <a:off x="822960" y="5193720"/>
            <a:ext cx="4861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Najprv: kto čo potrebuje. Až potom: Teams, Jira alebo e-mail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card-202"/>
          <p:cNvSpPr/>
          <p:nvPr/>
        </p:nvSpPr>
        <p:spPr>
          <a:xfrm>
            <a:off x="6233040" y="4572000"/>
            <a:ext cx="5409720" cy="13712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-203"/>
          <p:cNvSpPr/>
          <p:nvPr/>
        </p:nvSpPr>
        <p:spPr>
          <a:xfrm>
            <a:off x="6507360" y="4754880"/>
            <a:ext cx="486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Obsahuje aj eskalačnú cestu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-204"/>
          <p:cNvSpPr/>
          <p:nvPr/>
        </p:nvSpPr>
        <p:spPr>
          <a:xfrm>
            <a:off x="6507360" y="5193720"/>
            <a:ext cx="4861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Keď sa niečo zasekne, každý vie, komu to povedať a dokedy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1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F0E659-9EF5-4F6A-8138-275B3D1FDD0D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02 – AKO KOMUNIKÁCIU RIADIŤ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Každý v projekte hovorí trochu iným jazykom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line-205"/>
          <p:cNvSpPr/>
          <p:nvPr/>
        </p:nvSpPr>
        <p:spPr>
          <a:xfrm>
            <a:off x="4480560" y="2491560"/>
            <a:ext cx="3230280" cy="360"/>
          </a:xfrm>
          <a:prstGeom prst="line">
            <a:avLst/>
          </a:prstGeom>
          <a:ln w="3175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card-206"/>
          <p:cNvSpPr/>
          <p:nvPr/>
        </p:nvSpPr>
        <p:spPr>
          <a:xfrm>
            <a:off x="548640" y="1645920"/>
            <a:ext cx="3931560" cy="16912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-207"/>
          <p:cNvSpPr/>
          <p:nvPr/>
        </p:nvSpPr>
        <p:spPr>
          <a:xfrm>
            <a:off x="822960" y="187452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chemeClr val="accent5"/>
                </a:solidFill>
                <a:effectLst/>
                <a:uFillTx/>
                <a:latin typeface="Calibri"/>
              </a:rPr>
              <a:t>KLIENT POVIE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-208"/>
          <p:cNvSpPr/>
          <p:nvPr/>
        </p:nvSpPr>
        <p:spPr>
          <a:xfrm>
            <a:off x="822960" y="2212920"/>
            <a:ext cx="3382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„Chceme, aby si zákazník vedel sám stiahnuť faktúru.“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card-209"/>
          <p:cNvSpPr/>
          <p:nvPr/>
        </p:nvSpPr>
        <p:spPr>
          <a:xfrm>
            <a:off x="7711200" y="1645920"/>
            <a:ext cx="3931560" cy="1691280"/>
          </a:xfrm>
          <a:prstGeom prst="roundRect">
            <a:avLst>
              <a:gd name="adj" fmla="val 4324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-210"/>
          <p:cNvSpPr/>
          <p:nvPr/>
        </p:nvSpPr>
        <p:spPr>
          <a:xfrm>
            <a:off x="7985520" y="187452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chemeClr val="accent1"/>
                </a:solidFill>
                <a:effectLst/>
                <a:uFillTx/>
                <a:latin typeface="Calibri"/>
              </a:rPr>
              <a:t>VÝVOJÁR DOSTANE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-211"/>
          <p:cNvSpPr/>
          <p:nvPr/>
        </p:nvSpPr>
        <p:spPr>
          <a:xfrm>
            <a:off x="7985520" y="2212920"/>
            <a:ext cx="3382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„Tlačidlo Stiahnuť PDF pri každej faktúre v profile zákazníka.“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card-212"/>
          <p:cNvSpPr/>
          <p:nvPr/>
        </p:nvSpPr>
        <p:spPr>
          <a:xfrm>
            <a:off x="4907160" y="2034720"/>
            <a:ext cx="2377080" cy="91404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-213"/>
          <p:cNvSpPr/>
          <p:nvPr/>
        </p:nvSpPr>
        <p:spPr>
          <a:xfrm>
            <a:off x="4907160" y="203472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Product Owner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prekladá cieľ do úlohy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line-214"/>
          <p:cNvSpPr/>
          <p:nvPr/>
        </p:nvSpPr>
        <p:spPr>
          <a:xfrm>
            <a:off x="4480560" y="4457520"/>
            <a:ext cx="3230280" cy="360"/>
          </a:xfrm>
          <a:prstGeom prst="line">
            <a:avLst/>
          </a:prstGeom>
          <a:ln w="3175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card-215"/>
          <p:cNvSpPr/>
          <p:nvPr/>
        </p:nvSpPr>
        <p:spPr>
          <a:xfrm>
            <a:off x="548640" y="3611880"/>
            <a:ext cx="3931560" cy="16912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-216"/>
          <p:cNvSpPr/>
          <p:nvPr/>
        </p:nvSpPr>
        <p:spPr>
          <a:xfrm>
            <a:off x="822960" y="38404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chemeClr val="accent5"/>
                </a:solidFill>
                <a:effectLst/>
                <a:uFillTx/>
                <a:latin typeface="Calibri"/>
              </a:rPr>
              <a:t>VÝVOJÁR POVIE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-217"/>
          <p:cNvSpPr/>
          <p:nvPr/>
        </p:nvSpPr>
        <p:spPr>
          <a:xfrm>
            <a:off x="822960" y="4178880"/>
            <a:ext cx="3382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„Platobný modul má veľký technický dlh.“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card-218"/>
          <p:cNvSpPr/>
          <p:nvPr/>
        </p:nvSpPr>
        <p:spPr>
          <a:xfrm>
            <a:off x="7711200" y="3611880"/>
            <a:ext cx="3931560" cy="1691280"/>
          </a:xfrm>
          <a:prstGeom prst="roundRect">
            <a:avLst>
              <a:gd name="adj" fmla="val 4324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-219"/>
          <p:cNvSpPr/>
          <p:nvPr/>
        </p:nvSpPr>
        <p:spPr>
          <a:xfrm>
            <a:off x="7985520" y="384048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chemeClr val="accent1"/>
                </a:solidFill>
                <a:effectLst/>
                <a:uFillTx/>
                <a:latin typeface="Calibri"/>
              </a:rPr>
              <a:t>VEDENIE POČUJE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-220"/>
          <p:cNvSpPr/>
          <p:nvPr/>
        </p:nvSpPr>
        <p:spPr>
          <a:xfrm>
            <a:off x="7985520" y="4178880"/>
            <a:ext cx="3382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„Bez dvoch týždňov na opravu bude každá zmena platieb pomalšia a rizikovejšia.“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card-221"/>
          <p:cNvSpPr/>
          <p:nvPr/>
        </p:nvSpPr>
        <p:spPr>
          <a:xfrm>
            <a:off x="4907160" y="4000680"/>
            <a:ext cx="2377080" cy="91404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-222"/>
          <p:cNvSpPr/>
          <p:nvPr/>
        </p:nvSpPr>
        <p:spPr>
          <a:xfrm>
            <a:off x="4907160" y="400068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Projektový manažér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prekladá stav do dopadu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2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B95913-BA7A-4E98-BEDB-3837ED3343AB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02 – AKO KOMUNIKÁCIU RIADIŤ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Tri typické bariéry a ako ich obísť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-225"/>
          <p:cNvSpPr/>
          <p:nvPr/>
        </p:nvSpPr>
        <p:spPr>
          <a:xfrm>
            <a:off x="822960" y="155448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Bariéra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-226"/>
          <p:cNvSpPr/>
          <p:nvPr/>
        </p:nvSpPr>
        <p:spPr>
          <a:xfrm>
            <a:off x="4023360" y="155448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Ako to znie v praxi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-227"/>
          <p:cNvSpPr/>
          <p:nvPr/>
        </p:nvSpPr>
        <p:spPr>
          <a:xfrm>
            <a:off x="7726680" y="15544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Čo pomôže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card-228"/>
          <p:cNvSpPr/>
          <p:nvPr/>
        </p:nvSpPr>
        <p:spPr>
          <a:xfrm>
            <a:off x="548640" y="1920240"/>
            <a:ext cx="11094120" cy="10238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dot-229"/>
          <p:cNvSpPr/>
          <p:nvPr/>
        </p:nvSpPr>
        <p:spPr>
          <a:xfrm>
            <a:off x="822960" y="2221920"/>
            <a:ext cx="420120" cy="4201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-230"/>
          <p:cNvSpPr/>
          <p:nvPr/>
        </p:nvSpPr>
        <p:spPr>
          <a:xfrm>
            <a:off x="1417320" y="1920240"/>
            <a:ext cx="237708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Nejasné zadanie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-231"/>
          <p:cNvSpPr/>
          <p:nvPr/>
        </p:nvSpPr>
        <p:spPr>
          <a:xfrm>
            <a:off x="4023360" y="1920240"/>
            <a:ext cx="34286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„Veď je jasné, čo chceme.“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-232"/>
          <p:cNvSpPr/>
          <p:nvPr/>
        </p:nvSpPr>
        <p:spPr>
          <a:xfrm>
            <a:off x="7726680" y="1920240"/>
            <a:ext cx="36572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Akceptačné kritériá s konkrétnym príkladom, prototyp a demo po každom šprinte.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card-233"/>
          <p:cNvSpPr/>
          <p:nvPr/>
        </p:nvSpPr>
        <p:spPr>
          <a:xfrm>
            <a:off x="548640" y="3108960"/>
            <a:ext cx="11094120" cy="10238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dot-234"/>
          <p:cNvSpPr/>
          <p:nvPr/>
        </p:nvSpPr>
        <p:spPr>
          <a:xfrm>
            <a:off x="822960" y="3410640"/>
            <a:ext cx="420120" cy="4201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-235"/>
          <p:cNvSpPr/>
          <p:nvPr/>
        </p:nvSpPr>
        <p:spPr>
          <a:xfrm>
            <a:off x="1417320" y="3108960"/>
            <a:ext cx="237708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Technický text pre vedenie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-236"/>
          <p:cNvSpPr/>
          <p:nvPr/>
        </p:nvSpPr>
        <p:spPr>
          <a:xfrm>
            <a:off x="4023360" y="3108960"/>
            <a:ext cx="34286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„Padá nám migrácia DB a CI pipeline je červená.“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-237"/>
          <p:cNvSpPr/>
          <p:nvPr/>
        </p:nvSpPr>
        <p:spPr>
          <a:xfrm>
            <a:off x="7726680" y="3108960"/>
            <a:ext cx="36572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Povedať dopad a čo treba rozhodnúť: „Vydanie sa posunie o týždeň, potrebujeme vaše áno.“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card-238"/>
          <p:cNvSpPr/>
          <p:nvPr/>
        </p:nvSpPr>
        <p:spPr>
          <a:xfrm>
            <a:off x="548640" y="4297680"/>
            <a:ext cx="11094120" cy="10238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dot-239"/>
          <p:cNvSpPr/>
          <p:nvPr/>
        </p:nvSpPr>
        <p:spPr>
          <a:xfrm>
            <a:off x="822960" y="4599360"/>
            <a:ext cx="420120" cy="4201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-240"/>
          <p:cNvSpPr/>
          <p:nvPr/>
        </p:nvSpPr>
        <p:spPr>
          <a:xfrm>
            <a:off x="1417320" y="4297680"/>
            <a:ext cx="237708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Chýbajúca spätná väzba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-241"/>
          <p:cNvSpPr/>
          <p:nvPr/>
        </p:nvSpPr>
        <p:spPr>
          <a:xfrm>
            <a:off x="4023360" y="4297680"/>
            <a:ext cx="34286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„Myslel som, že to už niekto otestoval.“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-242"/>
          <p:cNvSpPr/>
          <p:nvPr/>
        </p:nvSpPr>
        <p:spPr>
          <a:xfrm>
            <a:off x="7726680" y="4297680"/>
            <a:ext cx="36572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Zopakovať zadanie vlastnými slovami, uzatvárať tickety a nebáť sa povedať zlú správu.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-244"/>
          <p:cNvSpPr/>
          <p:nvPr/>
        </p:nvSpPr>
        <p:spPr>
          <a:xfrm>
            <a:off x="822960" y="5577840"/>
            <a:ext cx="1054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3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C4A1F4-1AE1-48F1-92FB-7BC25640A897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03 – KANCELÁRIA PROJEKTOVÉHO MANAŽMENTU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Kancelária projektového manažmentu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card-245"/>
          <p:cNvSpPr/>
          <p:nvPr/>
        </p:nvSpPr>
        <p:spPr>
          <a:xfrm>
            <a:off x="548640" y="1600200"/>
            <a:ext cx="5120280" cy="443448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line-246"/>
          <p:cNvSpPr/>
          <p:nvPr/>
        </p:nvSpPr>
        <p:spPr>
          <a:xfrm>
            <a:off x="1508760" y="2286000"/>
            <a:ext cx="1600200" cy="1051560"/>
          </a:xfrm>
          <a:prstGeom prst="line">
            <a:avLst/>
          </a:prstGeom>
          <a:ln w="25400">
            <a:solidFill>
              <a:srgbClr val="0E7C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line-247"/>
          <p:cNvSpPr/>
          <p:nvPr/>
        </p:nvSpPr>
        <p:spPr>
          <a:xfrm flipH="1">
            <a:off x="3108960" y="2286000"/>
            <a:ext cx="1600200" cy="1051560"/>
          </a:xfrm>
          <a:prstGeom prst="line">
            <a:avLst/>
          </a:prstGeom>
          <a:ln w="25400">
            <a:solidFill>
              <a:srgbClr val="0E7C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line-248"/>
          <p:cNvSpPr/>
          <p:nvPr/>
        </p:nvSpPr>
        <p:spPr>
          <a:xfrm>
            <a:off x="3108960" y="3337560"/>
            <a:ext cx="360" cy="1325880"/>
          </a:xfrm>
          <a:prstGeom prst="line">
            <a:avLst/>
          </a:prstGeom>
          <a:ln w="25400">
            <a:solidFill>
              <a:srgbClr val="0E7C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card-249"/>
          <p:cNvSpPr/>
          <p:nvPr/>
        </p:nvSpPr>
        <p:spPr>
          <a:xfrm>
            <a:off x="777240" y="1938600"/>
            <a:ext cx="1462680" cy="69444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-250"/>
          <p:cNvSpPr/>
          <p:nvPr/>
        </p:nvSpPr>
        <p:spPr>
          <a:xfrm>
            <a:off x="777240" y="1938600"/>
            <a:ext cx="14626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Projekt 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card-251"/>
          <p:cNvSpPr/>
          <p:nvPr/>
        </p:nvSpPr>
        <p:spPr>
          <a:xfrm>
            <a:off x="3977640" y="1938600"/>
            <a:ext cx="1462680" cy="69444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-252"/>
          <p:cNvSpPr/>
          <p:nvPr/>
        </p:nvSpPr>
        <p:spPr>
          <a:xfrm>
            <a:off x="3977640" y="1938600"/>
            <a:ext cx="14626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Projekt 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card-253"/>
          <p:cNvSpPr/>
          <p:nvPr/>
        </p:nvSpPr>
        <p:spPr>
          <a:xfrm>
            <a:off x="2377440" y="4316040"/>
            <a:ext cx="1462680" cy="69444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-254"/>
          <p:cNvSpPr/>
          <p:nvPr/>
        </p:nvSpPr>
        <p:spPr>
          <a:xfrm>
            <a:off x="2377440" y="4316040"/>
            <a:ext cx="14626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Projekt 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dot-255"/>
          <p:cNvSpPr/>
          <p:nvPr/>
        </p:nvSpPr>
        <p:spPr>
          <a:xfrm>
            <a:off x="2541960" y="2770560"/>
            <a:ext cx="1133640" cy="1133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PMO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-256"/>
          <p:cNvSpPr/>
          <p:nvPr/>
        </p:nvSpPr>
        <p:spPr>
          <a:xfrm>
            <a:off x="822960" y="516636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-257"/>
          <p:cNvSpPr/>
          <p:nvPr/>
        </p:nvSpPr>
        <p:spPr>
          <a:xfrm>
            <a:off x="6126480" y="1600200"/>
            <a:ext cx="5513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Kancelária projektového manažmentu (PMO) 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je útvar, ktorý zjednocuje, ako sa v organizácii riadia projekty, a podporuje ich metodikou, nástrojmi a ľuďmi.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card-258"/>
          <p:cNvSpPr/>
          <p:nvPr/>
        </p:nvSpPr>
        <p:spPr>
          <a:xfrm>
            <a:off x="6126480" y="2606040"/>
            <a:ext cx="2651400" cy="15724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-259"/>
          <p:cNvSpPr/>
          <p:nvPr/>
        </p:nvSpPr>
        <p:spPr>
          <a:xfrm>
            <a:off x="6355080" y="27889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Spoločný jazyk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-260"/>
          <p:cNvSpPr/>
          <p:nvPr/>
        </p:nvSpPr>
        <p:spPr>
          <a:xfrm>
            <a:off x="6355080" y="320040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rovnaké šablóny a rovnaký význam „zeleného“ stavu vo všetkých projektoch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card-261"/>
          <p:cNvSpPr/>
          <p:nvPr/>
        </p:nvSpPr>
        <p:spPr>
          <a:xfrm>
            <a:off x="8988480" y="2606040"/>
            <a:ext cx="2651400" cy="15724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-262"/>
          <p:cNvSpPr/>
          <p:nvPr/>
        </p:nvSpPr>
        <p:spPr>
          <a:xfrm>
            <a:off x="9217080" y="27889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Zdieľaní ľudia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-263"/>
          <p:cNvSpPr/>
          <p:nvPr/>
        </p:nvSpPr>
        <p:spPr>
          <a:xfrm>
            <a:off x="9217080" y="320040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prehľad, kto na čom robí, aby si projekty nebrali toho istého človeka naraz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card-264"/>
          <p:cNvSpPr/>
          <p:nvPr/>
        </p:nvSpPr>
        <p:spPr>
          <a:xfrm>
            <a:off x="6126480" y="4389120"/>
            <a:ext cx="2651400" cy="15724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-265"/>
          <p:cNvSpPr/>
          <p:nvPr/>
        </p:nvSpPr>
        <p:spPr>
          <a:xfrm>
            <a:off x="6355080" y="45720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Jeden prehľad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-266"/>
          <p:cNvSpPr/>
          <p:nvPr/>
        </p:nvSpPr>
        <p:spPr>
          <a:xfrm>
            <a:off x="6355080" y="498348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porovnateľné správy zo všetkých projektov na jednom mieste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card-267"/>
          <p:cNvSpPr/>
          <p:nvPr/>
        </p:nvSpPr>
        <p:spPr>
          <a:xfrm>
            <a:off x="8988480" y="4389120"/>
            <a:ext cx="2651400" cy="15724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-268"/>
          <p:cNvSpPr/>
          <p:nvPr/>
        </p:nvSpPr>
        <p:spPr>
          <a:xfrm>
            <a:off x="9217080" y="45720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Poučenia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-269"/>
          <p:cNvSpPr/>
          <p:nvPr/>
        </p:nvSpPr>
        <p:spPr>
          <a:xfrm>
            <a:off x="9217080" y="498348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čo sa naučil jeden projekt, ďalší už nemusí opakovať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4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D66046-4C02-4B67-8A88-F72984F1A9F5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03 – KANCELÁRIA PROJEKTOVÉHO MANAŽMENTU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Tri typy PMO sa líšia tým, koľko kontrolujú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0" name="card-273"/>
          <p:cNvSpPr/>
          <p:nvPr/>
        </p:nvSpPr>
        <p:spPr>
          <a:xfrm>
            <a:off x="548640" y="1965960"/>
            <a:ext cx="3511080" cy="416016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-274"/>
          <p:cNvSpPr/>
          <p:nvPr/>
        </p:nvSpPr>
        <p:spPr>
          <a:xfrm>
            <a:off x="822960" y="2194560"/>
            <a:ext cx="296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Podporné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-275"/>
          <p:cNvSpPr/>
          <p:nvPr/>
        </p:nvSpPr>
        <p:spPr>
          <a:xfrm>
            <a:off x="822960" y="2624400"/>
            <a:ext cx="296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accent2"/>
                </a:solidFill>
                <a:effectLst/>
                <a:uFillTx/>
                <a:latin typeface="Cambria"/>
                <a:ea typeface="Cambria"/>
              </a:rPr>
              <a:t>ako poradca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-276"/>
          <p:cNvSpPr/>
          <p:nvPr/>
        </p:nvSpPr>
        <p:spPr>
          <a:xfrm>
            <a:off x="822960" y="3063240"/>
            <a:ext cx="296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Ponúka šablóny, školenia a rady. Nikoho do ničoho nenúti.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-277"/>
          <p:cNvSpPr/>
          <p:nvPr/>
        </p:nvSpPr>
        <p:spPr>
          <a:xfrm>
            <a:off x="822960" y="4023360"/>
            <a:ext cx="2962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Kedy sa hodí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málo projektov, skúsení manažéri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Na čo si dať pozor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bez autority ho nikto nepočúva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card-278"/>
          <p:cNvSpPr/>
          <p:nvPr/>
        </p:nvSpPr>
        <p:spPr>
          <a:xfrm>
            <a:off x="4340160" y="1965960"/>
            <a:ext cx="3511080" cy="4160160"/>
          </a:xfrm>
          <a:prstGeom prst="roundRect">
            <a:avLst>
              <a:gd name="adj" fmla="val 2083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-279"/>
          <p:cNvSpPr/>
          <p:nvPr/>
        </p:nvSpPr>
        <p:spPr>
          <a:xfrm>
            <a:off x="4614480" y="2194560"/>
            <a:ext cx="296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Riadiace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-280"/>
          <p:cNvSpPr/>
          <p:nvPr/>
        </p:nvSpPr>
        <p:spPr>
          <a:xfrm>
            <a:off x="4614480" y="2624400"/>
            <a:ext cx="296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accent2"/>
                </a:solidFill>
                <a:effectLst/>
                <a:uFillTx/>
                <a:latin typeface="Cambria"/>
                <a:ea typeface="Cambria"/>
              </a:rPr>
              <a:t>ako rozhodca s pravidlami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-281"/>
          <p:cNvSpPr/>
          <p:nvPr/>
        </p:nvSpPr>
        <p:spPr>
          <a:xfrm>
            <a:off x="4614480" y="3063240"/>
            <a:ext cx="296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Vyžaduje spoločnú metodiku a jednotné reporty a kontroluje ich.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-282"/>
          <p:cNvSpPr/>
          <p:nvPr/>
        </p:nvSpPr>
        <p:spPr>
          <a:xfrm>
            <a:off x="4614480" y="4023360"/>
            <a:ext cx="2962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Kedy sa hodí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projekty si delia ľudí, vedenie chce porovnateľný prehľad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Na čo si dať pozor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ľahko z neho vznikne byrokracia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card-283"/>
          <p:cNvSpPr/>
          <p:nvPr/>
        </p:nvSpPr>
        <p:spPr>
          <a:xfrm>
            <a:off x="8131680" y="1965960"/>
            <a:ext cx="3511080" cy="4160160"/>
          </a:xfrm>
          <a:prstGeom prst="roundRect">
            <a:avLst>
              <a:gd name="adj" fmla="val 2083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-284"/>
          <p:cNvSpPr/>
          <p:nvPr/>
        </p:nvSpPr>
        <p:spPr>
          <a:xfrm>
            <a:off x="8406000" y="2194560"/>
            <a:ext cx="296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Direktívne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-285"/>
          <p:cNvSpPr/>
          <p:nvPr/>
        </p:nvSpPr>
        <p:spPr>
          <a:xfrm>
            <a:off x="8406000" y="2624400"/>
            <a:ext cx="296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accent4"/>
                </a:solidFill>
                <a:effectLst/>
                <a:uFillTx/>
                <a:latin typeface="Cambria"/>
                <a:ea typeface="Cambria"/>
              </a:rPr>
              <a:t>ako kapitán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-286"/>
          <p:cNvSpPr/>
          <p:nvPr/>
        </p:nvSpPr>
        <p:spPr>
          <a:xfrm>
            <a:off x="8406000" y="3063240"/>
            <a:ext cx="296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Projekty priamo riadi, manažéri patria pod neho.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-287"/>
          <p:cNvSpPr/>
          <p:nvPr/>
        </p:nvSpPr>
        <p:spPr>
          <a:xfrm>
            <a:off x="8406000" y="4023360"/>
            <a:ext cx="2962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Kedy sa hodí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strategické a veľmi rizikové projekty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Na čo si dať pozor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drahé, môže sa stať úzkym hrdlom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5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3CF577-4D0C-4929-926F-1CF289C09FBC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03 – KANCELÁRIA PROJEKTOVÉHO MANAŽMENTU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Príklad: jeden tester a tri projekty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-288"/>
          <p:cNvSpPr/>
          <p:nvPr/>
        </p:nvSpPr>
        <p:spPr>
          <a:xfrm>
            <a:off x="548640" y="1600200"/>
            <a:ext cx="5028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Vymyslená firma má tri projekty a jedného bezpečnostného testera. Každý manažér ho plánuje, akoby bol len jeho – a všetky tri termíny padnú na ten istý týždeň.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line-289"/>
          <p:cNvSpPr/>
          <p:nvPr/>
        </p:nvSpPr>
        <p:spPr>
          <a:xfrm>
            <a:off x="1325880" y="3611880"/>
            <a:ext cx="1737360" cy="822960"/>
          </a:xfrm>
          <a:prstGeom prst="line">
            <a:avLst/>
          </a:prstGeom>
          <a:ln w="22225">
            <a:solidFill>
              <a:srgbClr val="D97A1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card-290"/>
          <p:cNvSpPr/>
          <p:nvPr/>
        </p:nvSpPr>
        <p:spPr>
          <a:xfrm>
            <a:off x="594360" y="3154680"/>
            <a:ext cx="1462680" cy="5482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-291"/>
          <p:cNvSpPr/>
          <p:nvPr/>
        </p:nvSpPr>
        <p:spPr>
          <a:xfrm>
            <a:off x="594360" y="315468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Projekt 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line-292"/>
          <p:cNvSpPr/>
          <p:nvPr/>
        </p:nvSpPr>
        <p:spPr>
          <a:xfrm>
            <a:off x="3063240" y="3611880"/>
            <a:ext cx="360" cy="822960"/>
          </a:xfrm>
          <a:prstGeom prst="line">
            <a:avLst/>
          </a:prstGeom>
          <a:ln w="22225">
            <a:solidFill>
              <a:srgbClr val="D97A1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card-293"/>
          <p:cNvSpPr/>
          <p:nvPr/>
        </p:nvSpPr>
        <p:spPr>
          <a:xfrm>
            <a:off x="2331720" y="3154680"/>
            <a:ext cx="1462680" cy="5482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-294"/>
          <p:cNvSpPr/>
          <p:nvPr/>
        </p:nvSpPr>
        <p:spPr>
          <a:xfrm>
            <a:off x="2331720" y="315468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Projekt 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line-295"/>
          <p:cNvSpPr/>
          <p:nvPr/>
        </p:nvSpPr>
        <p:spPr>
          <a:xfrm flipH="1">
            <a:off x="3063240" y="3611880"/>
            <a:ext cx="1737360" cy="822960"/>
          </a:xfrm>
          <a:prstGeom prst="line">
            <a:avLst/>
          </a:prstGeom>
          <a:ln w="22225">
            <a:solidFill>
              <a:srgbClr val="D97A1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card-296"/>
          <p:cNvSpPr/>
          <p:nvPr/>
        </p:nvSpPr>
        <p:spPr>
          <a:xfrm>
            <a:off x="4069080" y="3154680"/>
            <a:ext cx="1462680" cy="5482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-297"/>
          <p:cNvSpPr/>
          <p:nvPr/>
        </p:nvSpPr>
        <p:spPr>
          <a:xfrm>
            <a:off x="4069080" y="315468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Projekt 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card-298"/>
          <p:cNvSpPr/>
          <p:nvPr/>
        </p:nvSpPr>
        <p:spPr>
          <a:xfrm>
            <a:off x="1965960" y="4434840"/>
            <a:ext cx="2194200" cy="82260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9050">
            <a:solidFill>
              <a:srgbClr val="D97A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-299"/>
          <p:cNvSpPr/>
          <p:nvPr/>
        </p:nvSpPr>
        <p:spPr>
          <a:xfrm>
            <a:off x="1965960" y="443484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Bezpečnostný tester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3 projekty, 1 týždeň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card-300"/>
          <p:cNvSpPr/>
          <p:nvPr/>
        </p:nvSpPr>
        <p:spPr>
          <a:xfrm>
            <a:off x="6035040" y="1600200"/>
            <a:ext cx="5604840" cy="1115280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-301"/>
          <p:cNvSpPr/>
          <p:nvPr/>
        </p:nvSpPr>
        <p:spPr>
          <a:xfrm>
            <a:off x="6309360" y="173736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Podporné PMO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-302"/>
          <p:cNvSpPr/>
          <p:nvPr/>
        </p:nvSpPr>
        <p:spPr>
          <a:xfrm>
            <a:off x="6309360" y="2103120"/>
            <a:ext cx="512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Poradí plánovať testy skôr. Konflikt však nevyrieši – nikto nemusí poslúchnuť.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card-303"/>
          <p:cNvSpPr/>
          <p:nvPr/>
        </p:nvSpPr>
        <p:spPr>
          <a:xfrm>
            <a:off x="6035040" y="2898720"/>
            <a:ext cx="5604840" cy="1115280"/>
          </a:xfrm>
          <a:prstGeom prst="roundRect">
            <a:avLst>
              <a:gd name="adj" fmla="val 655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-304"/>
          <p:cNvSpPr/>
          <p:nvPr/>
        </p:nvSpPr>
        <p:spPr>
          <a:xfrm>
            <a:off x="6309360" y="303588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Riadiace PMO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-305"/>
          <p:cNvSpPr/>
          <p:nvPr/>
        </p:nvSpPr>
        <p:spPr>
          <a:xfrm>
            <a:off x="6309360" y="3401640"/>
            <a:ext cx="512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Zavedie spoločný kalendár zdieľaných ľudí. O prioritách rozhodne vedenie podľa podkladov od PMO.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card-306"/>
          <p:cNvSpPr/>
          <p:nvPr/>
        </p:nvSpPr>
        <p:spPr>
          <a:xfrm>
            <a:off x="6035040" y="4197240"/>
            <a:ext cx="5604840" cy="1115280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-307"/>
          <p:cNvSpPr/>
          <p:nvPr/>
        </p:nvSpPr>
        <p:spPr>
          <a:xfrm>
            <a:off x="6309360" y="433440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Direktívne PMO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-308"/>
          <p:cNvSpPr/>
          <p:nvPr/>
        </p:nvSpPr>
        <p:spPr>
          <a:xfrm>
            <a:off x="6309360" y="4700160"/>
            <a:ext cx="512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Vyriešilo by to tiež, ale kvôli trom projektom je to zbytočne drahé.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-309"/>
          <p:cNvSpPr/>
          <p:nvPr/>
        </p:nvSpPr>
        <p:spPr>
          <a:xfrm>
            <a:off x="6035040" y="5577840"/>
            <a:ext cx="560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Záver: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typ PMO sa vyberá podľa problému, ktorý má riešiť.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6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795247-075B-471F-B22E-11FB5CDB012F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hasCustomPrompt="1"/>
          </p:nvPr>
        </p:nvSpPr>
        <p:spPr>
          <a:xfrm>
            <a:off x="548640" y="5029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ZHRNUTIE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822960"/>
            <a:ext cx="1109412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Čo si z toho odniesť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3" name="dot-310"/>
          <p:cNvSpPr/>
          <p:nvPr/>
        </p:nvSpPr>
        <p:spPr>
          <a:xfrm>
            <a:off x="548640" y="2011680"/>
            <a:ext cx="685440" cy="6854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-311"/>
          <p:cNvSpPr/>
          <p:nvPr/>
        </p:nvSpPr>
        <p:spPr>
          <a:xfrm>
            <a:off x="548640" y="2926080"/>
            <a:ext cx="3511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accent4"/>
                </a:solidFill>
                <a:effectLst/>
                <a:uFillTx/>
                <a:latin typeface="Cambria"/>
                <a:ea typeface="Cambria"/>
              </a:rPr>
              <a:t>Cieľom je porozumenie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-312"/>
          <p:cNvSpPr/>
          <p:nvPr/>
        </p:nvSpPr>
        <p:spPr>
          <a:xfrm>
            <a:off x="548640" y="3429000"/>
            <a:ext cx="3328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Správa splnila účel, až keď ju príjemca pochopí a vie podľa nej konať.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dot-313"/>
          <p:cNvSpPr/>
          <p:nvPr/>
        </p:nvSpPr>
        <p:spPr>
          <a:xfrm>
            <a:off x="4340160" y="2011680"/>
            <a:ext cx="685440" cy="6854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-314"/>
          <p:cNvSpPr/>
          <p:nvPr/>
        </p:nvSpPr>
        <p:spPr>
          <a:xfrm>
            <a:off x="4340160" y="2926080"/>
            <a:ext cx="3511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accent4"/>
                </a:solidFill>
                <a:effectLst/>
                <a:uFillTx/>
                <a:latin typeface="Cambria"/>
                <a:ea typeface="Cambria"/>
              </a:rPr>
              <a:t>Riadi sa vedome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-315"/>
          <p:cNvSpPr/>
          <p:nvPr/>
        </p:nvSpPr>
        <p:spPr>
          <a:xfrm>
            <a:off x="4340160" y="3429000"/>
            <a:ext cx="3328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Plán podľa potrieb ľudí, každodenné riadenie a pravidelná kontrola, či to funguje.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dot-316"/>
          <p:cNvSpPr/>
          <p:nvPr/>
        </p:nvSpPr>
        <p:spPr>
          <a:xfrm>
            <a:off x="8131680" y="2011680"/>
            <a:ext cx="685440" cy="6854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-317"/>
          <p:cNvSpPr/>
          <p:nvPr/>
        </p:nvSpPr>
        <p:spPr>
          <a:xfrm>
            <a:off x="8131680" y="2926080"/>
            <a:ext cx="3511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accent4"/>
                </a:solidFill>
                <a:effectLst/>
                <a:uFillTx/>
                <a:latin typeface="Cambria"/>
                <a:ea typeface="Cambria"/>
              </a:rPr>
              <a:t>PMO drží celok pokope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-318"/>
          <p:cNvSpPr/>
          <p:nvPr/>
        </p:nvSpPr>
        <p:spPr>
          <a:xfrm>
            <a:off x="8131680" y="3429000"/>
            <a:ext cx="3328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Zjednocuje jazyk a prehľad naprieč projektmi. Jeho typ volíme podľa problému.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card-319"/>
          <p:cNvSpPr/>
          <p:nvPr/>
        </p:nvSpPr>
        <p:spPr>
          <a:xfrm>
            <a:off x="548640" y="4983480"/>
            <a:ext cx="11094120" cy="959760"/>
          </a:xfrm>
          <a:prstGeom prst="roundRect">
            <a:avLst>
              <a:gd name="adj" fmla="val 7619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-320"/>
          <p:cNvSpPr/>
          <p:nvPr/>
        </p:nvSpPr>
        <p:spPr>
          <a:xfrm>
            <a:off x="868680" y="4983480"/>
            <a:ext cx="10454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Nástroje ani porady samy osebe komunikáciu nezaručia. Zaručia ju ľudia, ktorí si overujú, že si rozumejú.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7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02B7A5-545D-457C-BADD-2CA1D26393AA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hasCustomPrompt="1"/>
          </p:nvPr>
        </p:nvSpPr>
        <p:spPr>
          <a:xfrm>
            <a:off x="548640" y="384120"/>
            <a:ext cx="110941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ZDROJE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76800"/>
            <a:ext cx="11094120" cy="68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Referencie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-321"/>
          <p:cNvSpPr/>
          <p:nvPr/>
        </p:nvSpPr>
        <p:spPr>
          <a:xfrm>
            <a:off x="548640" y="1691640"/>
            <a:ext cx="5364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Project Management Institute. (2017). A Guide to the Project Management Body of Knowledge (PMBOK Guide) (6. vyd.). PMI.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-322"/>
          <p:cNvSpPr/>
          <p:nvPr/>
        </p:nvSpPr>
        <p:spPr>
          <a:xfrm>
            <a:off x="6278760" y="1691640"/>
            <a:ext cx="5364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Hobbs, B., &amp; Aubry, M. (2007). A multi-phase research program investigating project management offices (PMOs): The results of phase 1. Project Management Journal, 38(1), 74–86.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-323"/>
          <p:cNvSpPr/>
          <p:nvPr/>
        </p:nvSpPr>
        <p:spPr>
          <a:xfrm>
            <a:off x="548640" y="3017520"/>
            <a:ext cx="5364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Daft, R. L., &amp; Lengel, R. H. (1986). Organizational information requirements, media richness and structural design. Management Science, 32(5), 554–571.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-324"/>
          <p:cNvSpPr/>
          <p:nvPr/>
        </p:nvSpPr>
        <p:spPr>
          <a:xfrm>
            <a:off x="6278760" y="3017520"/>
            <a:ext cx="5364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Edmondson, A. (1999). Psychological safety and learning behavior in work teams. Administrative Science Quarterly, 44(2), 350–383.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-325"/>
          <p:cNvSpPr/>
          <p:nvPr/>
        </p:nvSpPr>
        <p:spPr>
          <a:xfrm>
            <a:off x="548640" y="4343400"/>
            <a:ext cx="5364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Schwaber, K., &amp; Sutherland, J. (2020). The Scrum Guide. scrumguides.org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-326"/>
          <p:cNvSpPr/>
          <p:nvPr/>
        </p:nvSpPr>
        <p:spPr>
          <a:xfrm>
            <a:off x="6278760" y="4343400"/>
            <a:ext cx="5364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Brooks, F. P. (1995). The Mythical Man-Month: Essays on Software Engineering (výročné vyd.). Addison-Wesley.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8"/>
          </p:nvPr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322367-B259-4EE7-B80E-9AC6DDCE5C23}" type="slidenum">
              <a:rPr lang="en-US" sz="1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Komunikacia">
  <a:themeElements>
    <a:clrScheme name="Komunikacia">
      <a:dk1>
        <a:srgbClr val="1B2B27"/>
      </a:dk1>
      <a:lt1>
        <a:srgbClr val="FFFFFF"/>
      </a:lt1>
      <a:dk2>
        <a:srgbClr val="133A31"/>
      </a:dk2>
      <a:lt2>
        <a:srgbClr val="EEF4F1"/>
      </a:lt2>
      <a:accent1>
        <a:srgbClr val="0E7C66"/>
      </a:accent1>
      <a:accent2>
        <a:srgbClr val="D97A1E"/>
      </a:accent2>
      <a:accent3>
        <a:srgbClr val="CFE3DC"/>
      </a:accent3>
      <a:accent4>
        <a:srgbClr val="8FD3BF"/>
      </a:accent4>
      <a:accent5>
        <a:srgbClr val="2E5C53"/>
      </a:accent5>
      <a:accent6>
        <a:srgbClr val="FBEBD9"/>
      </a:accent6>
      <a:hlink>
        <a:srgbClr val="0E7C66"/>
      </a:hlink>
      <a:folHlink>
        <a:srgbClr val="2E5C53"/>
      </a:folHlink>
    </a:clrScheme>
    <a:fontScheme name="Komunikacia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2026-10-27T18:32:52Z</dcterms:created>
  <dc:creator>Adam Svitek, Nikolas Knapík</dc:creator>
  <dc:description/>
  <dc:language>en-US</dc:language>
  <cp:lastModifiedBy/>
  <dcterms:modified xsi:type="dcterms:W3CDTF">2026-10-27T22:56:46Z</dcterms:modified>
  <cp:revision>2</cp:revision>
  <dc:subject>PptxGenJS Presentation</dc:subject>
  <dc:title>Manažment komunikácie – vysvetľujúca prezentácia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