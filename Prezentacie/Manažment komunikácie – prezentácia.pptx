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6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5627F04-A152-46E4-BAD4-2FC136B9BFE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Dobrý deň, sme tím 5, Adam Svitek a Nikolas Knapík. Naša téma je manažment komunikácie v softvérovom projekte a kancelária projektového manažmentu. Všetci v projekte väčšinou vedia, že projekt mešká – okrem toho, kto o ňom rozhoduje. Práve o tom je dnešná prezentácia.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2F5A70-8FB9-410D-93C4-8EEB974A72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Odpovedáme na jednu otázku: ako riadiť komunikáciu v softvérovom projekte a akú rolu v nej má PMO, aby sa znížilo riziko nedorozumení bez zbytočnej byrokracie. Najprv ukážeme, prečo komunikácia nie je mäkká téma, potom ako ju riadiť v jednom projekte a nakoniec ako jej pomáha PMO naprieč projektmi.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14D2EC-17C1-4171-8F2C-93F153D7A6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Prečo to riešiť? V prieskume PMI z roku 2013 bolo na každú miliardu dolárov vloženú do projektov ohrozených 135 miliónov a 75 z nich, teda 56 percent, pripísali neefektívnej komunikácii. Druhé číslo je zo softvérového prostredia: v prieskume NaPiRE 41 percent respondentov zaradilo komunikáciu medzi tímom a zákazníkom medzi päť najkritickejších problémov a najčastejšie ju spájali so zlyhaním projektu. Treba férovo povedať, že ide o prieskumy vnímania, nie o meranie príčin – no oba ukazujú rovnakým smerom.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9B5509-C75D-4FCA-BF7D-18E8779175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Komunikácia nie je iba poslanie správy. Odosielateľ má v hlave zámer a kontext, správu zakóduje do slov alebo diagramu, pošle ju kanálom, v ktorom je šum, a príjemca si ju vyloží podľa svojho kontextu. Až spätná väzba – keď príjemca zopakuje vlastnými slovami, čo pochopil – ukáže, či prenos funguje. Poslal som to e-mailom teda opisuje iba odoslanie. A potvrdenie „OK, videl som“ ešte neznamená súhlas ani porozumenie.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B3CC91-B553-41D8-A702-3EDA5E79E4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Prakticky to znamená vybrať správny kanál. Interaktívna komunikácia je stretnutie alebo hovor – hodí sa na nejasnosti, konflikty a rozhodnutia. Push znamená, že informáciu pošlem ja, napríklad status report. Pull znamená, že si ju príjemca nájde sám vo wiki alebo v backlogu. Čím je správa mnohoznačnejšia, tým bohatší kanál potrebuje. Preto konflikt o priority neriešime e-mailom a stav buildov nepreberáme na porade.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5E7350-5BD1-4E79-B71C-4097F985ED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Ako komunikáciu riadiť? PMBOK ju delí na tri fázy. Plánovanie odpovedá, kto potrebuje aké informácie, kedy a akým kanálom – výsledkom je komunikačný plán. Riadenie zabezpečí, že informácie naozaj vznikajú a dostávajú sa k ľuďom. Monitorovanie overí, či komunikácia splnila účel – napríklad zistíme, že report nikto nečíta. Tieto zistenia sa vracajú do plánu, takže ide o cyklus. V agilnom tíme môže byť plán krátky, ale ľudí mimo tímu treba stále pokryť.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7A786E-97AD-4DA7-A5A0-61F56B2D71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Takto vyzerá náš model tokov v projekte. Klient komunikuje s Product Ownerom, ten s vývojármi a s projektovým manažérom, vývojári s testermi a projektový manažér so sponzorom a s PMO. Oranžové body sú miesta, kde sa informácia najčastejšie stráca – sú to tri bariéry z nášho abstraktu: nejasné zadanie od biznisu, technický text, ktorému vedenie nerozumie, a chýbajúca spätná väzba medzi vývojom a testovaním.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EC5053-CD05-4212-AD20-EB498B083A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 každej bariére máme protiopatrenie, ale aj hranicu, kde prestáva fungovať. Nejasné zadanie riešia akceptačné kritériá s príkladmi a prototyp – nepomôžu však, ak klient sám nevie, čo chce. Technický text pre vedenie prepíšeme do reči dopadov a rozhodnutí, no zjednodušenie nesmie skryť problém – vzniká takzvaný melónový report, zelený navonok a červený vnútri. Spätnú väzbu zabezpečí zopakovanie zadania a demo, ale bez dôvery v tíme ľudia zlé správy nepovedia.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BB9554-E527-458F-B221-8A730702AA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Druhá časť je kancelária projektového manažmentu. Je to organizačná štruktúra, ktorá zjednocuje procesy riadenia projektov a zdieľa medzi nimi zdroje a metodiky. Kým projektový manažér zodpovedá za jeden projekt, PMO pôsobí naprieč projektmi: dáva spoločné šablóny a definície stavu, plánuje zdieľaných ľudí, dáva vedeniu porovnateľný prehľad a prenáša poučenia. Vo výskume Hobbsa a Aubryho bolo najčastejšou dôležitou funkciou PMO reportovanie vedeniu – PMO je teda vo veľkej miere komunikačná infraštruktúra organizácie.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861136-9399-4177-B90A-5E273A3163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PMO nie je jedno. Podľa miery kontroly rozlišujeme tri typy. Podporné PMO iba radí a ponúka šablóny – hodí sa pri malom počte projektov, ale riziko je, že ho nikto nepočúva. Riadiace PMO vyžaduje súlad s metodikou a jednotné reporty – dáva zmysel, keď si projekty zdieľajú ľudí, no hrozí byrokracia. Direktívne PMO projekty priamo riadi – pri strategickom portfóliu, ale stáva sa úzkym hrdlom a je drahé. Čím viac kontroly, tým silnejší vplyv na komunikáciu, ale aj vyššia cena.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CF6768-3291-4900-B871-4749867B13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Ukážeme to na modelovom príklade, ktorý je vymyslený. Firma so 60 ľuďmi má tri projekty a jedného bezpečnostného testera. Každý manažér plánuje, akoby bol tester len jeho, a tri termíny sa zrazia v jednom týždni. Podporné PMO by iba poradilo plánovať skôr – to konflikt nevyrieši. Direktívne by bolo pri troch projektoch drahé. Riadiace PMO zavedie spoločný kalendár zdieľaných ľudí a pravidlo, že konflikt priorít rozhodne vedenie z podkladov PMO. Typ PMO teda vyberáme podľa problému, ktorý má riešiť.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1069F6-1C50-4F57-8286-AB3E2134FF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 záver tri myšlienky. Komunikácia je úspešná, až keď podľa nej príjemca vie konať – nie keď ju odošleme. Komunikačný plán vychádza z potrieb ľudí a priebežne sa vyhodnocuje. A PMO má zjednocovať iba to, čo opakovane zlyháva naprieč projektmi, jeho typ volíme podľa problému. Nástroje ani porady samy komunikáciu nezaručia. Aktuálne máme spracované fázy, toky, bariéry a typy PMO; v eseji ešte rozpracujeme ukazovatele, podľa ktorých sa dá overiť, či komunikácia funguje. Ďakujeme a tešíme sa na otázky.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710A02-6D7B-4402-A1A6-68C8F84062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Záložný slajd so zdrojmi, z ktorých sme vychádzali.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428182-A824-4C4B-8256-B076EF945D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sah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146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718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sah tmavy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146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718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Uvod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body"/>
          </p:nvPr>
        </p:nvSpPr>
        <p:spPr>
          <a:xfrm>
            <a:off x="548640" y="118872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146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718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548640" y="1600200"/>
            <a:ext cx="10515240" cy="1371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ulny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body"/>
          </p:nvPr>
        </p:nvSpPr>
        <p:spPr>
          <a:xfrm>
            <a:off x="548640" y="640080"/>
            <a:ext cx="6400440" cy="292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146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718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548640" y="1828800"/>
            <a:ext cx="6583320" cy="201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48640" y="3977640"/>
            <a:ext cx="6583320" cy="456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146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718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548640" y="5486400"/>
            <a:ext cx="658332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146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718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548640" y="5833800"/>
            <a:ext cx="6583320" cy="292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146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718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hasCustomPrompt="1"/>
          </p:nvPr>
        </p:nvSpPr>
        <p:spPr>
          <a:xfrm>
            <a:off x="548640" y="640080"/>
            <a:ext cx="640044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MANAŽMENT V TVORBE SOFTVÉRU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1828800"/>
            <a:ext cx="6583320" cy="201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Manažment komunikácie v softvérovom projekte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hasCustomPrompt="1"/>
          </p:nvPr>
        </p:nvSpPr>
        <p:spPr>
          <a:xfrm>
            <a:off x="548640" y="5486400"/>
            <a:ext cx="6583320" cy="31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Adam Svitek, Nikolas Knapík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hasCustomPrompt="1"/>
          </p:nvPr>
        </p:nvSpPr>
        <p:spPr>
          <a:xfrm>
            <a:off x="548640" y="5833800"/>
            <a:ext cx="658332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Tím 5 – streda 13:00 – 14:00 – FIIT STU 2026/27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7818120" y="1600200"/>
            <a:ext cx="1600200" cy="1828800"/>
          </a:xfrm>
          <a:prstGeom prst="line">
            <a:avLst/>
          </a:prstGeom>
          <a:ln w="25400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6"/>
          <p:cNvSpPr/>
          <p:nvPr/>
        </p:nvSpPr>
        <p:spPr>
          <a:xfrm flipH="1">
            <a:off x="7818120" y="1463040"/>
            <a:ext cx="3063240" cy="137160"/>
          </a:xfrm>
          <a:prstGeom prst="line">
            <a:avLst/>
          </a:prstGeom>
          <a:ln w="15875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 flipH="1">
            <a:off x="9418320" y="1463040"/>
            <a:ext cx="1463040" cy="1965960"/>
          </a:xfrm>
          <a:prstGeom prst="line">
            <a:avLst/>
          </a:prstGeom>
          <a:ln w="25400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10881360" y="1463040"/>
            <a:ext cx="594360" cy="2103120"/>
          </a:xfrm>
          <a:prstGeom prst="line">
            <a:avLst/>
          </a:prstGeom>
          <a:ln w="15875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9"/>
          <p:cNvSpPr/>
          <p:nvPr/>
        </p:nvSpPr>
        <p:spPr>
          <a:xfrm>
            <a:off x="9418320" y="3429000"/>
            <a:ext cx="2057400" cy="137160"/>
          </a:xfrm>
          <a:prstGeom prst="line">
            <a:avLst/>
          </a:prstGeom>
          <a:ln w="25400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0"/>
          <p:cNvSpPr/>
          <p:nvPr/>
        </p:nvSpPr>
        <p:spPr>
          <a:xfrm flipH="1">
            <a:off x="10607040" y="3566160"/>
            <a:ext cx="868680" cy="1874520"/>
          </a:xfrm>
          <a:prstGeom prst="line">
            <a:avLst/>
          </a:prstGeom>
          <a:ln w="15875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1"/>
          <p:cNvSpPr/>
          <p:nvPr/>
        </p:nvSpPr>
        <p:spPr>
          <a:xfrm>
            <a:off x="9418320" y="3429000"/>
            <a:ext cx="1188720" cy="2011680"/>
          </a:xfrm>
          <a:prstGeom prst="line">
            <a:avLst/>
          </a:prstGeom>
          <a:ln w="25400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2"/>
          <p:cNvSpPr/>
          <p:nvPr/>
        </p:nvSpPr>
        <p:spPr>
          <a:xfrm>
            <a:off x="8001000" y="5349240"/>
            <a:ext cx="2606040" cy="91440"/>
          </a:xfrm>
          <a:prstGeom prst="line">
            <a:avLst/>
          </a:prstGeom>
          <a:ln w="15875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3"/>
          <p:cNvSpPr/>
          <p:nvPr/>
        </p:nvSpPr>
        <p:spPr>
          <a:xfrm flipH="1">
            <a:off x="8001000" y="3429000"/>
            <a:ext cx="1417320" cy="1920240"/>
          </a:xfrm>
          <a:prstGeom prst="line">
            <a:avLst/>
          </a:prstGeom>
          <a:ln w="25400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4"/>
          <p:cNvSpPr/>
          <p:nvPr/>
        </p:nvSpPr>
        <p:spPr>
          <a:xfrm>
            <a:off x="7406640" y="3337560"/>
            <a:ext cx="594360" cy="2011680"/>
          </a:xfrm>
          <a:prstGeom prst="line">
            <a:avLst/>
          </a:prstGeom>
          <a:ln w="15875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5"/>
          <p:cNvSpPr/>
          <p:nvPr/>
        </p:nvSpPr>
        <p:spPr>
          <a:xfrm>
            <a:off x="7406640" y="3337560"/>
            <a:ext cx="2011680" cy="91440"/>
          </a:xfrm>
          <a:prstGeom prst="line">
            <a:avLst/>
          </a:prstGeom>
          <a:ln w="25400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6"/>
          <p:cNvSpPr/>
          <p:nvPr/>
        </p:nvSpPr>
        <p:spPr>
          <a:xfrm flipH="1">
            <a:off x="7406640" y="1600200"/>
            <a:ext cx="411480" cy="1737360"/>
          </a:xfrm>
          <a:prstGeom prst="line">
            <a:avLst/>
          </a:prstGeom>
          <a:ln w="15875">
            <a:solidFill>
              <a:srgbClr val="2E5C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7"/>
          <p:cNvSpPr/>
          <p:nvPr/>
        </p:nvSpPr>
        <p:spPr>
          <a:xfrm>
            <a:off x="7562160" y="1344240"/>
            <a:ext cx="511560" cy="51156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8"/>
          <p:cNvSpPr/>
          <p:nvPr/>
        </p:nvSpPr>
        <p:spPr>
          <a:xfrm>
            <a:off x="10625400" y="1207080"/>
            <a:ext cx="511560" cy="51156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9"/>
          <p:cNvSpPr/>
          <p:nvPr/>
        </p:nvSpPr>
        <p:spPr>
          <a:xfrm>
            <a:off x="11219760" y="3310200"/>
            <a:ext cx="511560" cy="51156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0"/>
          <p:cNvSpPr/>
          <p:nvPr/>
        </p:nvSpPr>
        <p:spPr>
          <a:xfrm>
            <a:off x="10351080" y="5184720"/>
            <a:ext cx="511560" cy="51156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1"/>
          <p:cNvSpPr/>
          <p:nvPr/>
        </p:nvSpPr>
        <p:spPr>
          <a:xfrm>
            <a:off x="7745040" y="5093280"/>
            <a:ext cx="511560" cy="51156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2"/>
          <p:cNvSpPr/>
          <p:nvPr/>
        </p:nvSpPr>
        <p:spPr>
          <a:xfrm>
            <a:off x="7150680" y="3081600"/>
            <a:ext cx="511560" cy="51156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8FD3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3"/>
          <p:cNvSpPr/>
          <p:nvPr/>
        </p:nvSpPr>
        <p:spPr>
          <a:xfrm>
            <a:off x="8851320" y="2862000"/>
            <a:ext cx="1133640" cy="1133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0" descr="preencoded.png"/>
          <p:cNvPicPr/>
          <p:nvPr/>
        </p:nvPicPr>
        <p:blipFill>
          <a:blip r:embed="rId1"/>
          <a:stretch/>
        </p:blipFill>
        <p:spPr>
          <a:xfrm>
            <a:off x="9116640" y="3127320"/>
            <a:ext cx="603000" cy="60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hasCustomPrompt="1"/>
          </p:nvPr>
        </p:nvSpPr>
        <p:spPr>
          <a:xfrm>
            <a:off x="548640" y="118872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pc="150" strike="noStrike">
                <a:solidFill>
                  <a:schemeClr val="accent4"/>
                </a:solidFill>
                <a:effectLst/>
                <a:uFillTx/>
                <a:latin typeface="Calibri"/>
              </a:rPr>
              <a:t>ÚVOD – CIEĽ PREZENTÁCIE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1600200"/>
            <a:ext cx="10515240" cy="137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Ako riadiť komunikáciu v projekte a akú rolu v nej má kancelária projektového manažmentu?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Shape 2"/>
          <p:cNvSpPr/>
          <p:nvPr/>
        </p:nvSpPr>
        <p:spPr>
          <a:xfrm>
            <a:off x="548640" y="3749040"/>
            <a:ext cx="3520080" cy="2011320"/>
          </a:xfrm>
          <a:prstGeom prst="roundRect">
            <a:avLst>
              <a:gd name="adj" fmla="val 3636"/>
            </a:avLst>
          </a:prstGeom>
          <a:solidFill>
            <a:srgbClr val="0B6654"/>
          </a:solidFill>
          <a:ln w="12700">
            <a:solidFill>
              <a:srgbClr val="3E9A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822960" y="39776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01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822960" y="434340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Prečo na tom záleží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822960" y="512064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komunikácia ako riziko, model a voľba kanála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4343400" y="3749040"/>
            <a:ext cx="3520080" cy="2011320"/>
          </a:xfrm>
          <a:prstGeom prst="roundRect">
            <a:avLst>
              <a:gd name="adj" fmla="val 3636"/>
            </a:avLst>
          </a:prstGeom>
          <a:solidFill>
            <a:srgbClr val="0B6654"/>
          </a:solidFill>
          <a:ln w="12700">
            <a:solidFill>
              <a:srgbClr val="3E9A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7"/>
          <p:cNvSpPr/>
          <p:nvPr/>
        </p:nvSpPr>
        <p:spPr>
          <a:xfrm>
            <a:off x="4617720" y="39776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02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4617720" y="434340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Ako riadiť komunikáciu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4617720" y="512064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tri fázy, tok informácií a bariéry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0"/>
          <p:cNvSpPr/>
          <p:nvPr/>
        </p:nvSpPr>
        <p:spPr>
          <a:xfrm>
            <a:off x="8138520" y="3749040"/>
            <a:ext cx="3520080" cy="2011320"/>
          </a:xfrm>
          <a:prstGeom prst="roundRect">
            <a:avLst>
              <a:gd name="adj" fmla="val 3636"/>
            </a:avLst>
          </a:prstGeom>
          <a:solidFill>
            <a:srgbClr val="0B6654"/>
          </a:solidFill>
          <a:ln w="12700">
            <a:solidFill>
              <a:srgbClr val="3E9A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8412480" y="39776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03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8412480" y="4298040"/>
            <a:ext cx="3246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Kancelária projektového manažmentu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8412480" y="512064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čo robí, aké má typy a kedy ktorý zvoliť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01 – PREČO NA TOM ZÁLEŽÍ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315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Zlá komunikácia patrí medzi hlavné riziká projektu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548640" y="1828800"/>
            <a:ext cx="5348880" cy="342864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960120" y="2103120"/>
            <a:ext cx="4571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56 %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960120" y="3200400"/>
            <a:ext cx="45716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peňazí ohrozených v projektoch pripísali respondenti prieskumu PMI neefektívnej komunikácii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914760" y="425232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75 zo 135 miliónov USD ohrozených na každú miliardu vloženú do projektov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8"/>
          <p:cNvSpPr/>
          <p:nvPr/>
        </p:nvSpPr>
        <p:spPr>
          <a:xfrm>
            <a:off x="6263640" y="1828800"/>
            <a:ext cx="5348880" cy="342864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6675120" y="2103120"/>
            <a:ext cx="4571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0" b="1" u="none" strike="noStrike">
                <a:solidFill>
                  <a:schemeClr val="accent2"/>
                </a:solidFill>
                <a:effectLst/>
                <a:uFillTx/>
                <a:latin typeface="Cambria"/>
                <a:ea typeface="Cambria"/>
              </a:rPr>
              <a:t>41 %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6675120" y="3200400"/>
            <a:ext cx="45716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respondentov prieskumu NaPiRE zaradilo komunikáciu tímu so zákazníkom medzi päť najkritickejších problémov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6675120" y="425232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najčastejšie ju spájali so zlyhaním projektu – 228 respondentov z 10 krajín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548640" y="5577840"/>
            <a:ext cx="456840" cy="45684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0" descr="preencoded.png"/>
          <p:cNvPicPr/>
          <p:nvPr/>
        </p:nvPicPr>
        <p:blipFill>
          <a:blip r:embed="rId1"/>
          <a:stretch/>
        </p:blipFill>
        <p:spPr>
          <a:xfrm>
            <a:off x="649080" y="567828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15"/>
          <p:cNvSpPr/>
          <p:nvPr/>
        </p:nvSpPr>
        <p:spPr>
          <a:xfrm>
            <a:off x="1188720" y="5577840"/>
            <a:ext cx="1042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Obe čísla pochádzajú z prieskumov medzi ľuďmi z praxe – ukazujú, čo vnímajú ako príčinu problémov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01 – PREČO NA TOM ZÁLEŽÍ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315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Odoslaná správa ešte nie je pochopená správa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548640" y="1874520"/>
            <a:ext cx="1919880" cy="2514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777240" y="2103120"/>
            <a:ext cx="548280" cy="54828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0" descr="preencoded.png"/>
          <p:cNvPicPr/>
          <p:nvPr/>
        </p:nvPicPr>
        <p:blipFill>
          <a:blip r:embed="rId1"/>
          <a:stretch/>
        </p:blipFill>
        <p:spPr>
          <a:xfrm>
            <a:off x="897840" y="222372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4"/>
          <p:cNvSpPr/>
          <p:nvPr/>
        </p:nvSpPr>
        <p:spPr>
          <a:xfrm>
            <a:off x="777240" y="2788920"/>
            <a:ext cx="155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Odosielateľ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777240" y="3200400"/>
            <a:ext cx="1554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má zámer aj kontext, ktorý príjemca nemusí poznať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"/>
          <p:cNvSpPr/>
          <p:nvPr/>
        </p:nvSpPr>
        <p:spPr>
          <a:xfrm>
            <a:off x="2532600" y="3131640"/>
            <a:ext cx="237960" cy="360"/>
          </a:xfrm>
          <a:prstGeom prst="line">
            <a:avLst/>
          </a:prstGeom>
          <a:ln w="25400">
            <a:solidFill>
              <a:srgbClr val="0E7C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7"/>
          <p:cNvSpPr/>
          <p:nvPr/>
        </p:nvSpPr>
        <p:spPr>
          <a:xfrm>
            <a:off x="2834640" y="1874520"/>
            <a:ext cx="1919880" cy="2514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3063240" y="2103120"/>
            <a:ext cx="548280" cy="54828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 1" descr="preencoded.png"/>
          <p:cNvPicPr/>
          <p:nvPr/>
        </p:nvPicPr>
        <p:blipFill>
          <a:blip r:embed="rId2"/>
          <a:stretch/>
        </p:blipFill>
        <p:spPr>
          <a:xfrm>
            <a:off x="3183840" y="222372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 9"/>
          <p:cNvSpPr/>
          <p:nvPr/>
        </p:nvSpPr>
        <p:spPr>
          <a:xfrm>
            <a:off x="3063240" y="2788920"/>
            <a:ext cx="155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Kódovanie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3063240" y="3200400"/>
            <a:ext cx="1554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slová, diagram alebo príklad v jazyku publika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1"/>
          <p:cNvSpPr/>
          <p:nvPr/>
        </p:nvSpPr>
        <p:spPr>
          <a:xfrm>
            <a:off x="4818600" y="3131640"/>
            <a:ext cx="237960" cy="360"/>
          </a:xfrm>
          <a:prstGeom prst="line">
            <a:avLst/>
          </a:prstGeom>
          <a:ln w="25400">
            <a:solidFill>
              <a:srgbClr val="0E7C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2"/>
          <p:cNvSpPr/>
          <p:nvPr/>
        </p:nvSpPr>
        <p:spPr>
          <a:xfrm>
            <a:off x="5120640" y="1874520"/>
            <a:ext cx="1919880" cy="2514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5349240" y="2103120"/>
            <a:ext cx="548280" cy="54828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 2" descr="preencoded.png"/>
          <p:cNvPicPr/>
          <p:nvPr/>
        </p:nvPicPr>
        <p:blipFill>
          <a:blip r:embed="rId3"/>
          <a:stretch/>
        </p:blipFill>
        <p:spPr>
          <a:xfrm>
            <a:off x="5469840" y="222372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14"/>
          <p:cNvSpPr/>
          <p:nvPr/>
        </p:nvSpPr>
        <p:spPr>
          <a:xfrm>
            <a:off x="5349240" y="2788920"/>
            <a:ext cx="155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Kanál a šum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5"/>
          <p:cNvSpPr/>
          <p:nvPr/>
        </p:nvSpPr>
        <p:spPr>
          <a:xfrm>
            <a:off x="5349240" y="3200400"/>
            <a:ext cx="1554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chat, stretnutie či ticket – žargón a preťaženie správu skreslia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6"/>
          <p:cNvSpPr/>
          <p:nvPr/>
        </p:nvSpPr>
        <p:spPr>
          <a:xfrm>
            <a:off x="7104600" y="3131640"/>
            <a:ext cx="237960" cy="360"/>
          </a:xfrm>
          <a:prstGeom prst="line">
            <a:avLst/>
          </a:prstGeom>
          <a:ln w="25400">
            <a:solidFill>
              <a:srgbClr val="0E7C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7"/>
          <p:cNvSpPr/>
          <p:nvPr/>
        </p:nvSpPr>
        <p:spPr>
          <a:xfrm>
            <a:off x="7406640" y="1874520"/>
            <a:ext cx="1919880" cy="2514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8"/>
          <p:cNvSpPr/>
          <p:nvPr/>
        </p:nvSpPr>
        <p:spPr>
          <a:xfrm>
            <a:off x="7635240" y="2103120"/>
            <a:ext cx="548280" cy="54828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3" descr="preencoded.png"/>
          <p:cNvPicPr/>
          <p:nvPr/>
        </p:nvPicPr>
        <p:blipFill>
          <a:blip r:embed="rId4"/>
          <a:stretch/>
        </p:blipFill>
        <p:spPr>
          <a:xfrm>
            <a:off x="7755840" y="222372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19"/>
          <p:cNvSpPr/>
          <p:nvPr/>
        </p:nvSpPr>
        <p:spPr>
          <a:xfrm>
            <a:off x="7635240" y="2788920"/>
            <a:ext cx="155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Dekódovanie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0"/>
          <p:cNvSpPr/>
          <p:nvPr/>
        </p:nvSpPr>
        <p:spPr>
          <a:xfrm>
            <a:off x="7635240" y="3200400"/>
            <a:ext cx="1554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príjemca si správu vyloží podľa svojho kontextu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1"/>
          <p:cNvSpPr/>
          <p:nvPr/>
        </p:nvSpPr>
        <p:spPr>
          <a:xfrm>
            <a:off x="9390600" y="3131640"/>
            <a:ext cx="237960" cy="360"/>
          </a:xfrm>
          <a:prstGeom prst="line">
            <a:avLst/>
          </a:prstGeom>
          <a:ln w="25400">
            <a:solidFill>
              <a:srgbClr val="0E7C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2"/>
          <p:cNvSpPr/>
          <p:nvPr/>
        </p:nvSpPr>
        <p:spPr>
          <a:xfrm>
            <a:off x="9692640" y="1874520"/>
            <a:ext cx="1919880" cy="2514240"/>
          </a:xfrm>
          <a:prstGeom prst="roundRect">
            <a:avLst>
              <a:gd name="adj" fmla="val 3810"/>
            </a:avLst>
          </a:prstGeom>
          <a:solidFill>
            <a:schemeClr val="accent1"/>
          </a:solidFill>
          <a:ln w="12700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3"/>
          <p:cNvSpPr/>
          <p:nvPr/>
        </p:nvSpPr>
        <p:spPr>
          <a:xfrm>
            <a:off x="9921240" y="2103120"/>
            <a:ext cx="548280" cy="548280"/>
          </a:xfrm>
          <a:prstGeom prst="ellipse">
            <a:avLst/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4" descr="preencoded.png"/>
          <p:cNvPicPr/>
          <p:nvPr/>
        </p:nvPicPr>
        <p:blipFill>
          <a:blip r:embed="rId5"/>
          <a:stretch/>
        </p:blipFill>
        <p:spPr>
          <a:xfrm>
            <a:off x="10041840" y="222372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24"/>
          <p:cNvSpPr/>
          <p:nvPr/>
        </p:nvSpPr>
        <p:spPr>
          <a:xfrm>
            <a:off x="9921240" y="2788920"/>
            <a:ext cx="155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Spätná väzba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5"/>
          <p:cNvSpPr/>
          <p:nvPr/>
        </p:nvSpPr>
        <p:spPr>
          <a:xfrm>
            <a:off x="9921240" y="3200400"/>
            <a:ext cx="1554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zopakovanie vlastnými slovami overí porozumenie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6"/>
          <p:cNvSpPr/>
          <p:nvPr/>
        </p:nvSpPr>
        <p:spPr>
          <a:xfrm>
            <a:off x="10652760" y="4389120"/>
            <a:ext cx="360" cy="365760"/>
          </a:xfrm>
          <a:prstGeom prst="line">
            <a:avLst/>
          </a:prstGeom>
          <a:ln w="25400">
            <a:solidFill>
              <a:srgbClr val="0E7C6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7"/>
          <p:cNvSpPr/>
          <p:nvPr/>
        </p:nvSpPr>
        <p:spPr>
          <a:xfrm>
            <a:off x="1508760" y="4754880"/>
            <a:ext cx="9144000" cy="360"/>
          </a:xfrm>
          <a:prstGeom prst="line">
            <a:avLst/>
          </a:prstGeom>
          <a:ln w="25400">
            <a:solidFill>
              <a:srgbClr val="0E7C6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8"/>
          <p:cNvSpPr/>
          <p:nvPr/>
        </p:nvSpPr>
        <p:spPr>
          <a:xfrm>
            <a:off x="1508760" y="4434840"/>
            <a:ext cx="360" cy="320040"/>
          </a:xfrm>
          <a:prstGeom prst="line">
            <a:avLst/>
          </a:prstGeom>
          <a:ln w="25400">
            <a:solidFill>
              <a:srgbClr val="0E7C66"/>
            </a:solidFill>
            <a:prstDash val="dash"/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9"/>
          <p:cNvSpPr/>
          <p:nvPr/>
        </p:nvSpPr>
        <p:spPr>
          <a:xfrm>
            <a:off x="4206240" y="48279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odpoveď sa vracia k odosielateľovi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0"/>
          <p:cNvSpPr/>
          <p:nvPr/>
        </p:nvSpPr>
        <p:spPr>
          <a:xfrm>
            <a:off x="548640" y="54406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Komunikácia splnila účel až vtedy, keď príjemca správu pochopí a vie podľa nej konať.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Za porozumenie preto zodpovedá aj odosielateľ – vyberá jazyk, formu aj kanál a spätnú väzbu si sám vyžiada.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01 – PREČO NA TOM ZÁLEŽÍ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315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Kanál sa vyberá podľa toho, aká je správa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Shape 2"/>
          <p:cNvSpPr/>
          <p:nvPr/>
        </p:nvSpPr>
        <p:spPr>
          <a:xfrm>
            <a:off x="548640" y="1828800"/>
            <a:ext cx="3520080" cy="333720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868680" y="2148840"/>
            <a:ext cx="639720" cy="63972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Image 0" descr="preencoded.png"/>
          <p:cNvPicPr/>
          <p:nvPr/>
        </p:nvPicPr>
        <p:blipFill>
          <a:blip r:embed="rId1"/>
          <a:stretch/>
        </p:blipFill>
        <p:spPr>
          <a:xfrm>
            <a:off x="1009440" y="2289600"/>
            <a:ext cx="358200" cy="3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 4"/>
          <p:cNvSpPr/>
          <p:nvPr/>
        </p:nvSpPr>
        <p:spPr>
          <a:xfrm>
            <a:off x="1691640" y="214884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Interaktívna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1691640" y="25419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stretnutie, hovor, demo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868680" y="3108960"/>
            <a:ext cx="2880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Obojsmerná výmena v reálnom čase. Patria sem nejasnosti, konflikty a rozhodnutia.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868680" y="411480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Stojí čas viacerých ľudí a rozhodnutie bez zápisu sa stratí.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4343400" y="1828800"/>
            <a:ext cx="3520080" cy="333720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9"/>
          <p:cNvSpPr/>
          <p:nvPr/>
        </p:nvSpPr>
        <p:spPr>
          <a:xfrm>
            <a:off x="4663440" y="2148840"/>
            <a:ext cx="639720" cy="63972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1" descr="preencoded.png"/>
          <p:cNvPicPr/>
          <p:nvPr/>
        </p:nvPicPr>
        <p:blipFill>
          <a:blip r:embed="rId2"/>
          <a:stretch/>
        </p:blipFill>
        <p:spPr>
          <a:xfrm>
            <a:off x="4804200" y="2289600"/>
            <a:ext cx="358200" cy="3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10"/>
          <p:cNvSpPr/>
          <p:nvPr/>
        </p:nvSpPr>
        <p:spPr>
          <a:xfrm>
            <a:off x="5486400" y="214884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Push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5486400" y="25419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e-mail, report, release notes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2"/>
          <p:cNvSpPr/>
          <p:nvPr/>
        </p:nvSpPr>
        <p:spPr>
          <a:xfrm>
            <a:off x="4663440" y="3108960"/>
            <a:ext cx="2880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Odosielateľ pošle informáciu konkrétnym ľuďom vo chvíli, keď vznikne.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3"/>
          <p:cNvSpPr/>
          <p:nvPr/>
        </p:nvSpPr>
        <p:spPr>
          <a:xfrm>
            <a:off x="4663440" y="411480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Doručená správa ešte nemusí byť prečítaná ani pochopená.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4"/>
          <p:cNvSpPr/>
          <p:nvPr/>
        </p:nvSpPr>
        <p:spPr>
          <a:xfrm>
            <a:off x="8138160" y="1828800"/>
            <a:ext cx="3520080" cy="333720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5"/>
          <p:cNvSpPr/>
          <p:nvPr/>
        </p:nvSpPr>
        <p:spPr>
          <a:xfrm>
            <a:off x="8458200" y="2148840"/>
            <a:ext cx="639720" cy="63972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Image 2" descr="preencoded.png"/>
          <p:cNvPicPr/>
          <p:nvPr/>
        </p:nvPicPr>
        <p:blipFill>
          <a:blip r:embed="rId3"/>
          <a:stretch/>
        </p:blipFill>
        <p:spPr>
          <a:xfrm>
            <a:off x="8598960" y="2289600"/>
            <a:ext cx="358200" cy="3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 16"/>
          <p:cNvSpPr/>
          <p:nvPr/>
        </p:nvSpPr>
        <p:spPr>
          <a:xfrm>
            <a:off x="9281160" y="214884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Pull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9281160" y="25419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wiki, backlog, dashboard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8458200" y="3108960"/>
            <a:ext cx="2880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Príjemca si informáciu nájde sám vtedy, keď ju potrebuje.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9"/>
          <p:cNvSpPr/>
          <p:nvPr/>
        </p:nvSpPr>
        <p:spPr>
          <a:xfrm>
            <a:off x="8458200" y="411480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Funguje iba vtedy, keď je informácia aktuálna a dá sa nájsť.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0"/>
          <p:cNvSpPr/>
          <p:nvPr/>
        </p:nvSpPr>
        <p:spPr>
          <a:xfrm>
            <a:off x="548640" y="548640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Mnohoznačnú správu treba preberať tvárou v tvár, rutinnú stačí zverejniť. Konflikt o priority sa preto nerieši e-mailom a stav buildov netreba preberať na porade.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02 – AKO KOMUNIKÁCIU RIADIŤ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315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Manažment komunikácie je cyklus troch fáz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Shape 2"/>
          <p:cNvSpPr/>
          <p:nvPr/>
        </p:nvSpPr>
        <p:spPr>
          <a:xfrm>
            <a:off x="548640" y="1783080"/>
            <a:ext cx="3428640" cy="315432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3"/>
          <p:cNvSpPr/>
          <p:nvPr/>
        </p:nvSpPr>
        <p:spPr>
          <a:xfrm>
            <a:off x="868680" y="2103120"/>
            <a:ext cx="548280" cy="5482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868680" y="2103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"/>
          <p:cNvSpPr/>
          <p:nvPr/>
        </p:nvSpPr>
        <p:spPr>
          <a:xfrm>
            <a:off x="1600200" y="216720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Plánovanie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868680" y="2880360"/>
            <a:ext cx="2788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Kto potrebuje aké informácie, kedy, akým kanálom a od koho?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868680" y="3794760"/>
            <a:ext cx="27885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Komunikačný plán s maticou stakeholderov, rytmom stretnutí a eskalačnou cestou.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8"/>
          <p:cNvSpPr/>
          <p:nvPr/>
        </p:nvSpPr>
        <p:spPr>
          <a:xfrm>
            <a:off x="4050720" y="3360240"/>
            <a:ext cx="228600" cy="360"/>
          </a:xfrm>
          <a:prstGeom prst="line">
            <a:avLst/>
          </a:prstGeom>
          <a:ln w="25400">
            <a:solidFill>
              <a:srgbClr val="0E7C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9"/>
          <p:cNvSpPr/>
          <p:nvPr/>
        </p:nvSpPr>
        <p:spPr>
          <a:xfrm>
            <a:off x="4343400" y="1783080"/>
            <a:ext cx="3428640" cy="315432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0"/>
          <p:cNvSpPr/>
          <p:nvPr/>
        </p:nvSpPr>
        <p:spPr>
          <a:xfrm>
            <a:off x="4663440" y="2103120"/>
            <a:ext cx="548280" cy="5482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1"/>
          <p:cNvSpPr/>
          <p:nvPr/>
        </p:nvSpPr>
        <p:spPr>
          <a:xfrm>
            <a:off x="4663440" y="2103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5394960" y="216720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Riadenie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3"/>
          <p:cNvSpPr/>
          <p:nvPr/>
        </p:nvSpPr>
        <p:spPr>
          <a:xfrm>
            <a:off x="4663440" y="2880360"/>
            <a:ext cx="2788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Dostávajú sa informácie k ľuďom tak, ako sme sa dohodli?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4"/>
          <p:cNvSpPr/>
          <p:nvPr/>
        </p:nvSpPr>
        <p:spPr>
          <a:xfrm>
            <a:off x="4663440" y="3794760"/>
            <a:ext cx="27885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Demo, denné stretnutia, status reporty a zapísané rozhodnutia.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5"/>
          <p:cNvSpPr/>
          <p:nvPr/>
        </p:nvSpPr>
        <p:spPr>
          <a:xfrm>
            <a:off x="7845480" y="3360240"/>
            <a:ext cx="228600" cy="360"/>
          </a:xfrm>
          <a:prstGeom prst="line">
            <a:avLst/>
          </a:prstGeom>
          <a:ln w="25400">
            <a:solidFill>
              <a:srgbClr val="0E7C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6"/>
          <p:cNvSpPr/>
          <p:nvPr/>
        </p:nvSpPr>
        <p:spPr>
          <a:xfrm>
            <a:off x="8138160" y="1783080"/>
            <a:ext cx="3428640" cy="315432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7"/>
          <p:cNvSpPr/>
          <p:nvPr/>
        </p:nvSpPr>
        <p:spPr>
          <a:xfrm>
            <a:off x="8458200" y="2103120"/>
            <a:ext cx="548280" cy="5482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8"/>
          <p:cNvSpPr/>
          <p:nvPr/>
        </p:nvSpPr>
        <p:spPr>
          <a:xfrm>
            <a:off x="8458200" y="2103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9"/>
          <p:cNvSpPr/>
          <p:nvPr/>
        </p:nvSpPr>
        <p:spPr>
          <a:xfrm>
            <a:off x="9189720" y="216720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Monitorovanie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0"/>
          <p:cNvSpPr/>
          <p:nvPr/>
        </p:nvSpPr>
        <p:spPr>
          <a:xfrm>
            <a:off x="8458200" y="2880360"/>
            <a:ext cx="2788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Splnila komunikácia účel a treba plán zmeniť?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1"/>
          <p:cNvSpPr/>
          <p:nvPr/>
        </p:nvSpPr>
        <p:spPr>
          <a:xfrm>
            <a:off x="8458200" y="3794760"/>
            <a:ext cx="27885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Retrospektíva, spätná väzba stakeholderov a zistenie, že report nikto nečíta.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2"/>
          <p:cNvSpPr/>
          <p:nvPr/>
        </p:nvSpPr>
        <p:spPr>
          <a:xfrm>
            <a:off x="9852480" y="4937760"/>
            <a:ext cx="360" cy="365760"/>
          </a:xfrm>
          <a:prstGeom prst="line">
            <a:avLst/>
          </a:prstGeom>
          <a:ln w="25400">
            <a:solidFill>
              <a:srgbClr val="0E7C6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3"/>
          <p:cNvSpPr/>
          <p:nvPr/>
        </p:nvSpPr>
        <p:spPr>
          <a:xfrm>
            <a:off x="2262960" y="5303520"/>
            <a:ext cx="7589520" cy="360"/>
          </a:xfrm>
          <a:prstGeom prst="line">
            <a:avLst/>
          </a:prstGeom>
          <a:ln w="25400">
            <a:solidFill>
              <a:srgbClr val="0E7C6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4"/>
          <p:cNvSpPr/>
          <p:nvPr/>
        </p:nvSpPr>
        <p:spPr>
          <a:xfrm>
            <a:off x="2262960" y="4983480"/>
            <a:ext cx="360" cy="320040"/>
          </a:xfrm>
          <a:prstGeom prst="line">
            <a:avLst/>
          </a:prstGeom>
          <a:ln w="25400">
            <a:solidFill>
              <a:srgbClr val="0E7C66"/>
            </a:solidFill>
            <a:prstDash val="dash"/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5"/>
          <p:cNvSpPr/>
          <p:nvPr/>
        </p:nvSpPr>
        <p:spPr>
          <a:xfrm>
            <a:off x="4023360" y="537660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zistenia z monitorovania sa vracajú do plánu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6"/>
          <p:cNvSpPr/>
          <p:nvPr/>
        </p:nvSpPr>
        <p:spPr>
          <a:xfrm>
            <a:off x="548640" y="580644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Agilný tím má veľa komunikácie zabudovanej v udalostiach Scrumu, takže jeho plán môže byť krátky. Sponzor, prevádzka a iné tímy ho však stále potrebujú.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02 – AKO KOMUNIKÁCIU RIADIŤ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315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Kde sa informácia v projekte stráca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Shape 2"/>
          <p:cNvSpPr/>
          <p:nvPr/>
        </p:nvSpPr>
        <p:spPr>
          <a:xfrm>
            <a:off x="1280160" y="2203560"/>
            <a:ext cx="1965960" cy="360"/>
          </a:xfrm>
          <a:prstGeom prst="line">
            <a:avLst/>
          </a:prstGeom>
          <a:ln w="25400">
            <a:solidFill>
              <a:srgbClr val="9DBD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"/>
          <p:cNvSpPr/>
          <p:nvPr/>
        </p:nvSpPr>
        <p:spPr>
          <a:xfrm>
            <a:off x="3246120" y="2203560"/>
            <a:ext cx="360" cy="1463040"/>
          </a:xfrm>
          <a:prstGeom prst="line">
            <a:avLst/>
          </a:prstGeom>
          <a:ln w="25400">
            <a:solidFill>
              <a:srgbClr val="9DBD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4"/>
          <p:cNvSpPr/>
          <p:nvPr/>
        </p:nvSpPr>
        <p:spPr>
          <a:xfrm>
            <a:off x="3246120" y="3666600"/>
            <a:ext cx="360" cy="1463040"/>
          </a:xfrm>
          <a:prstGeom prst="line">
            <a:avLst/>
          </a:prstGeom>
          <a:ln w="25400">
            <a:solidFill>
              <a:srgbClr val="9DBD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5"/>
          <p:cNvSpPr/>
          <p:nvPr/>
        </p:nvSpPr>
        <p:spPr>
          <a:xfrm>
            <a:off x="3246120" y="2203560"/>
            <a:ext cx="1965960" cy="1463040"/>
          </a:xfrm>
          <a:prstGeom prst="line">
            <a:avLst/>
          </a:prstGeom>
          <a:ln w="25400">
            <a:solidFill>
              <a:srgbClr val="9DBD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6"/>
          <p:cNvSpPr/>
          <p:nvPr/>
        </p:nvSpPr>
        <p:spPr>
          <a:xfrm flipH="1">
            <a:off x="5212080" y="2203560"/>
            <a:ext cx="1965960" cy="1463040"/>
          </a:xfrm>
          <a:prstGeom prst="line">
            <a:avLst/>
          </a:prstGeom>
          <a:ln w="25400">
            <a:solidFill>
              <a:srgbClr val="9DBD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7"/>
          <p:cNvSpPr/>
          <p:nvPr/>
        </p:nvSpPr>
        <p:spPr>
          <a:xfrm>
            <a:off x="5212080" y="3666600"/>
            <a:ext cx="1965960" cy="1463040"/>
          </a:xfrm>
          <a:prstGeom prst="line">
            <a:avLst/>
          </a:prstGeom>
          <a:ln w="25400">
            <a:solidFill>
              <a:srgbClr val="9DBD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8"/>
          <p:cNvSpPr/>
          <p:nvPr/>
        </p:nvSpPr>
        <p:spPr>
          <a:xfrm>
            <a:off x="7178040" y="2203560"/>
            <a:ext cx="360" cy="2926080"/>
          </a:xfrm>
          <a:prstGeom prst="line">
            <a:avLst/>
          </a:prstGeom>
          <a:ln w="25400">
            <a:solidFill>
              <a:srgbClr val="9DBD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9"/>
          <p:cNvSpPr/>
          <p:nvPr/>
        </p:nvSpPr>
        <p:spPr>
          <a:xfrm flipH="1">
            <a:off x="3246120" y="3666600"/>
            <a:ext cx="1965960" cy="1463040"/>
          </a:xfrm>
          <a:prstGeom prst="line">
            <a:avLst/>
          </a:prstGeom>
          <a:ln w="25400">
            <a:solidFill>
              <a:srgbClr val="9DBD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0"/>
          <p:cNvSpPr/>
          <p:nvPr/>
        </p:nvSpPr>
        <p:spPr>
          <a:xfrm>
            <a:off x="5212080" y="5129640"/>
            <a:ext cx="1965960" cy="360"/>
          </a:xfrm>
          <a:prstGeom prst="line">
            <a:avLst/>
          </a:prstGeom>
          <a:ln w="25400">
            <a:solidFill>
              <a:srgbClr val="9DBD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1"/>
          <p:cNvSpPr/>
          <p:nvPr/>
        </p:nvSpPr>
        <p:spPr>
          <a:xfrm>
            <a:off x="548640" y="1828800"/>
            <a:ext cx="1462680" cy="74952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2"/>
          <p:cNvSpPr/>
          <p:nvPr/>
        </p:nvSpPr>
        <p:spPr>
          <a:xfrm>
            <a:off x="640080" y="1828800"/>
            <a:ext cx="1279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Klient a používatelia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3"/>
          <p:cNvSpPr/>
          <p:nvPr/>
        </p:nvSpPr>
        <p:spPr>
          <a:xfrm>
            <a:off x="2514600" y="1828800"/>
            <a:ext cx="1462680" cy="74952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4"/>
          <p:cNvSpPr/>
          <p:nvPr/>
        </p:nvSpPr>
        <p:spPr>
          <a:xfrm>
            <a:off x="2606040" y="1828800"/>
            <a:ext cx="1279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Product Owner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5"/>
          <p:cNvSpPr/>
          <p:nvPr/>
        </p:nvSpPr>
        <p:spPr>
          <a:xfrm>
            <a:off x="2514600" y="3291840"/>
            <a:ext cx="1462680" cy="74952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6"/>
          <p:cNvSpPr/>
          <p:nvPr/>
        </p:nvSpPr>
        <p:spPr>
          <a:xfrm>
            <a:off x="2606040" y="3291840"/>
            <a:ext cx="1279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Vývojári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7"/>
          <p:cNvSpPr/>
          <p:nvPr/>
        </p:nvSpPr>
        <p:spPr>
          <a:xfrm>
            <a:off x="2514600" y="4754880"/>
            <a:ext cx="1462680" cy="74952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8"/>
          <p:cNvSpPr/>
          <p:nvPr/>
        </p:nvSpPr>
        <p:spPr>
          <a:xfrm>
            <a:off x="2606040" y="4754880"/>
            <a:ext cx="1279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Testeri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9"/>
          <p:cNvSpPr/>
          <p:nvPr/>
        </p:nvSpPr>
        <p:spPr>
          <a:xfrm>
            <a:off x="4480560" y="3291840"/>
            <a:ext cx="1462680" cy="74952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0"/>
          <p:cNvSpPr/>
          <p:nvPr/>
        </p:nvSpPr>
        <p:spPr>
          <a:xfrm>
            <a:off x="4572000" y="3291840"/>
            <a:ext cx="1279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Projektový manažér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1"/>
          <p:cNvSpPr/>
          <p:nvPr/>
        </p:nvSpPr>
        <p:spPr>
          <a:xfrm>
            <a:off x="4480560" y="4754880"/>
            <a:ext cx="1462680" cy="74952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2"/>
          <p:cNvSpPr/>
          <p:nvPr/>
        </p:nvSpPr>
        <p:spPr>
          <a:xfrm>
            <a:off x="4572000" y="4754880"/>
            <a:ext cx="1279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Ďalšie projekty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3"/>
          <p:cNvSpPr/>
          <p:nvPr/>
        </p:nvSpPr>
        <p:spPr>
          <a:xfrm>
            <a:off x="6446520" y="1828800"/>
            <a:ext cx="1462680" cy="749520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4"/>
          <p:cNvSpPr/>
          <p:nvPr/>
        </p:nvSpPr>
        <p:spPr>
          <a:xfrm>
            <a:off x="6537960" y="1828800"/>
            <a:ext cx="1279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Sponzor a vedenie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5"/>
          <p:cNvSpPr/>
          <p:nvPr/>
        </p:nvSpPr>
        <p:spPr>
          <a:xfrm>
            <a:off x="6446520" y="4754880"/>
            <a:ext cx="1462680" cy="749520"/>
          </a:xfrm>
          <a:prstGeom prst="roundRect">
            <a:avLst>
              <a:gd name="adj" fmla="val 9756"/>
            </a:avLst>
          </a:prstGeom>
          <a:solidFill>
            <a:schemeClr val="accent1"/>
          </a:solidFill>
          <a:ln w="12700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6"/>
          <p:cNvSpPr/>
          <p:nvPr/>
        </p:nvSpPr>
        <p:spPr>
          <a:xfrm>
            <a:off x="6537960" y="4754880"/>
            <a:ext cx="1279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PMO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7"/>
          <p:cNvSpPr/>
          <p:nvPr/>
        </p:nvSpPr>
        <p:spPr>
          <a:xfrm>
            <a:off x="2071080" y="2011680"/>
            <a:ext cx="383760" cy="383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D97A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8"/>
          <p:cNvSpPr/>
          <p:nvPr/>
        </p:nvSpPr>
        <p:spPr>
          <a:xfrm>
            <a:off x="2071080" y="2011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9"/>
          <p:cNvSpPr/>
          <p:nvPr/>
        </p:nvSpPr>
        <p:spPr>
          <a:xfrm>
            <a:off x="6003000" y="2743200"/>
            <a:ext cx="383760" cy="383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D97A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0"/>
          <p:cNvSpPr/>
          <p:nvPr/>
        </p:nvSpPr>
        <p:spPr>
          <a:xfrm>
            <a:off x="6003000" y="2743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1"/>
          <p:cNvSpPr/>
          <p:nvPr/>
        </p:nvSpPr>
        <p:spPr>
          <a:xfrm>
            <a:off x="3054240" y="4206240"/>
            <a:ext cx="383760" cy="383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D97A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2"/>
          <p:cNvSpPr/>
          <p:nvPr/>
        </p:nvSpPr>
        <p:spPr>
          <a:xfrm>
            <a:off x="3054240" y="4206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3"/>
          <p:cNvSpPr/>
          <p:nvPr/>
        </p:nvSpPr>
        <p:spPr>
          <a:xfrm>
            <a:off x="8275320" y="1783080"/>
            <a:ext cx="3364560" cy="3885840"/>
          </a:xfrm>
          <a:prstGeom prst="roundRect">
            <a:avLst>
              <a:gd name="adj" fmla="val 2174"/>
            </a:avLst>
          </a:prstGeom>
          <a:solidFill>
            <a:schemeClr val="accent5"/>
          </a:solidFill>
          <a:ln w="12700">
            <a:solidFill>
              <a:srgbClr val="FBEB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4"/>
          <p:cNvSpPr/>
          <p:nvPr/>
        </p:nvSpPr>
        <p:spPr>
          <a:xfrm>
            <a:off x="8503920" y="2011680"/>
            <a:ext cx="383760" cy="383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D97A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5"/>
          <p:cNvSpPr/>
          <p:nvPr/>
        </p:nvSpPr>
        <p:spPr>
          <a:xfrm>
            <a:off x="8503920" y="2011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6"/>
          <p:cNvSpPr/>
          <p:nvPr/>
        </p:nvSpPr>
        <p:spPr>
          <a:xfrm>
            <a:off x="9034200" y="203004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Nejasné zadanie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7"/>
          <p:cNvSpPr/>
          <p:nvPr/>
        </p:nvSpPr>
        <p:spPr>
          <a:xfrm>
            <a:off x="9034200" y="2395800"/>
            <a:ext cx="24685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Klient opíše cieľ vlastnými slovami a tím si ho vyloží inak.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8"/>
          <p:cNvSpPr/>
          <p:nvPr/>
        </p:nvSpPr>
        <p:spPr>
          <a:xfrm>
            <a:off x="8503920" y="3227760"/>
            <a:ext cx="383760" cy="383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D97A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9"/>
          <p:cNvSpPr/>
          <p:nvPr/>
        </p:nvSpPr>
        <p:spPr>
          <a:xfrm>
            <a:off x="8503920" y="3227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0"/>
          <p:cNvSpPr/>
          <p:nvPr/>
        </p:nvSpPr>
        <p:spPr>
          <a:xfrm>
            <a:off x="9034200" y="32461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Technický text pre vedenie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1"/>
          <p:cNvSpPr/>
          <p:nvPr/>
        </p:nvSpPr>
        <p:spPr>
          <a:xfrm>
            <a:off x="9034200" y="3611880"/>
            <a:ext cx="24685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Sponzor dostane stav plný skratiek, z ktorého nevie rozhodnúť.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42"/>
          <p:cNvSpPr/>
          <p:nvPr/>
        </p:nvSpPr>
        <p:spPr>
          <a:xfrm>
            <a:off x="8503920" y="4443840"/>
            <a:ext cx="383760" cy="383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D97A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43"/>
          <p:cNvSpPr/>
          <p:nvPr/>
        </p:nvSpPr>
        <p:spPr>
          <a:xfrm>
            <a:off x="8503920" y="44438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44"/>
          <p:cNvSpPr/>
          <p:nvPr/>
        </p:nvSpPr>
        <p:spPr>
          <a:xfrm>
            <a:off x="9034200" y="44622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Chýbajúca spätná väzba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45"/>
          <p:cNvSpPr/>
          <p:nvPr/>
        </p:nvSpPr>
        <p:spPr>
          <a:xfrm>
            <a:off x="9034200" y="4827960"/>
            <a:ext cx="24685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Chyby a otázky medzi vývojom a testovaním sa neuzatvárajú.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6"/>
          <p:cNvSpPr/>
          <p:nvPr/>
        </p:nvSpPr>
        <p:spPr>
          <a:xfrm>
            <a:off x="548640" y="580644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Model je zjednodušený – v reálnom projekte pribudne napríklad prevádzka, bezpečnosť či dodávatelia.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02 – AKO KOMUNIKÁCIU RIADIŤ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315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Každá bariéra má protiopatrenie aj jeho hranicu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 2"/>
          <p:cNvSpPr/>
          <p:nvPr/>
        </p:nvSpPr>
        <p:spPr>
          <a:xfrm>
            <a:off x="1234440" y="178308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chemeClr val="accent1"/>
                </a:solidFill>
                <a:effectLst/>
                <a:uFillTx/>
                <a:latin typeface="Calibri"/>
              </a:rPr>
              <a:t>Bariéra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"/>
          <p:cNvSpPr/>
          <p:nvPr/>
        </p:nvSpPr>
        <p:spPr>
          <a:xfrm>
            <a:off x="4526280" y="17830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chemeClr val="accent1"/>
                </a:solidFill>
                <a:effectLst/>
                <a:uFillTx/>
                <a:latin typeface="Calibri"/>
              </a:rPr>
              <a:t>Protiopatrenie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4"/>
          <p:cNvSpPr/>
          <p:nvPr/>
        </p:nvSpPr>
        <p:spPr>
          <a:xfrm>
            <a:off x="8092440" y="178308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chemeClr val="accent2"/>
                </a:solidFill>
                <a:effectLst/>
                <a:uFillTx/>
                <a:latin typeface="Calibri"/>
              </a:rPr>
              <a:t>Kde nestačí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5"/>
          <p:cNvSpPr/>
          <p:nvPr/>
        </p:nvSpPr>
        <p:spPr>
          <a:xfrm>
            <a:off x="548640" y="2240280"/>
            <a:ext cx="11091240" cy="118836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6"/>
          <p:cNvSpPr/>
          <p:nvPr/>
        </p:nvSpPr>
        <p:spPr>
          <a:xfrm>
            <a:off x="749880" y="2468880"/>
            <a:ext cx="383760" cy="383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D97A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7"/>
          <p:cNvSpPr/>
          <p:nvPr/>
        </p:nvSpPr>
        <p:spPr>
          <a:xfrm>
            <a:off x="749880" y="2468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8"/>
          <p:cNvSpPr/>
          <p:nvPr/>
        </p:nvSpPr>
        <p:spPr>
          <a:xfrm>
            <a:off x="1234440" y="242316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Nejasné zadanie od biznisu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9"/>
          <p:cNvSpPr/>
          <p:nvPr/>
        </p:nvSpPr>
        <p:spPr>
          <a:xfrm>
            <a:off x="1234440" y="278892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„Aplikácia má byť rýchla“ si každý predstaví inak.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0"/>
          <p:cNvSpPr/>
          <p:nvPr/>
        </p:nvSpPr>
        <p:spPr>
          <a:xfrm>
            <a:off x="4526280" y="2423160"/>
            <a:ext cx="3291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Akceptačné kritériá s konkrétnymi príkladmi, prototyp a spoločný slovník pojmov.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1"/>
          <p:cNvSpPr/>
          <p:nvPr/>
        </p:nvSpPr>
        <p:spPr>
          <a:xfrm>
            <a:off x="8092440" y="2423160"/>
            <a:ext cx="3520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Ak klient sám ešte nevie, čo potrebuje, má prvá iterácia overiť potrebu, nie dodať funkciu.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2"/>
          <p:cNvSpPr/>
          <p:nvPr/>
        </p:nvSpPr>
        <p:spPr>
          <a:xfrm>
            <a:off x="548640" y="3566160"/>
            <a:ext cx="11091240" cy="118836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3"/>
          <p:cNvSpPr/>
          <p:nvPr/>
        </p:nvSpPr>
        <p:spPr>
          <a:xfrm>
            <a:off x="749880" y="3794760"/>
            <a:ext cx="383760" cy="383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D97A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4"/>
          <p:cNvSpPr/>
          <p:nvPr/>
        </p:nvSpPr>
        <p:spPr>
          <a:xfrm>
            <a:off x="749880" y="3794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5"/>
          <p:cNvSpPr/>
          <p:nvPr/>
        </p:nvSpPr>
        <p:spPr>
          <a:xfrm>
            <a:off x="1234440" y="374904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Nepochopený technický text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6"/>
          <p:cNvSpPr/>
          <p:nvPr/>
        </p:nvSpPr>
        <p:spPr>
          <a:xfrm>
            <a:off x="1234440" y="411480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Report plný skratiek bez dopadu na termín či riziko.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7"/>
          <p:cNvSpPr/>
          <p:nvPr/>
        </p:nvSpPr>
        <p:spPr>
          <a:xfrm>
            <a:off x="4526280" y="3749040"/>
            <a:ext cx="3291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Písať v jazyku publika: dopad, riziko a potrebné rozhodnutie, technické detaily do prílohy.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8"/>
          <p:cNvSpPr/>
          <p:nvPr/>
        </p:nvSpPr>
        <p:spPr>
          <a:xfrm>
            <a:off x="8092440" y="3749040"/>
            <a:ext cx="3520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Zjednodušenie nesmie skryť problém – report môže byť zelený, aj keď je projekt zablokovaný.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9"/>
          <p:cNvSpPr/>
          <p:nvPr/>
        </p:nvSpPr>
        <p:spPr>
          <a:xfrm>
            <a:off x="548640" y="4892040"/>
            <a:ext cx="11091240" cy="118836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0"/>
          <p:cNvSpPr/>
          <p:nvPr/>
        </p:nvSpPr>
        <p:spPr>
          <a:xfrm>
            <a:off x="749880" y="5120640"/>
            <a:ext cx="383760" cy="383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D97A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1"/>
          <p:cNvSpPr/>
          <p:nvPr/>
        </p:nvSpPr>
        <p:spPr>
          <a:xfrm>
            <a:off x="749880" y="51206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2"/>
          <p:cNvSpPr/>
          <p:nvPr/>
        </p:nvSpPr>
        <p:spPr>
          <a:xfrm>
            <a:off x="1234440" y="507492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Chýbajúca spätná väzba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3"/>
          <p:cNvSpPr/>
          <p:nvPr/>
        </p:nvSpPr>
        <p:spPr>
          <a:xfrm>
            <a:off x="1234440" y="544068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Zadanie odíde a nikto nepotvrdí, že ho pochopil.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4"/>
          <p:cNvSpPr/>
          <p:nvPr/>
        </p:nvSpPr>
        <p:spPr>
          <a:xfrm>
            <a:off x="4526280" y="5074920"/>
            <a:ext cx="3291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Zopakovanie vlastnými slovami, demo v každej iterácii a retrospektíva s vlastníkom akcie.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5"/>
          <p:cNvSpPr/>
          <p:nvPr/>
        </p:nvSpPr>
        <p:spPr>
          <a:xfrm>
            <a:off x="8092440" y="5074920"/>
            <a:ext cx="3520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Ak sa zlá správa trestá, ľudia ju nepovedia – bez dôvery v tíme to nefunguje.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03 – KANCELÁRIA PROJEKTOVÉHO MANAŽMENTU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315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PMO je komunikačný uzol medzi projektmi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548640" y="1828800"/>
            <a:ext cx="42058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Kancelária projektového manažmentu (Project Management Office) </a:t>
            </a: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je organizačná štruktúra, ktorá zjednocuje procesy riadenia projektov a zdieľa medzi nimi zdroje, metodiky a nástroje.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3"/>
          <p:cNvSpPr/>
          <p:nvPr/>
        </p:nvSpPr>
        <p:spPr>
          <a:xfrm>
            <a:off x="548640" y="3977640"/>
            <a:ext cx="4205880" cy="210276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12700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4"/>
          <p:cNvSpPr/>
          <p:nvPr/>
        </p:nvSpPr>
        <p:spPr>
          <a:xfrm>
            <a:off x="822960" y="42062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Projektový manažér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5"/>
          <p:cNvSpPr/>
          <p:nvPr/>
        </p:nvSpPr>
        <p:spPr>
          <a:xfrm>
            <a:off x="822960" y="45262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zodpovedá za ciele jedného projektu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6"/>
          <p:cNvSpPr/>
          <p:nvPr/>
        </p:nvSpPr>
        <p:spPr>
          <a:xfrm>
            <a:off x="822960" y="50292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PMO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7"/>
          <p:cNvSpPr/>
          <p:nvPr/>
        </p:nvSpPr>
        <p:spPr>
          <a:xfrm>
            <a:off x="822960" y="53492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pôsobí naprieč projektmi celej organizácie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8"/>
          <p:cNvSpPr/>
          <p:nvPr/>
        </p:nvSpPr>
        <p:spPr>
          <a:xfrm>
            <a:off x="5120640" y="1828800"/>
            <a:ext cx="3181680" cy="16455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9"/>
          <p:cNvSpPr/>
          <p:nvPr/>
        </p:nvSpPr>
        <p:spPr>
          <a:xfrm>
            <a:off x="5394960" y="2103120"/>
            <a:ext cx="548280" cy="54828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Image 0" descr="preencoded.png"/>
          <p:cNvPicPr/>
          <p:nvPr/>
        </p:nvPicPr>
        <p:blipFill>
          <a:blip r:embed="rId1"/>
          <a:stretch/>
        </p:blipFill>
        <p:spPr>
          <a:xfrm>
            <a:off x="5515560" y="222372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Text 10"/>
          <p:cNvSpPr/>
          <p:nvPr/>
        </p:nvSpPr>
        <p:spPr>
          <a:xfrm>
            <a:off x="6080760" y="217620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Spoločné štandardy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1"/>
          <p:cNvSpPr/>
          <p:nvPr/>
        </p:nvSpPr>
        <p:spPr>
          <a:xfrm>
            <a:off x="5394960" y="2743200"/>
            <a:ext cx="2678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Šablóny reportov a jednotné definície toho, kedy je projekt v poriadku.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2"/>
          <p:cNvSpPr/>
          <p:nvPr/>
        </p:nvSpPr>
        <p:spPr>
          <a:xfrm>
            <a:off x="8430840" y="1828800"/>
            <a:ext cx="3181680" cy="16455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3"/>
          <p:cNvSpPr/>
          <p:nvPr/>
        </p:nvSpPr>
        <p:spPr>
          <a:xfrm>
            <a:off x="8705160" y="2103120"/>
            <a:ext cx="548280" cy="54828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5" name="Image 1" descr="preencoded.png"/>
          <p:cNvPicPr/>
          <p:nvPr/>
        </p:nvPicPr>
        <p:blipFill>
          <a:blip r:embed="rId2"/>
          <a:stretch/>
        </p:blipFill>
        <p:spPr>
          <a:xfrm>
            <a:off x="8825760" y="222372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 14"/>
          <p:cNvSpPr/>
          <p:nvPr/>
        </p:nvSpPr>
        <p:spPr>
          <a:xfrm>
            <a:off x="9390960" y="217620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Zdieľané zdroje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5"/>
          <p:cNvSpPr/>
          <p:nvPr/>
        </p:nvSpPr>
        <p:spPr>
          <a:xfrm>
            <a:off x="8705160" y="2743200"/>
            <a:ext cx="2678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Spoločný kalendár ľudí, ktorých potrebuje viac projektov naraz.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6"/>
          <p:cNvSpPr/>
          <p:nvPr/>
        </p:nvSpPr>
        <p:spPr>
          <a:xfrm>
            <a:off x="5120640" y="3657600"/>
            <a:ext cx="3181680" cy="16455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7"/>
          <p:cNvSpPr/>
          <p:nvPr/>
        </p:nvSpPr>
        <p:spPr>
          <a:xfrm>
            <a:off x="5394960" y="3931920"/>
            <a:ext cx="548280" cy="54828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0" name="Image 2" descr="preencoded.png"/>
          <p:cNvPicPr/>
          <p:nvPr/>
        </p:nvPicPr>
        <p:blipFill>
          <a:blip r:embed="rId3"/>
          <a:stretch/>
        </p:blipFill>
        <p:spPr>
          <a:xfrm>
            <a:off x="5515560" y="405252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Text 18"/>
          <p:cNvSpPr/>
          <p:nvPr/>
        </p:nvSpPr>
        <p:spPr>
          <a:xfrm>
            <a:off x="6080760" y="400500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Prehľad pre vedenie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9"/>
          <p:cNvSpPr/>
          <p:nvPr/>
        </p:nvSpPr>
        <p:spPr>
          <a:xfrm>
            <a:off x="5394960" y="4572000"/>
            <a:ext cx="2678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Porovnateľné informácie o všetkých projektoch na jednom mieste.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0"/>
          <p:cNvSpPr/>
          <p:nvPr/>
        </p:nvSpPr>
        <p:spPr>
          <a:xfrm>
            <a:off x="8430840" y="3657600"/>
            <a:ext cx="3181680" cy="16455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1"/>
          <p:cNvSpPr/>
          <p:nvPr/>
        </p:nvSpPr>
        <p:spPr>
          <a:xfrm>
            <a:off x="8705160" y="3931920"/>
            <a:ext cx="548280" cy="54828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5" name="Image 3" descr="preencoded.png"/>
          <p:cNvPicPr/>
          <p:nvPr/>
        </p:nvPicPr>
        <p:blipFill>
          <a:blip r:embed="rId4"/>
          <a:stretch/>
        </p:blipFill>
        <p:spPr>
          <a:xfrm>
            <a:off x="8825760" y="405252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 22"/>
          <p:cNvSpPr/>
          <p:nvPr/>
        </p:nvSpPr>
        <p:spPr>
          <a:xfrm>
            <a:off x="9390960" y="400500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Prenos poučení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3"/>
          <p:cNvSpPr/>
          <p:nvPr/>
        </p:nvSpPr>
        <p:spPr>
          <a:xfrm>
            <a:off x="8705160" y="4572000"/>
            <a:ext cx="2678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Skúsenosti z jedného projektu sa dostanú k tým ďalším.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4"/>
          <p:cNvSpPr/>
          <p:nvPr/>
        </p:nvSpPr>
        <p:spPr>
          <a:xfrm>
            <a:off x="5120640" y="5532120"/>
            <a:ext cx="6491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Vo výskume kancelárií projektového manažmentu bola najčastejšou dôležitou funkciou správa o stave projektov pre vrcholový manažment.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03 – KANCELÁRIA PROJEKTOVÉHO MANAŽMENTU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315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Typ PMO určuje, koľko kontroly do projektov prinesie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" name="Shape 2"/>
          <p:cNvSpPr/>
          <p:nvPr/>
        </p:nvSpPr>
        <p:spPr>
          <a:xfrm>
            <a:off x="548640" y="1965960"/>
            <a:ext cx="11091600" cy="360"/>
          </a:xfrm>
          <a:prstGeom prst="line">
            <a:avLst/>
          </a:prstGeom>
          <a:ln w="31750">
            <a:solidFill>
              <a:srgbClr val="0E7C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3"/>
          <p:cNvSpPr/>
          <p:nvPr/>
        </p:nvSpPr>
        <p:spPr>
          <a:xfrm>
            <a:off x="548640" y="20847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nízka kontrola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4"/>
          <p:cNvSpPr/>
          <p:nvPr/>
        </p:nvSpPr>
        <p:spPr>
          <a:xfrm>
            <a:off x="8778240" y="20847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vysoká kontrola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5"/>
          <p:cNvSpPr/>
          <p:nvPr/>
        </p:nvSpPr>
        <p:spPr>
          <a:xfrm>
            <a:off x="548640" y="2560320"/>
            <a:ext cx="3520080" cy="36115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6"/>
          <p:cNvSpPr/>
          <p:nvPr/>
        </p:nvSpPr>
        <p:spPr>
          <a:xfrm>
            <a:off x="548640" y="2560320"/>
            <a:ext cx="3520080" cy="868320"/>
          </a:xfrm>
          <a:prstGeom prst="roundRect">
            <a:avLst>
              <a:gd name="adj" fmla="val 8421"/>
            </a:avLst>
          </a:prstGeom>
          <a:solidFill>
            <a:srgbClr val="DDEEE8"/>
          </a:solidFill>
          <a:ln w="12700">
            <a:solidFill>
              <a:srgbClr val="DDE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7"/>
          <p:cNvSpPr/>
          <p:nvPr/>
        </p:nvSpPr>
        <p:spPr>
          <a:xfrm>
            <a:off x="548640" y="3108960"/>
            <a:ext cx="3520080" cy="319680"/>
          </a:xfrm>
          <a:prstGeom prst="rect">
            <a:avLst/>
          </a:prstGeom>
          <a:solidFill>
            <a:srgbClr val="DDEEE8"/>
          </a:solidFill>
          <a:ln w="12700">
            <a:solidFill>
              <a:srgbClr val="DDE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8"/>
          <p:cNvSpPr/>
          <p:nvPr/>
        </p:nvSpPr>
        <p:spPr>
          <a:xfrm>
            <a:off x="868680" y="2743200"/>
            <a:ext cx="2880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Podporné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9"/>
          <p:cNvSpPr/>
          <p:nvPr/>
        </p:nvSpPr>
        <p:spPr>
          <a:xfrm>
            <a:off x="868680" y="3611880"/>
            <a:ext cx="2880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Radí a ponúka šablóny, školenia a poučenia z iných projektov.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0"/>
          <p:cNvSpPr/>
          <p:nvPr/>
        </p:nvSpPr>
        <p:spPr>
          <a:xfrm>
            <a:off x="868680" y="4434840"/>
            <a:ext cx="288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Kedy sa hodí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1"/>
          <p:cNvSpPr/>
          <p:nvPr/>
        </p:nvSpPr>
        <p:spPr>
          <a:xfrm>
            <a:off x="868680" y="470916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málo projektov, skúsení manažéri a kultúra autonómie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2"/>
          <p:cNvSpPr/>
          <p:nvPr/>
        </p:nvSpPr>
        <p:spPr>
          <a:xfrm>
            <a:off x="868680" y="5303520"/>
            <a:ext cx="288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Hlavné riziko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3"/>
          <p:cNvSpPr/>
          <p:nvPr/>
        </p:nvSpPr>
        <p:spPr>
          <a:xfrm>
            <a:off x="868680" y="5577840"/>
            <a:ext cx="2880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nikto ho nemusí počúvať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4"/>
          <p:cNvSpPr/>
          <p:nvPr/>
        </p:nvSpPr>
        <p:spPr>
          <a:xfrm>
            <a:off x="4343400" y="2560320"/>
            <a:ext cx="3520080" cy="36115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5"/>
          <p:cNvSpPr/>
          <p:nvPr/>
        </p:nvSpPr>
        <p:spPr>
          <a:xfrm>
            <a:off x="4343400" y="2560320"/>
            <a:ext cx="3520080" cy="868320"/>
          </a:xfrm>
          <a:prstGeom prst="roundRect">
            <a:avLst>
              <a:gd name="adj" fmla="val 8421"/>
            </a:avLst>
          </a:prstGeom>
          <a:solidFill>
            <a:srgbClr val="A9D5C8"/>
          </a:solidFill>
          <a:ln w="12700">
            <a:solidFill>
              <a:srgbClr val="A9D5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6"/>
          <p:cNvSpPr/>
          <p:nvPr/>
        </p:nvSpPr>
        <p:spPr>
          <a:xfrm>
            <a:off x="4343400" y="3108960"/>
            <a:ext cx="3520080" cy="319680"/>
          </a:xfrm>
          <a:prstGeom prst="rect">
            <a:avLst/>
          </a:prstGeom>
          <a:solidFill>
            <a:srgbClr val="A9D5C8"/>
          </a:solidFill>
          <a:ln w="12700">
            <a:solidFill>
              <a:srgbClr val="A9D5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7"/>
          <p:cNvSpPr/>
          <p:nvPr/>
        </p:nvSpPr>
        <p:spPr>
          <a:xfrm>
            <a:off x="4663440" y="2743200"/>
            <a:ext cx="2880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Riadiace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8"/>
          <p:cNvSpPr/>
          <p:nvPr/>
        </p:nvSpPr>
        <p:spPr>
          <a:xfrm>
            <a:off x="4663440" y="3611880"/>
            <a:ext cx="2880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Vyžaduje súlad s metodikou a jednotné reporty, môže auditovať.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9"/>
          <p:cNvSpPr/>
          <p:nvPr/>
        </p:nvSpPr>
        <p:spPr>
          <a:xfrm>
            <a:off x="4663440" y="4434840"/>
            <a:ext cx="288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Kedy sa hodí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0"/>
          <p:cNvSpPr/>
          <p:nvPr/>
        </p:nvSpPr>
        <p:spPr>
          <a:xfrm>
            <a:off x="4663440" y="470916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viac paralelných projektov so zdieľanými ľuďmi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1"/>
          <p:cNvSpPr/>
          <p:nvPr/>
        </p:nvSpPr>
        <p:spPr>
          <a:xfrm>
            <a:off x="4663440" y="5303520"/>
            <a:ext cx="288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Hlavné riziko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2"/>
          <p:cNvSpPr/>
          <p:nvPr/>
        </p:nvSpPr>
        <p:spPr>
          <a:xfrm>
            <a:off x="4663440" y="5577840"/>
            <a:ext cx="2880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byrokracia a reportovanie pre reportovanie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3"/>
          <p:cNvSpPr/>
          <p:nvPr/>
        </p:nvSpPr>
        <p:spPr>
          <a:xfrm>
            <a:off x="8138160" y="2560320"/>
            <a:ext cx="3520080" cy="36115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4"/>
          <p:cNvSpPr/>
          <p:nvPr/>
        </p:nvSpPr>
        <p:spPr>
          <a:xfrm>
            <a:off x="8138160" y="2560320"/>
            <a:ext cx="3520080" cy="868320"/>
          </a:xfrm>
          <a:prstGeom prst="roundRect">
            <a:avLst>
              <a:gd name="adj" fmla="val 8421"/>
            </a:avLst>
          </a:prstGeom>
          <a:solidFill>
            <a:srgbClr val="0E7C66"/>
          </a:solidFill>
          <a:ln w="12700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5"/>
          <p:cNvSpPr/>
          <p:nvPr/>
        </p:nvSpPr>
        <p:spPr>
          <a:xfrm>
            <a:off x="8138160" y="3108960"/>
            <a:ext cx="3520080" cy="319680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6"/>
          <p:cNvSpPr/>
          <p:nvPr/>
        </p:nvSpPr>
        <p:spPr>
          <a:xfrm>
            <a:off x="8458200" y="2743200"/>
            <a:ext cx="2880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Direktívne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7"/>
          <p:cNvSpPr/>
          <p:nvPr/>
        </p:nvSpPr>
        <p:spPr>
          <a:xfrm>
            <a:off x="8458200" y="3611880"/>
            <a:ext cx="2880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Priamo riadi projekty a manažéri sa zodpovedajú jemu.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8"/>
          <p:cNvSpPr/>
          <p:nvPr/>
        </p:nvSpPr>
        <p:spPr>
          <a:xfrm>
            <a:off x="8458200" y="4434840"/>
            <a:ext cx="288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Kedy sa hodí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9"/>
          <p:cNvSpPr/>
          <p:nvPr/>
        </p:nvSpPr>
        <p:spPr>
          <a:xfrm>
            <a:off x="8458200" y="470916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strategické a rizikové portfólio, nízka zrelosť riadenia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0"/>
          <p:cNvSpPr/>
          <p:nvPr/>
        </p:nvSpPr>
        <p:spPr>
          <a:xfrm>
            <a:off x="8458200" y="5303520"/>
            <a:ext cx="288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Hlavné riziko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31"/>
          <p:cNvSpPr/>
          <p:nvPr/>
        </p:nvSpPr>
        <p:spPr>
          <a:xfrm>
            <a:off x="8458200" y="5577840"/>
            <a:ext cx="2880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úzke hrdlo, vysoké náklady a odstup od reality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03 – KANCELÁRIA PROJEKTOVÉHO MANAŽMENTU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315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Modelový príklad: jeden tester pre tri projekty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 2"/>
          <p:cNvSpPr/>
          <p:nvPr/>
        </p:nvSpPr>
        <p:spPr>
          <a:xfrm>
            <a:off x="548640" y="1783080"/>
            <a:ext cx="49374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Vymyslená softvérová firma so 60 ľuďmi vyvíja súčasne tri projekty a všetky zdieľajú jedného bezpečnostného testera. Každý projektový manažér plánuje testovanie, akoby mal testera iba pre seba, a tri termíny sa zrazia v jednom týždni.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"/>
          <p:cNvSpPr/>
          <p:nvPr/>
        </p:nvSpPr>
        <p:spPr>
          <a:xfrm>
            <a:off x="548640" y="3657600"/>
            <a:ext cx="1508400" cy="68544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4"/>
          <p:cNvSpPr/>
          <p:nvPr/>
        </p:nvSpPr>
        <p:spPr>
          <a:xfrm>
            <a:off x="548640" y="3657600"/>
            <a:ext cx="1508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Projekt 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5"/>
          <p:cNvSpPr/>
          <p:nvPr/>
        </p:nvSpPr>
        <p:spPr>
          <a:xfrm>
            <a:off x="1302840" y="4343400"/>
            <a:ext cx="1691640" cy="731520"/>
          </a:xfrm>
          <a:prstGeom prst="line">
            <a:avLst/>
          </a:prstGeom>
          <a:ln w="25400">
            <a:solidFill>
              <a:srgbClr val="D97A1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6"/>
          <p:cNvSpPr/>
          <p:nvPr/>
        </p:nvSpPr>
        <p:spPr>
          <a:xfrm>
            <a:off x="2240280" y="3657600"/>
            <a:ext cx="1508400" cy="68544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7"/>
          <p:cNvSpPr/>
          <p:nvPr/>
        </p:nvSpPr>
        <p:spPr>
          <a:xfrm>
            <a:off x="2240280" y="3657600"/>
            <a:ext cx="1508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Projekt 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8"/>
          <p:cNvSpPr/>
          <p:nvPr/>
        </p:nvSpPr>
        <p:spPr>
          <a:xfrm>
            <a:off x="2994480" y="4343400"/>
            <a:ext cx="360" cy="731520"/>
          </a:xfrm>
          <a:prstGeom prst="line">
            <a:avLst/>
          </a:prstGeom>
          <a:ln w="25400">
            <a:solidFill>
              <a:srgbClr val="D97A1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9"/>
          <p:cNvSpPr/>
          <p:nvPr/>
        </p:nvSpPr>
        <p:spPr>
          <a:xfrm>
            <a:off x="3931920" y="3657600"/>
            <a:ext cx="1508400" cy="68544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rgbClr val="CFE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0"/>
          <p:cNvSpPr/>
          <p:nvPr/>
        </p:nvSpPr>
        <p:spPr>
          <a:xfrm>
            <a:off x="3931920" y="3657600"/>
            <a:ext cx="1508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Projekt 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1"/>
          <p:cNvSpPr/>
          <p:nvPr/>
        </p:nvSpPr>
        <p:spPr>
          <a:xfrm flipH="1">
            <a:off x="2994480" y="4343400"/>
            <a:ext cx="1691640" cy="731520"/>
          </a:xfrm>
          <a:prstGeom prst="line">
            <a:avLst/>
          </a:prstGeom>
          <a:ln w="25400">
            <a:solidFill>
              <a:srgbClr val="D97A1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2"/>
          <p:cNvSpPr/>
          <p:nvPr/>
        </p:nvSpPr>
        <p:spPr>
          <a:xfrm>
            <a:off x="1783080" y="5120640"/>
            <a:ext cx="2422800" cy="776880"/>
          </a:xfrm>
          <a:prstGeom prst="roundRect">
            <a:avLst>
              <a:gd name="adj" fmla="val 9412"/>
            </a:avLst>
          </a:prstGeom>
          <a:solidFill>
            <a:schemeClr val="accent5"/>
          </a:solidFill>
          <a:ln w="15875">
            <a:solidFill>
              <a:srgbClr val="D97A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4" name="Image 0" descr="preencoded.png"/>
          <p:cNvPicPr/>
          <p:nvPr/>
        </p:nvPicPr>
        <p:blipFill>
          <a:blip r:embed="rId1"/>
          <a:stretch/>
        </p:blipFill>
        <p:spPr>
          <a:xfrm>
            <a:off x="1938600" y="53035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 13"/>
          <p:cNvSpPr/>
          <p:nvPr/>
        </p:nvSpPr>
        <p:spPr>
          <a:xfrm>
            <a:off x="2423160" y="5120640"/>
            <a:ext cx="1737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Bezpečnostný tester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4"/>
          <p:cNvSpPr/>
          <p:nvPr/>
        </p:nvSpPr>
        <p:spPr>
          <a:xfrm>
            <a:off x="5989320" y="1783080"/>
            <a:ext cx="5650560" cy="118836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5"/>
          <p:cNvSpPr/>
          <p:nvPr/>
        </p:nvSpPr>
        <p:spPr>
          <a:xfrm>
            <a:off x="6309360" y="1965960"/>
            <a:ext cx="5010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Podporné PMO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6"/>
          <p:cNvSpPr/>
          <p:nvPr/>
        </p:nvSpPr>
        <p:spPr>
          <a:xfrm>
            <a:off x="6309360" y="2331720"/>
            <a:ext cx="5010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Iba odporučí plánovať skôr. Konflikt termínov sa tým nevyrieši.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7"/>
          <p:cNvSpPr/>
          <p:nvPr/>
        </p:nvSpPr>
        <p:spPr>
          <a:xfrm>
            <a:off x="5989320" y="3154680"/>
            <a:ext cx="5650560" cy="118836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rgbClr val="0E7C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8"/>
          <p:cNvSpPr/>
          <p:nvPr/>
        </p:nvSpPr>
        <p:spPr>
          <a:xfrm>
            <a:off x="6309360" y="3337560"/>
            <a:ext cx="5010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Riadiace PMO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9"/>
          <p:cNvSpPr/>
          <p:nvPr/>
        </p:nvSpPr>
        <p:spPr>
          <a:xfrm>
            <a:off x="6309360" y="3703320"/>
            <a:ext cx="5010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Spoločný kalendár zdieľaných ľudí a konflikt priorít rozhodne vedenie z podkladov PMO.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20"/>
          <p:cNvSpPr/>
          <p:nvPr/>
        </p:nvSpPr>
        <p:spPr>
          <a:xfrm>
            <a:off x="5989320" y="4526280"/>
            <a:ext cx="5650560" cy="118836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EEF4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1"/>
          <p:cNvSpPr/>
          <p:nvPr/>
        </p:nvSpPr>
        <p:spPr>
          <a:xfrm>
            <a:off x="6309360" y="4709160"/>
            <a:ext cx="5010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Direktívne PMO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2"/>
          <p:cNvSpPr/>
          <p:nvPr/>
        </p:nvSpPr>
        <p:spPr>
          <a:xfrm>
            <a:off x="6309360" y="5074920"/>
            <a:ext cx="5010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Pri troch projektoch by bolo zbytočne drahé a stalo by sa úzkym hrdlom.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3"/>
          <p:cNvSpPr/>
          <p:nvPr/>
        </p:nvSpPr>
        <p:spPr>
          <a:xfrm>
            <a:off x="5989320" y="5943600"/>
            <a:ext cx="5650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Typ PMO sa odvodzuje od problému, ktorý má riešiť.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pc="150" strike="noStrike">
                <a:solidFill>
                  <a:schemeClr val="accent6"/>
                </a:solidFill>
                <a:effectLst/>
                <a:uFillTx/>
                <a:latin typeface="Calibri"/>
              </a:rPr>
              <a:t>ZHRNUTIE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315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Čo z toho vyplýva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 2"/>
          <p:cNvSpPr/>
          <p:nvPr/>
        </p:nvSpPr>
        <p:spPr>
          <a:xfrm>
            <a:off x="548640" y="1965960"/>
            <a:ext cx="3474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chemeClr val="accent6"/>
                </a:solidFill>
                <a:effectLst/>
                <a:uFillTx/>
                <a:latin typeface="Cambria"/>
                <a:ea typeface="Cambria"/>
              </a:rPr>
              <a:t>Porozumenie, nie odoslanie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3"/>
          <p:cNvSpPr/>
          <p:nvPr/>
        </p:nvSpPr>
        <p:spPr>
          <a:xfrm>
            <a:off x="548640" y="2971800"/>
            <a:ext cx="3382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Komunikácia je úspešná až vtedy, keď podľa nej príjemca vie konať.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4"/>
          <p:cNvSpPr/>
          <p:nvPr/>
        </p:nvSpPr>
        <p:spPr>
          <a:xfrm>
            <a:off x="4343400" y="1965960"/>
            <a:ext cx="3474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chemeClr val="accent6"/>
                </a:solidFill>
                <a:effectLst/>
                <a:uFillTx/>
                <a:latin typeface="Cambria"/>
                <a:ea typeface="Cambria"/>
              </a:rPr>
              <a:t>Plán z potrieb ľudí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5"/>
          <p:cNvSpPr/>
          <p:nvPr/>
        </p:nvSpPr>
        <p:spPr>
          <a:xfrm>
            <a:off x="4343400" y="2971800"/>
            <a:ext cx="3382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Kanál a rytmus sa odvodzujú od stakeholderov a priebežne sa vyhodnocujú.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6"/>
          <p:cNvSpPr/>
          <p:nvPr/>
        </p:nvSpPr>
        <p:spPr>
          <a:xfrm>
            <a:off x="8138160" y="1965960"/>
            <a:ext cx="3474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chemeClr val="accent6"/>
                </a:solidFill>
                <a:effectLst/>
                <a:uFillTx/>
                <a:latin typeface="Cambria"/>
                <a:ea typeface="Cambria"/>
              </a:rPr>
              <a:t>PMO podľa problému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7"/>
          <p:cNvSpPr/>
          <p:nvPr/>
        </p:nvSpPr>
        <p:spPr>
          <a:xfrm>
            <a:off x="8138160" y="2971800"/>
            <a:ext cx="3382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Zjednocuje iba to, čo opakovane zlyháva naprieč projektmi.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8"/>
          <p:cNvSpPr/>
          <p:nvPr/>
        </p:nvSpPr>
        <p:spPr>
          <a:xfrm>
            <a:off x="548640" y="443484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Nástroje ani porady samy komunikáciu nezaručia.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9"/>
          <p:cNvSpPr/>
          <p:nvPr/>
        </p:nvSpPr>
        <p:spPr>
          <a:xfrm>
            <a:off x="548640" y="498348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Správne nastavená komunikácia spolu s primeraným PMO znižuje riziko nedorozumení a oneskorených rozhodnutí – pokiaľ do projektu nepridá zbytočnú byrokraciu.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pc="150" strike="noStrike">
                <a:solidFill>
                  <a:schemeClr val="accent1"/>
                </a:solidFill>
                <a:effectLst/>
                <a:uFillTx/>
                <a:latin typeface="Calibri"/>
              </a:rPr>
              <a:t>ZHRNUTIE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315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Referencie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 2"/>
          <p:cNvSpPr/>
          <p:nvPr/>
        </p:nvSpPr>
        <p:spPr>
          <a:xfrm>
            <a:off x="548640" y="1828800"/>
            <a:ext cx="5348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Project Management Institute. (2017). </a:t>
            </a:r>
            <a:r>
              <a:rPr lang="en-US" sz="13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Guide to the Project Management Body of Knowledge (PMBOK Guide)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(6. vyd.). PMI.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3"/>
          <p:cNvSpPr/>
          <p:nvPr/>
        </p:nvSpPr>
        <p:spPr>
          <a:xfrm>
            <a:off x="6217920" y="1828800"/>
            <a:ext cx="5348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Project Management Institute. (2013). </a:t>
            </a:r>
            <a:r>
              <a:rPr lang="en-US" sz="13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of the Profession In-Depth Report: The Essential Role of Communications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 PMI.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4"/>
          <p:cNvSpPr/>
          <p:nvPr/>
        </p:nvSpPr>
        <p:spPr>
          <a:xfrm>
            <a:off x="548640" y="2853000"/>
            <a:ext cx="5348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Méndez Fernández, D., et al. (2017). Naming the pain in requirements engineering: Contemporary problems, causes, and effects in practice. </a:t>
            </a:r>
            <a:r>
              <a:rPr lang="en-US" sz="13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Empirical Software Engineering, 22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(5), 2298–2338.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5"/>
          <p:cNvSpPr/>
          <p:nvPr/>
        </p:nvSpPr>
        <p:spPr>
          <a:xfrm>
            <a:off x="6217920" y="2853000"/>
            <a:ext cx="5348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Hobbs, B., &amp; Aubry, M. (2007). A multi-phase research program investigating project management offices (PMOs): The results of phase 1. </a:t>
            </a:r>
            <a:r>
              <a:rPr lang="en-US" sz="13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Project Management Journal, 38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(1), 74–86.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6"/>
          <p:cNvSpPr/>
          <p:nvPr/>
        </p:nvSpPr>
        <p:spPr>
          <a:xfrm>
            <a:off x="548640" y="3877200"/>
            <a:ext cx="5348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Daft, R. L., &amp; Lengel, R. H. (1986). Organizational information requirements, media richness and structural design. </a:t>
            </a:r>
            <a:r>
              <a:rPr lang="en-US" sz="13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Management Science, 32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(5), 554–571.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7"/>
          <p:cNvSpPr/>
          <p:nvPr/>
        </p:nvSpPr>
        <p:spPr>
          <a:xfrm>
            <a:off x="6217920" y="3877200"/>
            <a:ext cx="5348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Edmondson, A. (1999). Psychological safety and learning behavior in work teams. </a:t>
            </a:r>
            <a:r>
              <a:rPr lang="en-US" sz="13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Administrative Science Quarterly, 44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(2), 350–383.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8"/>
          <p:cNvSpPr/>
          <p:nvPr/>
        </p:nvSpPr>
        <p:spPr>
          <a:xfrm>
            <a:off x="548640" y="4901040"/>
            <a:ext cx="5348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Schwaber, K., &amp; Sutherland, J. (2020). </a:t>
            </a:r>
            <a:r>
              <a:rPr lang="en-US" sz="13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Scrum Guide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 scrumguides.org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9"/>
          <p:cNvSpPr/>
          <p:nvPr/>
        </p:nvSpPr>
        <p:spPr>
          <a:xfrm>
            <a:off x="6217920" y="4901040"/>
            <a:ext cx="5348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Brooks, F. P. (1995). </a:t>
            </a:r>
            <a:r>
              <a:rPr lang="en-US" sz="13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Mythical Man-Month: Essays on Software Engineering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(výročné vyd.). Addison-Wesley.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TS Komunikacia">
  <a:themeElements>
    <a:clrScheme name="MTS Komunikacia">
      <a:dk1>
        <a:srgbClr val="1A2B27"/>
      </a:dk1>
      <a:lt1>
        <a:srgbClr val="FFFFFF"/>
      </a:lt1>
      <a:dk2>
        <a:srgbClr val="12332D"/>
      </a:dk2>
      <a:lt2>
        <a:srgbClr val="EEF4F1"/>
      </a:lt2>
      <a:accent1>
        <a:srgbClr val="0E7C66"/>
      </a:accent1>
      <a:accent2>
        <a:srgbClr val="D97A1E"/>
      </a:accent2>
      <a:accent3>
        <a:srgbClr val="5E6E69"/>
      </a:accent3>
      <a:accent4>
        <a:srgbClr val="CFE3DC"/>
      </a:accent4>
      <a:accent5>
        <a:srgbClr val="FBEBD9"/>
      </a:accent5>
      <a:accent6>
        <a:srgbClr val="8FD3BF"/>
      </a:accent6>
      <a:hlink>
        <a:srgbClr val="0E7C66"/>
      </a:hlink>
      <a:folHlink>
        <a:srgbClr val="5E6E69"/>
      </a:folHlink>
    </a:clrScheme>
    <a:fontScheme name="MTS Komunikacia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2026-10-26T21:32:52Z</dcterms:created>
  <dc:creator>Adam Svitek, Nikolas Knapík</dc:creator>
  <dc:description/>
  <dc:language>en-US</dc:language>
  <cp:lastModifiedBy/>
  <dcterms:modified xsi:type="dcterms:W3CDTF">2026-10-27T14:33:40Z</dcterms:modified>
  <cp:revision>2</cp:revision>
  <dc:subject>PptxGenJS Presentation</dc:subject>
  <dc:title>Manažment komunikácie v softvérovom projekte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