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c23c244-dc9e-3650-99e0-03e131406539}">
          <p14:sldIdLst>
            <p14:sldId id="256"/>
            <p14:sldId id="257"/>
          </p14:sldIdLst>
        </p14:section>
        <p14:section name="Prečo na tom záleží" id="{1304810c-f235-d7db-851f-e9df7f38ddd8}">
          <p14:sldIdLst>
            <p14:sldId id="258"/>
            <p14:sldId id="259"/>
            <p14:sldId id="260"/>
          </p14:sldIdLst>
        </p14:section>
        <p14:section name="Ako komunikáciu riadiť" id="{a0a2f124-21b2-c35a-85eb-117890f97ed2}">
          <p14:sldIdLst>
            <p14:sldId id="261"/>
            <p14:sldId id="262"/>
            <p14:sldId id="263"/>
          </p14:sldIdLst>
        </p14:section>
        <p14:section name="Kancelária projektového manažmentu" id="{fbcef38d-ce56-08c9-ed34-4fe52d8b3ce0}">
          <p14:sldIdLst>
            <p14:sldId id="264"/>
            <p14:sldId id="265"/>
            <p14:sldId id="266"/>
          </p14:sldIdLst>
        </p14:section>
        <p14:section name="Zhrnutie" id="{f6e40c63-de3c-96ef-7658-140bc69ce249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deň, sme tím 5, Adam Svitek a Nikolas Knapík. Naša téma je manažment komunikácie v softvérovom projekte a kancelária projektového manažmentu. Všetci v projekte väčšinou vedia, že projekt mešká – okrem toho, kto o ňom rozhoduje. Práve o tom je dnešná prezentácia.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Odpovedáme na jednu otázku: ako riadiť komunikáciu v softvérovom projekte a akú rolu v nej má PMO, aby sa znížilo riziko nedorozumení bez zbytočnej byrokracie. Najprv ukážeme, prečo komunikácia nie je mäkká téma, potom ako ju riadiť v jednom projekte a nakoniec ako jej pomáha PMO naprieč projektmi.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Prečo to riešiť? V prieskume PMI z roku 2013 bolo na každú miliardu dolárov vloženú do projektov ohrozených 135 miliónov a 75 z nich, teda 56 percent, pripísali neefektívnej komunikácii. Druhé číslo je zo softvérového prostredia: v prieskume NaPiRE 41 percent respondentov zaradilo komunikáciu medzi tímom a zákazníkom medzi päť najkritickejších problémov a najčastejšie ju spájali so zlyhaním projektu. Treba férovo povedať, že ide o prieskumy vnímania, nie o meranie príčin – no oba ukazujú rovnakým smerom.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Komunikácia nie je iba poslanie správy. Odosielateľ má v hlave zámer a kontext, správu zakóduje do slov alebo diagramu, pošle ju kanálom, v ktorom je šum, a príjemca si ju vyloží podľa svojho kontextu. Až spätná väzba – keď príjemca zopakuje vlastnými slovami, čo pochopil – ukáže, či prenos funguje. Poslal som to e-mailom teda opisuje iba odoslanie. A potvrdenie „OK, videl som“ ešte neznamená súhlas ani porozumenie.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Prakticky to znamená vybrať správny kanál. Interaktívna komunikácia je stretnutie alebo hovor – hodí sa na nejasnosti, konflikty a rozhodnutia. Push znamená, že informáciu pošlem ja, napríklad status report. Pull znamená, že si ju príjemca nájde sám vo wiki alebo v backlogu. Čím je správa mnohoznačnejšia, tým bohatší kanál potrebuje. Preto konflikt o priority neriešime e-mailom a stav buildov nepreberáme na porade.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Ako komunikáciu riadiť? PMBOK ju delí na tri fázy. Plánovanie odpovedá, kto potrebuje aké informácie, kedy a akým kanálom – výsledkom je komunikačný plán. Riadenie zabezpečí, že informácie naozaj vznikajú a dostávajú sa k ľuďom. Monitorovanie overí, či komunikácia splnila účel – napríklad zistíme, že report nikto nečíta. Tieto zistenia sa vracajú do plánu, takže ide o cyklus. V agilnom tíme môže byť plán krátky, ale ľudí mimo tímu treba stále pokryť.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Takto vyzerá náš model tokov v projekte. Klient komunikuje s Product Ownerom, ten s vývojármi a s projektovým manažérom, vývojári s testermi a projektový manažér so sponzorom a s PMO. Oranžové body sú miesta, kde sa informácia najčastejšie stráca – sú to tri bariéry z nášho abstraktu: nejasné zadanie od biznisu, technický text, ktorému vedenie nerozumie, a chýbajúca spätná väzba medzi vývojom a testovaním.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 každej bariére máme protiopatrenie, ale aj hranicu, kde prestáva fungovať. Nejasné zadanie riešia akceptačné kritériá s príkladmi a prototyp – nepomôžu však, ak klient sám nevie, čo chce. Technický text pre vedenie prepíšeme do reči dopadov a rozhodnutí, no zjednodušenie nesmie skryť problém – vzniká takzvaný melónový report, zelený navonok a červený vnútri. Spätnú väzbu zabezpečí zopakovanie zadania a demo, ale bez dôvery v tíme ľudia zlé správy nepovedia.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Druhá časť je kancelária projektového manažmentu. Je to organizačná štruktúra, ktorá zjednocuje procesy riadenia projektov a zdieľa medzi nimi zdroje a metodiky. Kým projektový manažér zodpovedá za jeden projekt, PMO pôsobí naprieč projektmi: dáva spoločné šablóny a definície stavu, plánuje zdieľaných ľudí, dáva vedeniu porovnateľný prehľad a prenáša poučenia. Vo výskume Hobbsa a Aubryho bolo najčastejšou dôležitou funkciou PMO reportovanie vedeniu – PMO je teda vo veľkej miere komunikačná infraštruktúra organizácie.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PMO nie je jedno. Podľa miery kontroly rozlišujeme tri typy. Podporné PMO iba radí a ponúka šablóny – hodí sa pri malom počte projektov, ale riziko je, že ho nikto nepočúva. Riadiace PMO vyžaduje súlad s metodikou a jednotné reporty – dáva zmysel, keď si projekty zdieľajú ľudí, no hrozí byrokracia. Direktívne PMO projekty priamo riadi – pri strategickom portfóliu, ale stáva sa úzkym hrdlom a je drahé. Čím viac kontroly, tým silnejší vplyv na komunikáciu, ale aj vyššia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Ukážeme to na modelovom príklade, ktorý je vymyslený. Firma so 60 ľuďmi má tri projekty a jedného bezpečnostného testera. Každý manažér plánuje, akoby bol tester len jeho, a tri termíny sa zrazia v jednom týždni. Podporné PMO by iba poradilo plánovať skôr – to konflikt nevyrieši. Direktívne by bolo pri troch projektoch drahé. Riadiace PMO zavedie spoločný kalendár zdieľaných ľudí a pravidlo, že konflikt priorít rozhodne vedenie z podkladov PMO. Typ PMO teda vyberáme podľa problému, ktorý má riešiť.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záver tri myšlienky. Komunikácia je úspešná, až keď podľa nej príjemca vie konať – nie keď ju odošleme. Komunikačný plán vychádza z potrieb ľudí a priebežne sa vyhodnocuje. A PMO má zjednocovať iba to, čo opakovane zlyháva naprieč projektmi, jeho typ volíme podľa problému. Nástroje ani porady samy komunikáciu nezaručia. Aktuálne máme spracované fázy, toky, bariéry a typy PMO; v eseji ešte rozpracujeme ukazovatele, podľa ktorých sa dá overiť, či komunikácia funguje. Ďakujeme a tešíme sa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Záložný slajd so zdrojmi, z ktorých sme vychádzali.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 tmavy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vod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002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ny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640080"/>
            <a:ext cx="6400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2880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48640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833872"/>
            <a:ext cx="65836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640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MANAŽMENT V TVORBE SOFTVÉRU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Manažment komunikácie v softvérovom projekte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a kancelária projektového manažmentu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4864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Adam Svitek, Nikolas Knapík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8338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Tím 5 – streda 13:00 – 14:00 – FIIT STU 2026/27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18120" y="1600200"/>
            <a:ext cx="1600200" cy="182880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7818120" y="1463040"/>
            <a:ext cx="3063240" cy="13716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9418320" y="1463040"/>
            <a:ext cx="1463040" cy="196596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1360" y="1463040"/>
            <a:ext cx="594360" cy="210312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0" y="3429000"/>
            <a:ext cx="2057400" cy="13716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607040" y="3566160"/>
            <a:ext cx="868680" cy="187452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0" y="3429000"/>
            <a:ext cx="1188720" cy="201168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5349240"/>
            <a:ext cx="2606040" cy="9144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001000" y="3429000"/>
            <a:ext cx="1417320" cy="19202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3337560"/>
            <a:ext cx="594360" cy="201168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3337560"/>
            <a:ext cx="2011680" cy="914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7406640" y="1600200"/>
            <a:ext cx="411480" cy="1737360"/>
          </a:xfrm>
          <a:prstGeom prst="line">
            <a:avLst/>
          </a:prstGeom>
          <a:noFill/>
          <a:ln w="15875">
            <a:solidFill>
              <a:srgbClr val="2E5C5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62088" y="134416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625328" y="120700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19688" y="331012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351008" y="518464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44968" y="509320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50608" y="308152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1392" y="2862072"/>
            <a:ext cx="1133856" cy="11338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31272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ÚVOD – CIEĽ PREZENTÁCIE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002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Ako riadiť komunikáciu v projekte a akú rolu v nej má kancelária projektového manažmentu?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B6654"/>
          </a:solidFill>
          <a:ln w="12700">
            <a:solidFill>
              <a:srgbClr val="3E9A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Prečo na tom záleží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komunikácia ako riziko, model a voľba kanála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37490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B6654"/>
          </a:solidFill>
          <a:ln w="12700">
            <a:solidFill>
              <a:srgbClr val="3E9A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Ako komunikáciu riadiť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tri fázy, tok informácií a bariéry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38160" y="37490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B6654"/>
          </a:solidFill>
          <a:ln w="12700">
            <a:solidFill>
              <a:srgbClr val="3E9A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Kancelária projektového manažmentu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čo robí, aké má typy a kedy ktorý zvoliť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– PREČO NA TOM ZÁLEŽÍ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Zlá komunikácia patrí medzi hlavné riziká projektu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1031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2004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peňazí ohrozených v projektoch pripísali respondenti prieskumu PMI neefektívnej komunikácii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4343400"/>
            <a:ext cx="4526280" cy="2011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343400"/>
            <a:ext cx="2514600" cy="2011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75 zo 135 miliónov USD ohrozených na každú miliardu vloženú do projektov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3492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21031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2004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respondentov prieskumu NaPiRE zaradilo komunikáciu tímu so zákazníkom medzi päť najkritickejších problémov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4343400"/>
            <a:ext cx="4526280" cy="2011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0" y="4343400"/>
            <a:ext cx="1855775" cy="2011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najčastejšie ju spájali so zlyhaním projektu – 228 respondentov z 10 krajín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5778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5678424"/>
            <a:ext cx="256032" cy="25603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Obe čísla pochádzajú z prieskumov medzi ľuďmi z praxe – ukazujú, čo vnímajú ako príčinu problémov, nie presne zmeraný podiel.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– PREČO NA TOM ZÁLEŽÍ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Odoslaná správa ešte nie je pochopená správa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2238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Odosielateľ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má zámer aj kontext, ktorý príjemca nemusí poznať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32888" y="3131820"/>
            <a:ext cx="23774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34640" y="187452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63240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941" y="22238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632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Kódovanie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slová, diagram alebo príklad v jazyku publika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18888" y="3131820"/>
            <a:ext cx="23774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120640" y="187452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349240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941" y="222382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492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Kanál a šum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3492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chat, stretnutie či ticket – žargón a preťaženie správu skreslia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104888" y="3131820"/>
            <a:ext cx="23774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406640" y="187452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635240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5941" y="22238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6352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Dekódovanie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6352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príjemca si správu vyloží podľa svojho kontextu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390888" y="3131820"/>
            <a:ext cx="23774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9692640" y="187452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921240" y="210312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1941" y="2223821"/>
            <a:ext cx="307238" cy="30723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212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Spätná väzba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921240" y="32004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zopakovanie vlastnými slovami overí porozumenie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10652760" y="4389120"/>
            <a:ext cx="0" cy="36576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</a:ln>
        </p:spPr>
      </p:sp>
      <p:sp>
        <p:nvSpPr>
          <p:cNvPr id="34" name="Shape 27"/>
          <p:cNvSpPr/>
          <p:nvPr/>
        </p:nvSpPr>
        <p:spPr>
          <a:xfrm>
            <a:off x="1508760" y="4754880"/>
            <a:ext cx="9144000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</a:ln>
        </p:spPr>
      </p:sp>
      <p:sp>
        <p:nvSpPr>
          <p:cNvPr id="35" name="Shape 28"/>
          <p:cNvSpPr/>
          <p:nvPr/>
        </p:nvSpPr>
        <p:spPr>
          <a:xfrm>
            <a:off x="1508760" y="4434840"/>
            <a:ext cx="0" cy="32004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  <a:headEnd type="triangle"/>
          </a:ln>
        </p:spPr>
      </p:sp>
      <p:sp>
        <p:nvSpPr>
          <p:cNvPr id="36" name="Text 29"/>
          <p:cNvSpPr txBox="1"/>
          <p:nvPr/>
        </p:nvSpPr>
        <p:spPr>
          <a:xfrm>
            <a:off x="4206240" y="4828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odpoveď sa vracia k odosielateľovi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Komunikácia splnila účel až vtedy, keď príjemca správu pochopí a vie podľa nej konať.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Za porozumenie preto zodpovedá aj odosielateľ – vyberá jazyk, formu aj kanál a spätnú väzbu si sám vyžiada.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– PREČO NA TOM ZÁLEŽÍ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Kanál sa vyberá podľa toho, aká je správa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28965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Interaktívna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542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stretnutie, hovor, demo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1089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Obojsmerná výmena v reálnom čase. Patria sem nejasnosti, konflikty a rozhodnutia.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Stojí čas viacerých ľudí a rozhodnutie bez zápisu sa stratí.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1828800"/>
            <a:ext cx="352044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228965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0" y="2542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e-mail, report, release notes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63440" y="31089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Odosielateľ pošle informáciu konkrétnym ľuďom vo chvíli, keď vznikne.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66344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Doručená správa ešte nemusí byť prečítaná ani pochopená.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38160" y="1828800"/>
            <a:ext cx="352044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289658"/>
            <a:ext cx="358445" cy="35844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28116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9281160" y="2542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wiki, backlog, dashboard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458200" y="310896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Príjemca si informáciu nájde sám vtedy, keď ju potrebuje.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845820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Funguje iba vtedy, keď je informácia aktuálna a dá sa nájsť.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Mnohoznačnú správu treba preberať tvárou v tvár, rutinnú stačí zverejniť. Konflikt o priority sa preto nerieši e-mailom a stav buildov netreba preberať na porade.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02 – AKO KOMUNIKÁCIU RIADIŤ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Manažment komunikácie je cyklus troch fáz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2900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Plánovanie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803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Kto potrebuje aké informácie, kedy, akým kanálom a od koho?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9476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Komunikačný plán s maticou stakeholderov, rytmom stretnutí a eskalačnou cestou.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50792" y="3360420"/>
            <a:ext cx="228600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1783080"/>
            <a:ext cx="342900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Riadenie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803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Dostávajú sa informácie k ľuďom tak, ako sme sa dohodli?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79476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Demo, denné stretnutia, status reporty a zapísané rozhodnutia.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45552" y="3360420"/>
            <a:ext cx="228600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8160" y="1783080"/>
            <a:ext cx="342900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58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2167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Monitorovanie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28803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Splnila komunikácia účel a treba plán zmeniť?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379476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Retrospektíva, spätná väzba stakeholderov a zistenie, že report nikto nečíta.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52660" y="4937760"/>
            <a:ext cx="0" cy="36576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2263140" y="5303520"/>
            <a:ext cx="7589520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2263140" y="4983480"/>
            <a:ext cx="0" cy="320040"/>
          </a:xfrm>
          <a:prstGeom prst="line">
            <a:avLst/>
          </a:prstGeom>
          <a:noFill/>
          <a:ln w="25400">
            <a:solidFill>
              <a:srgbClr val="0E7C66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023360" y="53766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zistenia z monitorovania sa vracajú do plánu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Agilný tím má veľa komunikácie zabudovanej v udalostiach Scrumu, takže jeho plán môže byť krátky. Sponzor, prevádzka a iné tímy ho však stále potrebujú.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02 – AKO KOMUNIKÁCIU RIADIŤ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Kde sa informácia v projekte stráca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80160" y="2203704"/>
            <a:ext cx="1965960" cy="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46120" y="2203704"/>
            <a:ext cx="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46120" y="3666744"/>
            <a:ext cx="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2203704"/>
            <a:ext cx="196596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5212080" y="2203704"/>
            <a:ext cx="196596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3666744"/>
            <a:ext cx="196596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78040" y="2203704"/>
            <a:ext cx="0" cy="292608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246120" y="3666744"/>
            <a:ext cx="1965960" cy="146304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129784"/>
            <a:ext cx="1965960" cy="0"/>
          </a:xfrm>
          <a:prstGeom prst="line">
            <a:avLst/>
          </a:prstGeom>
          <a:noFill/>
          <a:ln w="25400">
            <a:solidFill>
              <a:srgbClr val="9DBDB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82880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Klient a používatelia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14600" y="182880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06040" y="182880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Product Owner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514600" y="329184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06040" y="329184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Vývojári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514600" y="475488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06040" y="475488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Testeri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480560" y="329184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329184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Projektový manažér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480560" y="475488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0" y="475488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Ďalšie projekty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46520" y="182880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182880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Sponzor a vedenie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46520" y="4754880"/>
            <a:ext cx="1463040" cy="749808"/>
          </a:xfrm>
          <a:prstGeom prst="roundRect">
            <a:avLst>
              <a:gd name="adj" fmla="val 97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475488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PMO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071116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711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003036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003036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054096" y="4206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054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275320" y="1783080"/>
            <a:ext cx="3364992" cy="3886200"/>
          </a:xfrm>
          <a:prstGeom prst="roundRect">
            <a:avLst>
              <a:gd name="adj" fmla="val 217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0392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039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034272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Nejasné zadanie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034272" y="239572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Klient opíše cieľ vlastnými slovami a tím si ho vyloží inak.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3227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034272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Technický text pre vedenie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034272" y="3611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Sponzor dostane stav plný skratiek, z ktorého nevie rozhodnúť.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503920" y="444398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03920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034272" y="44622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Chýbajúca spätná väzba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482803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Chyby a otázky medzi vývojom a testovaním sa neuzatvárajú.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Model je zjednodušený – v reálnom projekte pribudne napríklad prevádzka, bezpečnosť či dodávatelia.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02 – AKO KOMUNIKÁCIU RIADIŤ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Každá bariéra má protiopatrenie aj jeho hranicu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Bariéra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2628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Protiopatrenie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92440" y="1783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Kde nestačí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468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23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Nejasné zadanie od biznisu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„Aplikácia má byť rýchla“ si každý predstaví inak.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Akceptačné kritériá s konkrétnymi príkladmi, prototyp a spoločný slovník pojmov.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24231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 klient sám ešte nevie, čo potrebuje, má prvá iterácia overiť potrebu, nie dodať funkciu.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Nepochopený technický text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Report plný skratiek bez dopadu na termín či riziko.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749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Písať v jazyku publika: dopad, riziko a potrebné rozhodnutie, technické detaily do prílohy.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37490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Zjednodušenie nesmie skryť problém – report môže byť zelený, aj keď je projekt zablokovaný.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5120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074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Chýbajúca spätná väzba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440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Zadanie odíde a nikto nepotvrdí, že ho pochopil.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26280" y="50749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Zopakovanie vlastnými slovami, demo v každej iterácii a retrospektíva s vlastníkom akcie.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092440" y="50749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 sa zlá správa trestá, ľudia ju nepovedia – bez dôvery v tíme to nefunguje.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PMO je komunikačný uzol medzi projektmi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Kancelária projektového manažmentu (Project Management Office)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 organizačná štruktúra, ktorá zjednocuje procesy riadenia projektov a zdieľa medzi nimi zdroje, metodiky a nástroje.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4206240" cy="21031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Projektový manažér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zodpovedá za ciele jedného projektu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PMO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pôsobí naprieč projektmi celej organizácie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3182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94960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5661" y="222382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080760" y="21762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Spoločné štandardy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274320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Šablóny reportov a jednotné definície toho, kedy je projekt v poriadku.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30768" y="1828800"/>
            <a:ext cx="3182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05088" y="2103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789" y="2223821"/>
            <a:ext cx="307238" cy="30723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90888" y="21762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Zdieľané zdroje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8705088" y="274320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Spoločný kalendár ľudí, ktorých potrebuje viac projektov naraz.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120640" y="3657600"/>
            <a:ext cx="3182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3931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661" y="4052621"/>
            <a:ext cx="307238" cy="30723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080760" y="40050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Prehľad pre vedenie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5394960" y="457200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Porovnateľné informácie o všetkých projektoch na jednom mieste.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430768" y="3657600"/>
            <a:ext cx="3182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705088" y="3931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5789" y="4052621"/>
            <a:ext cx="307238" cy="30723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390888" y="40050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Prenos poučení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705088" y="457200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Skúsenosti z jedného projektu sa dostanú k tým ďalším.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120640" y="553212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Vo výskume kancelárií projektového manažmentu bola najčastejšou dôležitou funkciou správa o stave projektov pre vrcholový manažment.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 PMO určuje, koľko kontroly do projektov prinesie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548640" y="2084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nízka kontrola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2084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vysoká kontrola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3520440" cy="36118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DDEEE8"/>
          </a:solidFill>
          <a:ln w="12700">
            <a:solidFill>
              <a:srgbClr val="DDE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108960"/>
            <a:ext cx="3520440" cy="320040"/>
          </a:xfrm>
          <a:prstGeom prst="rect">
            <a:avLst/>
          </a:prstGeom>
          <a:solidFill>
            <a:srgbClr val="DDEEE8"/>
          </a:solidFill>
          <a:ln w="12700">
            <a:solidFill>
              <a:srgbClr val="DDE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43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Podporné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6118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Radí a ponúka šablóny, školenia a poučenia z iných projektov.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34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709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málo projektov, skúsení manažéri a kultúra autonómie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3035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Hlavné riziko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577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nikto ho nemusí počúvať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43400" y="2560320"/>
            <a:ext cx="3520440" cy="36118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A9D5C8"/>
          </a:solidFill>
          <a:ln w="12700">
            <a:solidFill>
              <a:srgbClr val="A9D5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3400" y="3108960"/>
            <a:ext cx="3520440" cy="320040"/>
          </a:xfrm>
          <a:prstGeom prst="rect">
            <a:avLst/>
          </a:prstGeom>
          <a:solidFill>
            <a:srgbClr val="A9D5C8"/>
          </a:solidFill>
          <a:ln w="12700">
            <a:solidFill>
              <a:srgbClr val="A9D5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743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Riadiace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6118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Vyžaduje súlad s metodikou a jednotné reporty, môže auditovať.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434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4709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viac paralelných projektov so zdieľanými ľuďmi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3035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Hlavné riziko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577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byrokracia a reportovanie pre reportovanie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38160" y="2560320"/>
            <a:ext cx="3520440" cy="36118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3108960"/>
            <a:ext cx="3520440" cy="320040"/>
          </a:xfrm>
          <a:prstGeom prst="rect">
            <a:avLst/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58200" y="2743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Direktívne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8458200" y="36118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Priamo riadi projekty a manažéri sa zodpovedajú jemu.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458200" y="4434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709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strategické a rizikové portfólio, nízka zrelosť riadenia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53035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Hlavné riziko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458200" y="55778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úzke hrdlo, vysoké náklady a odstup od reality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Modelový príklad: jeden tester pre tri projekty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Vymyslená softvérová firma so 60 ľuďmi vyvíja súčasne tri projekty a všetky zdieľajú jedného bezpečnostného testera. Každý projektový manažér plánuje testovanie, akoby mal testera iba pre seba, a tri termíny sa zrazia v jednom týždni.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150876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03020" y="4343400"/>
            <a:ext cx="1691640" cy="731520"/>
          </a:xfrm>
          <a:prstGeom prst="line">
            <a:avLst/>
          </a:prstGeom>
          <a:noFill/>
          <a:ln w="25400">
            <a:solidFill>
              <a:srgbClr val="D97A1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240280" y="3657600"/>
            <a:ext cx="150876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94660" y="4343400"/>
            <a:ext cx="0" cy="731520"/>
          </a:xfrm>
          <a:prstGeom prst="line">
            <a:avLst/>
          </a:prstGeom>
          <a:noFill/>
          <a:ln w="25400">
            <a:solidFill>
              <a:srgbClr val="D97A1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931920" y="3657600"/>
            <a:ext cx="150876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3192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3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flipH="1">
            <a:off x="2994660" y="4343400"/>
            <a:ext cx="1691640" cy="731520"/>
          </a:xfrm>
          <a:prstGeom prst="line">
            <a:avLst/>
          </a:prstGeom>
          <a:noFill/>
          <a:ln w="25400">
            <a:solidFill>
              <a:srgbClr val="D97A1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783080" y="5120640"/>
            <a:ext cx="242316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5875">
            <a:solidFill>
              <a:schemeClr val="accent2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8528" y="5303520"/>
            <a:ext cx="411480" cy="411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423160" y="5120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Bezpečnostný tester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989320" y="1783080"/>
            <a:ext cx="56509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965960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Podporné PMO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33172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Iba odporučí plánovať skôr. Konflikt termínov sa tým nevyrieši.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989320" y="3154680"/>
            <a:ext cx="5650992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09360" y="3337560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Riadiace PMO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370332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Spoločný kalendár zdieľaných ľudí a konflikt priorít rozhodne vedenie z podkladov PMO.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989320" y="4526280"/>
            <a:ext cx="565099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09360" y="4709160"/>
            <a:ext cx="5010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Direktívne PMO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507492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Pri troch projektoch by bolo zbytočne drahé a stalo by sa úzkym hrdlom.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89320" y="5943600"/>
            <a:ext cx="565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Typ PMO sa odvodzuje od problému, ktorý má riešiť.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ZHRNUTIE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Čo z toho vyplýva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Porozumenie, nie odoslanie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Komunikácia je úspešná až vtedy, keď podľa nej príjemca vie konať.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965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Plán z potrieb ľudí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971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Kanál a rytmus sa odvodzujú od stakeholderov a priebežne sa vyhodnocujú.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965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PMO podľa problému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2971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Zjednocuje iba to, čo opakovane zlyháva naprieč projektmi.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Nástroje ani porady samy komunikáciu nezaručia.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Správne nastavená komunikácia spolu s primeraným PMO znižuje riziko nedorozumení a oneskorených rozhodnutí – pokiaľ do projektu nepridá zbytočnú byrokraciu.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ZHRNUTIE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Project Management Institute. (2017).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A Guide to the Project Management Body of Knowledge (PMBOK Guide)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(6. vyd.). PMI.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Project Management Institute. (2013).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Pulse of the Profession In-Depth Report: The Essential Role of Communications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. PMI.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52928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Méndez Fernández, D., et al. (2017). Naming the pain in requirements engineering: Contemporary problems, causes, and effects in practice.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Empirical Software Engineering, 22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(5), 2298–2338.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852928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Hobbs, B., &amp; Aubry, M. (2007). A multi-phase research program investigating project management offices (PMOs): The results of phase 1.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Project Management Journal, 38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(1), 74–86.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77056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Daft, R. L., &amp; Lengel, R. H. (1986). Organizational information requirements, media richness and structural design.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Management Science, 32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(5), 554–571.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3877056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Edmondson, A. (1999). Psychological safety and learning behavior in work teams.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Administrative Science Quarterly, 44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(2), 350–383.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901184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Schwaber, K., &amp; Sutherland, J. (2020).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The Scrum Guide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. scrumguides.org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901184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Brooks, F. P. (1995). </a:t>
            </a:r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The Mythical Man-Month: Essays on Software Engineering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(výročné vyd.). Addison-Wesley.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TS Komunikacia">
  <a:themeElements>
    <a:clrScheme name="MTS Komunikacia">
      <a:dk1>
        <a:srgbClr val="1A2B27"/>
      </a:dk1>
      <a:lt1>
        <a:srgbClr val="FFFFFF"/>
      </a:lt1>
      <a:dk2>
        <a:srgbClr val="12332D"/>
      </a:dk2>
      <a:lt2>
        <a:srgbClr val="EEF4F1"/>
      </a:lt2>
      <a:accent1>
        <a:srgbClr val="0E7C66"/>
      </a:accent1>
      <a:accent2>
        <a:srgbClr val="D97A1E"/>
      </a:accent2>
      <a:accent3>
        <a:srgbClr val="5E6E69"/>
      </a:accent3>
      <a:accent4>
        <a:srgbClr val="CFE3DC"/>
      </a:accent4>
      <a:accent5>
        <a:srgbClr val="FBEBD9"/>
      </a:accent5>
      <a:accent6>
        <a:srgbClr val="8FD3BF"/>
      </a:accent6>
      <a:hlink>
        <a:srgbClr val="0E7C66"/>
      </a:hlink>
      <a:folHlink>
        <a:srgbClr val="5E6E69"/>
      </a:folHlink>
    </a:clrScheme>
    <a:fontScheme name="MTS Komunikaci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Manažment komunikácie v softvérovom projekte</dc:title>
  <dc:subject>PptxGenJS Presentation</dc:subject>
  <dc:creator>Adam Svitek, Nikolas Knapík</dc:creator>
  <cp:lastModifiedBy>Adam Svitek, Nikolas Knapík</cp:lastModifiedBy>
  <cp:revision>1</cp:revision>
  <dcterms:created xsi:type="dcterms:W3CDTF">2026-10-26T21:32:52Z</dcterms:created>
  <dcterms:modified xsi:type="dcterms:W3CDTF">2026-10-26T21:32:52Z</dcterms:modified>
</cp:coreProperties>
</file>